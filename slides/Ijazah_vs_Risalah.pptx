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Salam pembuka. Perkenalkan tajuk ceramah: Ijazah vs Risalah. Ajak pelajar follow IG &amp; TikTok @Shukery_Azizan.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Pengenalan ringkas: menulis sekitar 15 buah buku (sehingga 2026), terjual lebih 100,000 naskhah seluruh Malaysia. Menjelajah lebih 500 sekolah dan IPT, termasuk luar negara seperti UK dan Australia. Pengalaman lain: Project Leader di Media Wangsa (2025–kini) dan Reka Digital (2021–2025); Editor in Chief Sentap Press / Tarbiah Sentap (2015–2021).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Gambaran keseluruhan ceramah: (1) siapa Generasi Al-Quran, (2) musuh kita sejak zaman Nabi Adam, (3) bagaimana Iblis menyerang dari 4 penjuru, (4) solusi.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Tanya hadirin: Siapa itu Generasi Al-Quran? Biar mereka teka dahulu sebelum tunjuk slide seterusnya.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Ciri-ciri Generasi Al-Quran:
1. Beriman sungguh-sungguh dengan apa yang terkandung di dalam al-Quran dan as-Sunnah.
2. Mengamalkan sungguh-sungguh apa yang diberitahu di dalam al-Quran dan as-Sunnah.
3. Meninggalkan sungguh-sungguh maksiat dan kesan maksiat tanpa kompromi.
Tekankan perkataan "sungguh-sungguh".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Masuk bahagian kedua: siapa musuh sebenar kita, dan sejak bila permusuhan ini bermula.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Soalan pancing. Beri pelajar 10–15 saat untuk berfikir atau jawab.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Maksiat pertama berlaku sejak zaman Nabi Adam vs Iblis. Bacakan Surah al-Baqarah ayat 34.
Arab: وَإِذۡ قُلۡنَا لِلۡمَلَـٰٓئِكَةِ ٱسۡجُدُواْ لِأٓدَمَ فَسَجَدُوٓاْ إِلَّآ إِبۡلِيسَ أَبَىٰ وَٱسۡتَكۡبَرَ وَكَانَ مِنَ ٱلۡكَٰفِرِينَ
Tekankan: Iblis menolak (abaa) dan sombong (istakbara).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Surah al-A'raf ayat 16–17: Iblis bersumpah untuk menghalang manusia dari jalan yang lurus, dan akan datang dari hadapan, belakang, kanan dan kiri. Inilah modus operandi Iblis.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Perkataan قَعَدَ (qa'ada) dalam ayat 16 bermaksud: menanti dan bersedia untuk serang hendap pada masa yang sesuai.
Key poin penting: Menanti, Bersedia, Serang hendap, Masa yang sesuai.
Soalan seterusnya: serang dari arah mana?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KPI Iblis &amp; syaitan: menjadikan manusia tidak bersyukur (rujuk hujung ayat al-A'raf 17: "Engkau tidak akan dapati kebanyakan mereka bersyukur").
Sekiranya lebih daripada itu — syirik, murtad, buat dosa besar, maksiat dan lain-lain — itu dikira bonus.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Bahagian ketiga: kita bedah satu per satu arah serangan Iblis seperti dalam al-A'raf ayat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Ringkasan 4 arah serangan: Hadapan (hal dunia depan mata), Belakang (masa silam &amp; putus asa), Kanan (penyakit hati), Kiri (kawan jahat &amp; nafsu). Kita lihat satu per satu.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Serangan dari HADAPAN: syirik, harta, pangkat, wanita cantik, lelaki hensem, drama, rokok/vape, games — hal keduniaan yang ada di depan mata.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Serangan dari BELAKANG: masa silam, terbuat silap, dosa lama, keturunan bermasalah, putus asa, rasa tak layak berdakwah. Syaitan guna perkara lepas supaya kita rasa tidak layak untuk berubah.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Serangan dari KANAN: penyakit hati — riya', ujub, takbur, dengki, sombong.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Menurut al-Imam Ibn al-Qayyim, antara tanda hati manusia sudah keras adalah dia tidak menangis apabila diingatkan kepadanya tentang perkara yang mendekatkan dirinya kepada Allah.
Arab: ومتى أقحطت العين من البكاء من خشية الله تعالى فاعلم أن قحطها من قسوة القلب
(Sumber poster: Dr. Ahmad Sanusi Azmi, USIM)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Serangan dari KIRI: kawan jahat, maksiat, al-hawa' (mengikut hawa nafsu), al-wahn (cinta dunia dan takut mati), nafsu yang jahat.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Strategi syaitan merosakkan manusia: pertama, masuk ke dalam dada, seterusnya pada hati. Rujuk Surah An-Nas (ayat 5: yuwaswisu fi suduri an-nas — membisikkan ke dalam DADA manusia).
Tanya: Apa beza dada dan hati?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Dada adalah tempat, dan di dalam tempat itu terkandung satu perkara yang sangat berharga, iaitu HATI.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Syaitan tak boleh masuk ke dalam hati kita, tetapi dia boleh masuk ke dalam dada. Contohnya, rumah yang ada pagar.
Syaitan ketuk pintu rumah, kita boleh dengar. Dan apa reaksi kita? Kita boleh pilih untuk abaikan, dan boleh pilih untuk buka.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Apabila buka pintu: syaitan akan mula masuk. Dan bila masuk, syaitan akan ubah apa yang ada di dalam rumah itu.
Selepas itu, apa yang sepatutnya buruk menjadi cantik di mata kita, dan apa yang cantik menjadi buruk.
Surah al-Baqarah ayat 10 menceritakan dalam hati manusia ada "penyakit". Semua ini disebabkan syaitan. Dan berpunca daripada? Kita 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Surah al-'Ankabut ayat 38 (terjemahan Abdullah Muhammad Basmeih): Dan (ingatkanlah peristiwa kebinasaan) Aad (kaum Nabi Hud) dan Thamud (kaum Nabi Soleh); dan telahpun ternyata kepada kamu sebahagian dari bekas-bekas tempat kediaman mereka; dan (kebinasaan mereka yang demikian ialah disebabkan) Syaitan memperelokkan pada pandangan mereka amal-amal mereka (yang jahat itu), lalu ia menghalangi mereka dari jalan Allah; padahal mereka orang-orang yang bijak pandai dan berakal.
Surah al-Baqarah ayat 10: dalam hati manusia ada 'penyakit'.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Kesan syaitan masuk ke dalam hati.
Lelaki: lemah dengan perempuan, lemah dengan sesama lelaki, ketagih games, ketagih kandungan tidak senonoh (pornografi), ketagih anime dan movie, malas belajar, rokok &amp; vape, tiada common sense.
Wanita: lemah dengan lelaki, lemah dengan sesama wanita, ketagih selfie dan tayang diri, ketagih drama atau novel, ketagih/obses make-up, obses dengan artis, dan lain-lain.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Sesi soal jawab ringkas sebelum masuk bahagian solusi. Galakkan pelajar yang segan untuk tulis soalan di kertas dan pasing ke hadapan.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Bahagian terakhir: apa yang kita boleh buat? Ada 5 langkah.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Lima langkah solusi: (1) perbaiki akidah, (2) taubat dengan meninggalkan maksiat, (3) jaga solat, (4) istighfar, (5) cari circle kawan yang baik dan soleh.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Solusi 1: Perbaiki akidah (sistem kepercayaan) kita. Macam mana? (i) Kenali Tuhan, iaitu Allah.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Bagaimana mengenali Allah? Belajar daripada ayat-ayat Allah. Surah al-Anfal ayat 2: tiga tanda orang beriman — hati gementar bila disebut nama Allah, bertambah iman bila dibacakan ayat-Nya, dan berserah kepada Tuhan.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Solusi 2: Taubat dengan meninggalkan maksiat.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Solusi 3: Jaga solat. "Kita solat bukan sebab kita baik, tetapi sebab kita hamba."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Solusi 4: Istighfar. Maghfirah (مغفرة) diambil daripada perkataan "Mighfar" (مغفر) yang bermaksud penutup kepala yang digunakan oleh seorang tentera (helmet).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perisai (helmet) adalah untuk menutup kepala kita (ستر) dan mencegah (الوقاية) serangan yang akan terkena kepalanya.
Apabila istighfar, kita sedang meminta 2 perkara kepada Allah: pertama, Allah tutup aib kita; dan kedua, Allah mencegah serta menjauhkan kita daripada dosa yang dilakukan.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Solusi 5: Cari circle kawan yang baik dan soleh. Dan ikut usrah serta program-program tarbiah.
Kalau belajar akademik kena pilih kawan &amp; circle yang baik, takkan belajar &amp; amal agama tak perlu pilih kawan dan circle yang baik?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Rumusan: 5 langkah solusi. Ingat analogi rumah berpagar — syaitan boleh mengetuk, tetapi kita yang memilih sama ada untuk membuka pintu hati atau tidak.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Penutup. Ucap terima kasih, doa penutup, dan ajak follow IG &amp; TikTok @Shukery_Azizan.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slideLayout" Target="../slideLayouts/slideLayout1.xml"/><Relationship Id="rId11"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1.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slideLayout" Target="../slideLayouts/slideLayout1.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slideLayout" Target="../slideLayouts/slideLayout1.xml"/><Relationship Id="rId7"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3D"/>
        </a:solidFill>
      </p:bgPr>
    </p:bg>
    <p:spTree>
      <p:nvGrpSpPr>
        <p:cNvPr id="1" name=""/>
        <p:cNvGrpSpPr/>
        <p:nvPr/>
      </p:nvGrpSpPr>
      <p:grpSpPr>
        <a:xfrm>
          <a:off x="0" y="0"/>
          <a:ext cx="0" cy="0"/>
          <a:chOff x="0" y="0"/>
          <a:chExt cx="0" cy="0"/>
        </a:xfrm>
      </p:grpSpPr>
      <p:pic>
        <p:nvPicPr>
          <p:cNvPr id="2" name="Image 0" descr="/tmp/claude-0/-home-user-Shukery-Azizan/b66663cb-20be-5bd3-935d-65edbae5e3fd/scratchpad/build/assets/pattern.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tmp/claude-0/-home-user-Shukery-Azizan/b66663cb-20be-5bd3-935d-65edbae5e3fd/scratchpad/build/assets/bigstar.png">    </p:cNvPr>
          <p:cNvPicPr>
            <a:picLocks noChangeAspect="1"/>
          </p:cNvPicPr>
          <p:nvPr/>
        </p:nvPicPr>
        <p:blipFill>
          <a:blip r:embed="rId2">
            <a:alphaModFix amt="65000"/>
          </a:blip>
          <a:stretch>
            <a:fillRect/>
          </a:stretch>
        </p:blipFill>
        <p:spPr>
          <a:xfrm>
            <a:off x="5394960" y="685800"/>
            <a:ext cx="3749040" cy="3749040"/>
          </a:xfrm>
          <a:prstGeom prst="rect">
            <a:avLst/>
          </a:prstGeom>
        </p:spPr>
      </p:pic>
      <p:sp>
        <p:nvSpPr>
          <p:cNvPr id="4" name="Shape 0"/>
          <p:cNvSpPr/>
          <p:nvPr/>
        </p:nvSpPr>
        <p:spPr>
          <a:xfrm>
            <a:off x="6812280" y="2103120"/>
            <a:ext cx="914400" cy="914400"/>
          </a:xfrm>
          <a:prstGeom prst="ellipse">
            <a:avLst/>
          </a:prstGeom>
          <a:solidFill>
            <a:srgbClr val="1B2F5A"/>
          </a:solidFill>
          <a:ln w="12700">
            <a:solidFill>
              <a:srgbClr val="1B2F5A"/>
            </a:solidFill>
            <a:prstDash val="solid"/>
          </a:ln>
        </p:spPr>
      </p:sp>
      <p:pic>
        <p:nvPicPr>
          <p:cNvPr id="5" name="Image 2" descr="preencoded.png">    </p:cNvPr>
          <p:cNvPicPr>
            <a:picLocks noChangeAspect="1"/>
          </p:cNvPicPr>
          <p:nvPr/>
        </p:nvPicPr>
        <p:blipFill>
          <a:blip r:embed="rId3"/>
          <a:stretch>
            <a:fillRect/>
          </a:stretch>
        </p:blipFill>
        <p:spPr>
          <a:xfrm>
            <a:off x="7050024" y="2340864"/>
            <a:ext cx="438912" cy="438912"/>
          </a:xfrm>
          <a:prstGeom prst="rect">
            <a:avLst/>
          </a:prstGeom>
        </p:spPr>
      </p:pic>
      <p:sp>
        <p:nvSpPr>
          <p:cNvPr id="6" name="Text 1"/>
          <p:cNvSpPr txBox="1"/>
          <p:nvPr/>
        </p:nvSpPr>
        <p:spPr>
          <a:xfrm>
            <a:off x="640080" y="1143000"/>
            <a:ext cx="4572000" cy="274320"/>
          </a:xfrm>
          <a:prstGeom prst="rect">
            <a:avLst/>
          </a:prstGeom>
          <a:noFill/>
          <a:ln/>
        </p:spPr>
        <p:txBody>
          <a:bodyPr wrap="square" lIns="0" tIns="0" rIns="0" bIns="0" rtlCol="0" anchor="t"/>
          <a:lstStyle/>
          <a:p>
            <a:pPr indent="0" marL="0">
              <a:buNone/>
            </a:pPr>
            <a:r>
              <a:rPr lang="en-US" sz="1200" b="1" spc="300" kern="0" dirty="0">
                <a:solidFill>
                  <a:srgbClr val="D9A93A"/>
                </a:solidFill>
                <a:latin typeface="Calibri" pitchFamily="34" charset="0"/>
                <a:ea typeface="Calibri" pitchFamily="34" charset="-122"/>
                <a:cs typeface="Calibri" pitchFamily="34" charset="-120"/>
              </a:rPr>
              <a:t>BERSAMA SHUKERY AZIZAN</a:t>
            </a:r>
            <a:endParaRPr lang="en-US" sz="1200" dirty="0"/>
          </a:p>
        </p:txBody>
      </p:sp>
      <p:sp>
        <p:nvSpPr>
          <p:cNvPr id="7" name="Text 2"/>
          <p:cNvSpPr txBox="1"/>
          <p:nvPr/>
        </p:nvSpPr>
        <p:spPr>
          <a:xfrm>
            <a:off x="640080" y="1463040"/>
            <a:ext cx="4846320" cy="1920240"/>
          </a:xfrm>
          <a:prstGeom prst="rect">
            <a:avLst/>
          </a:prstGeom>
          <a:noFill/>
          <a:ln/>
        </p:spPr>
        <p:txBody>
          <a:bodyPr wrap="square" lIns="0" tIns="0" rIns="0" bIns="0" rtlCol="0" anchor="t"/>
          <a:lstStyle/>
          <a:p>
            <a:pPr indent="0" marL="0">
              <a:lnSpc>
                <a:spcPct val="95000"/>
              </a:lnSpc>
              <a:buNone/>
            </a:pPr>
            <a:r>
              <a:rPr lang="en-US" sz="6000" b="1" dirty="0">
                <a:solidFill>
                  <a:srgbClr val="FFFFFF"/>
                </a:solidFill>
                <a:latin typeface="Calibri" pitchFamily="34" charset="0"/>
                <a:ea typeface="Calibri" pitchFamily="34" charset="-122"/>
                <a:cs typeface="Calibri" pitchFamily="34" charset="-120"/>
              </a:rPr>
              <a:t>Ijazah</a:t>
            </a:r>
            <a:endParaRPr lang="en-US" sz="6000" dirty="0"/>
          </a:p>
          <a:p>
            <a:pPr indent="0" marL="0">
              <a:lnSpc>
                <a:spcPct val="95000"/>
              </a:lnSpc>
              <a:buNone/>
            </a:pPr>
            <a:r>
              <a:rPr lang="en-US" sz="6000" b="1" dirty="0">
                <a:solidFill>
                  <a:srgbClr val="D9A93A"/>
                </a:solidFill>
                <a:latin typeface="Calibri" pitchFamily="34" charset="0"/>
                <a:ea typeface="Calibri" pitchFamily="34" charset="-122"/>
                <a:cs typeface="Calibri" pitchFamily="34" charset="-120"/>
              </a:rPr>
              <a:t>vs </a:t>
            </a:r>
            <a:pPr indent="0" marL="0">
              <a:lnSpc>
                <a:spcPct val="95000"/>
              </a:lnSpc>
              <a:buNone/>
            </a:pPr>
            <a:r>
              <a:rPr lang="en-US" sz="6000" b="1" dirty="0">
                <a:solidFill>
                  <a:srgbClr val="FFFFFF"/>
                </a:solidFill>
                <a:latin typeface="Calibri" pitchFamily="34" charset="0"/>
                <a:ea typeface="Calibri" pitchFamily="34" charset="-122"/>
                <a:cs typeface="Calibri" pitchFamily="34" charset="-120"/>
              </a:rPr>
              <a:t>Risalah</a:t>
            </a:r>
            <a:endParaRPr lang="en-US" sz="6000" dirty="0"/>
          </a:p>
        </p:txBody>
      </p:sp>
      <p:sp>
        <p:nvSpPr>
          <p:cNvPr id="8" name="Text 3"/>
          <p:cNvSpPr txBox="1"/>
          <p:nvPr/>
        </p:nvSpPr>
        <p:spPr>
          <a:xfrm>
            <a:off x="640080" y="3429000"/>
            <a:ext cx="4846320" cy="320040"/>
          </a:xfrm>
          <a:prstGeom prst="rect">
            <a:avLst/>
          </a:prstGeom>
          <a:noFill/>
          <a:ln/>
        </p:spPr>
        <p:txBody>
          <a:bodyPr wrap="square" lIns="0" tIns="0" rIns="0" bIns="0" rtlCol="0" anchor="t"/>
          <a:lstStyle/>
          <a:p>
            <a:pPr indent="0" marL="0">
              <a:buNone/>
            </a:pPr>
            <a:r>
              <a:rPr lang="en-US" sz="1500" dirty="0">
                <a:solidFill>
                  <a:srgbClr val="C9D3E6"/>
                </a:solidFill>
                <a:latin typeface="Calibri" pitchFamily="34" charset="0"/>
                <a:ea typeface="Calibri" pitchFamily="34" charset="-122"/>
                <a:cs typeface="Calibri" pitchFamily="34" charset="-120"/>
              </a:rPr>
              <a:t>Generasi Al-Quran  •  Strategi Iblis  •  Solusi</a:t>
            </a:r>
            <a:endParaRPr lang="en-US" sz="1500" dirty="0"/>
          </a:p>
        </p:txBody>
      </p:sp>
      <p:pic>
        <p:nvPicPr>
          <p:cNvPr id="9" name="Image 3" descr="preencoded.png">    </p:cNvPr>
          <p:cNvPicPr>
            <a:picLocks noChangeAspect="1"/>
          </p:cNvPicPr>
          <p:nvPr/>
        </p:nvPicPr>
        <p:blipFill>
          <a:blip r:embed="rId4"/>
          <a:stretch>
            <a:fillRect/>
          </a:stretch>
        </p:blipFill>
        <p:spPr>
          <a:xfrm>
            <a:off x="640080" y="4160520"/>
            <a:ext cx="256032" cy="256032"/>
          </a:xfrm>
          <a:prstGeom prst="rect">
            <a:avLst/>
          </a:prstGeom>
        </p:spPr>
      </p:pic>
      <p:pic>
        <p:nvPicPr>
          <p:cNvPr id="10" name="Image 4" descr="preencoded.png">    </p:cNvPr>
          <p:cNvPicPr>
            <a:picLocks noChangeAspect="1"/>
          </p:cNvPicPr>
          <p:nvPr/>
        </p:nvPicPr>
        <p:blipFill>
          <a:blip r:embed="rId5"/>
          <a:stretch>
            <a:fillRect/>
          </a:stretch>
        </p:blipFill>
        <p:spPr>
          <a:xfrm>
            <a:off x="960120" y="4160520"/>
            <a:ext cx="256032" cy="256032"/>
          </a:xfrm>
          <a:prstGeom prst="rect">
            <a:avLst/>
          </a:prstGeom>
        </p:spPr>
      </p:pic>
      <p:sp>
        <p:nvSpPr>
          <p:cNvPr id="11" name="Text 4"/>
          <p:cNvSpPr txBox="1"/>
          <p:nvPr/>
        </p:nvSpPr>
        <p:spPr>
          <a:xfrm>
            <a:off x="1325880" y="4114800"/>
            <a:ext cx="2743200" cy="3474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@Shukery_Azizan</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2514600" cy="4229100"/>
          </a:xfrm>
          <a:prstGeom prst="roundRect">
            <a:avLst>
              <a:gd name="adj" fmla="val 5455"/>
            </a:avLst>
          </a:prstGeom>
          <a:solidFill>
            <a:srgbClr val="F2F2F3"/>
          </a:solidFill>
          <a:ln w="12700">
            <a:solidFill>
              <a:srgbClr val="F2F2F3"/>
            </a:solidFill>
            <a:prstDash val="solid"/>
          </a:ln>
        </p:spPr>
      </p:sp>
      <p:pic>
        <p:nvPicPr>
          <p:cNvPr id="3" name="Image 0" descr="/tmp/claude-0/-home-user-Shukery-Azizan/b66663cb-20be-5bd3-935d-65edbae5e3fd/scratchpad/build/assets/profile.jpg">    </p:cNvPr>
          <p:cNvPicPr>
            <a:picLocks noChangeAspect="1"/>
          </p:cNvPicPr>
          <p:nvPr/>
        </p:nvPicPr>
        <p:blipFill>
          <a:blip r:embed="rId1"/>
          <a:stretch>
            <a:fillRect/>
          </a:stretch>
        </p:blipFill>
        <p:spPr>
          <a:xfrm>
            <a:off x="874597" y="566928"/>
            <a:ext cx="1679807" cy="4114800"/>
          </a:xfrm>
          <a:prstGeom prst="rect">
            <a:avLst/>
          </a:prstGeom>
        </p:spPr>
      </p:pic>
      <p:sp>
        <p:nvSpPr>
          <p:cNvPr id="4" name="Text 1"/>
          <p:cNvSpPr txBox="1"/>
          <p:nvPr/>
        </p:nvSpPr>
        <p:spPr>
          <a:xfrm>
            <a:off x="3337560" y="457200"/>
            <a:ext cx="4572000" cy="256032"/>
          </a:xfrm>
          <a:prstGeom prst="rect">
            <a:avLst/>
          </a:prstGeom>
          <a:noFill/>
          <a:ln/>
        </p:spPr>
        <p:txBody>
          <a:bodyPr wrap="square" lIns="0" tIns="0" rIns="0" bIns="0" rtlCol="0" anchor="t"/>
          <a:lstStyle/>
          <a:p>
            <a:pPr indent="0" marL="0">
              <a:buNone/>
            </a:pPr>
            <a:r>
              <a:rPr lang="en-US" sz="1100" b="1" spc="200" kern="0" dirty="0">
                <a:solidFill>
                  <a:srgbClr val="9A6B0F"/>
                </a:solidFill>
                <a:latin typeface="Calibri" pitchFamily="34" charset="0"/>
                <a:ea typeface="Calibri" pitchFamily="34" charset="-122"/>
                <a:cs typeface="Calibri" pitchFamily="34" charset="-120"/>
              </a:rPr>
              <a:t>KENALI PENCERAMAH</a:t>
            </a:r>
            <a:endParaRPr lang="en-US" sz="1100" dirty="0"/>
          </a:p>
        </p:txBody>
      </p:sp>
      <p:sp>
        <p:nvSpPr>
          <p:cNvPr id="5" name="Text 2"/>
          <p:cNvSpPr txBox="1"/>
          <p:nvPr/>
        </p:nvSpPr>
        <p:spPr>
          <a:xfrm>
            <a:off x="3337560" y="713232"/>
            <a:ext cx="5394960" cy="594360"/>
          </a:xfrm>
          <a:prstGeom prst="rect">
            <a:avLst/>
          </a:prstGeom>
          <a:noFill/>
          <a:ln/>
        </p:spPr>
        <p:txBody>
          <a:bodyPr wrap="square" lIns="0" tIns="0" rIns="0" bIns="0" rtlCol="0" anchor="ctr"/>
          <a:lstStyle/>
          <a:p>
            <a:pPr indent="0" marL="0">
              <a:buNone/>
            </a:pPr>
            <a:r>
              <a:rPr lang="en-US" sz="3600" b="1" dirty="0">
                <a:solidFill>
                  <a:srgbClr val="0F1E3D"/>
                </a:solidFill>
                <a:latin typeface="Calibri" pitchFamily="34" charset="0"/>
                <a:ea typeface="Calibri" pitchFamily="34" charset="-122"/>
                <a:cs typeface="Calibri" pitchFamily="34" charset="-120"/>
              </a:rPr>
              <a:t>Shukery Azizan</a:t>
            </a:r>
            <a:endParaRPr lang="en-US" sz="3600" dirty="0"/>
          </a:p>
        </p:txBody>
      </p:sp>
      <p:sp>
        <p:nvSpPr>
          <p:cNvPr id="6" name="Text 3"/>
          <p:cNvSpPr txBox="1"/>
          <p:nvPr/>
        </p:nvSpPr>
        <p:spPr>
          <a:xfrm>
            <a:off x="3337560" y="1298448"/>
            <a:ext cx="5394960" cy="320040"/>
          </a:xfrm>
          <a:prstGeom prst="rect">
            <a:avLst/>
          </a:prstGeom>
          <a:noFill/>
          <a:ln/>
        </p:spPr>
        <p:txBody>
          <a:bodyPr wrap="square" lIns="0" tIns="0" rIns="0" bIns="0" rtlCol="0" anchor="t"/>
          <a:lstStyle/>
          <a:p>
            <a:pPr indent="0" marL="0">
              <a:buNone/>
            </a:pPr>
            <a:r>
              <a:rPr lang="en-US" sz="1600" dirty="0">
                <a:solidFill>
                  <a:srgbClr val="5A6880"/>
                </a:solidFill>
                <a:latin typeface="Calibri" pitchFamily="34" charset="0"/>
                <a:ea typeface="Calibri" pitchFamily="34" charset="-122"/>
                <a:cs typeface="Calibri" pitchFamily="34" charset="-120"/>
              </a:rPr>
              <a:t>Penulis &amp; Penceramah</a:t>
            </a:r>
            <a:endParaRPr lang="en-US" sz="1600" dirty="0"/>
          </a:p>
        </p:txBody>
      </p:sp>
      <p:sp>
        <p:nvSpPr>
          <p:cNvPr id="7" name="Shape 4"/>
          <p:cNvSpPr/>
          <p:nvPr/>
        </p:nvSpPr>
        <p:spPr>
          <a:xfrm>
            <a:off x="3337560" y="1783080"/>
            <a:ext cx="1673352" cy="960120"/>
          </a:xfrm>
          <a:prstGeom prst="roundRect">
            <a:avLst>
              <a:gd name="adj" fmla="val 9524"/>
            </a:avLst>
          </a:prstGeom>
          <a:solidFill>
            <a:srgbClr val="FBF3DF"/>
          </a:solidFill>
          <a:ln w="12700">
            <a:solidFill>
              <a:srgbClr val="FBF3DF"/>
            </a:solidFill>
            <a:prstDash val="solid"/>
          </a:ln>
        </p:spPr>
      </p:sp>
      <p:sp>
        <p:nvSpPr>
          <p:cNvPr id="8" name="Text 5"/>
          <p:cNvSpPr txBox="1"/>
          <p:nvPr/>
        </p:nvSpPr>
        <p:spPr>
          <a:xfrm>
            <a:off x="3474720" y="1847088"/>
            <a:ext cx="1463040" cy="475488"/>
          </a:xfrm>
          <a:prstGeom prst="rect">
            <a:avLst/>
          </a:prstGeom>
          <a:noFill/>
          <a:ln/>
        </p:spPr>
        <p:txBody>
          <a:bodyPr wrap="square" lIns="0" tIns="0" rIns="0" bIns="0" rtlCol="0" anchor="ctr"/>
          <a:lstStyle/>
          <a:p>
            <a:pPr indent="0" marL="0">
              <a:buNone/>
            </a:pPr>
            <a:r>
              <a:rPr lang="en-US" sz="2600" b="1" dirty="0">
                <a:solidFill>
                  <a:srgbClr val="9A6B0F"/>
                </a:solidFill>
                <a:latin typeface="Calibri" pitchFamily="34" charset="0"/>
                <a:ea typeface="Calibri" pitchFamily="34" charset="-122"/>
                <a:cs typeface="Calibri" pitchFamily="34" charset="-120"/>
              </a:rPr>
              <a:t>15</a:t>
            </a:r>
            <a:endParaRPr lang="en-US" sz="2600" dirty="0"/>
          </a:p>
        </p:txBody>
      </p:sp>
      <p:sp>
        <p:nvSpPr>
          <p:cNvPr id="9" name="Text 6"/>
          <p:cNvSpPr txBox="1"/>
          <p:nvPr/>
        </p:nvSpPr>
        <p:spPr>
          <a:xfrm>
            <a:off x="3474720" y="2304288"/>
            <a:ext cx="1463040" cy="365760"/>
          </a:xfrm>
          <a:prstGeom prst="rect">
            <a:avLst/>
          </a:prstGeom>
          <a:noFill/>
          <a:ln/>
        </p:spPr>
        <p:txBody>
          <a:bodyPr wrap="square" lIns="0" tIns="0" rIns="0" bIns="0" rtlCol="0" anchor="t"/>
          <a:lstStyle/>
          <a:p>
            <a:pPr indent="0" marL="0">
              <a:buNone/>
            </a:pPr>
            <a:r>
              <a:rPr lang="en-US" sz="1150" dirty="0">
                <a:solidFill>
                  <a:srgbClr val="16213A"/>
                </a:solidFill>
                <a:latin typeface="Calibri" pitchFamily="34" charset="0"/>
                <a:ea typeface="Calibri" pitchFamily="34" charset="-122"/>
                <a:cs typeface="Calibri" pitchFamily="34" charset="-120"/>
              </a:rPr>
              <a:t>buah buku ditulis</a:t>
            </a:r>
            <a:endParaRPr lang="en-US" sz="1150" dirty="0"/>
          </a:p>
        </p:txBody>
      </p:sp>
      <p:sp>
        <p:nvSpPr>
          <p:cNvPr id="10" name="Shape 7"/>
          <p:cNvSpPr/>
          <p:nvPr/>
        </p:nvSpPr>
        <p:spPr>
          <a:xfrm>
            <a:off x="5148072" y="1783080"/>
            <a:ext cx="1673352" cy="960120"/>
          </a:xfrm>
          <a:prstGeom prst="roundRect">
            <a:avLst>
              <a:gd name="adj" fmla="val 9524"/>
            </a:avLst>
          </a:prstGeom>
          <a:solidFill>
            <a:srgbClr val="FBF3DF"/>
          </a:solidFill>
          <a:ln w="12700">
            <a:solidFill>
              <a:srgbClr val="FBF3DF"/>
            </a:solidFill>
            <a:prstDash val="solid"/>
          </a:ln>
        </p:spPr>
      </p:sp>
      <p:sp>
        <p:nvSpPr>
          <p:cNvPr id="11" name="Text 8"/>
          <p:cNvSpPr txBox="1"/>
          <p:nvPr/>
        </p:nvSpPr>
        <p:spPr>
          <a:xfrm>
            <a:off x="5285232" y="1847088"/>
            <a:ext cx="1463040" cy="475488"/>
          </a:xfrm>
          <a:prstGeom prst="rect">
            <a:avLst/>
          </a:prstGeom>
          <a:noFill/>
          <a:ln/>
        </p:spPr>
        <p:txBody>
          <a:bodyPr wrap="square" lIns="0" tIns="0" rIns="0" bIns="0" rtlCol="0" anchor="ctr"/>
          <a:lstStyle/>
          <a:p>
            <a:pPr indent="0" marL="0">
              <a:buNone/>
            </a:pPr>
            <a:r>
              <a:rPr lang="en-US" sz="2600" b="1" dirty="0">
                <a:solidFill>
                  <a:srgbClr val="9A6B0F"/>
                </a:solidFill>
                <a:latin typeface="Calibri" pitchFamily="34" charset="0"/>
                <a:ea typeface="Calibri" pitchFamily="34" charset="-122"/>
                <a:cs typeface="Calibri" pitchFamily="34" charset="-120"/>
              </a:rPr>
              <a:t>100,000+</a:t>
            </a:r>
            <a:endParaRPr lang="en-US" sz="2600" dirty="0"/>
          </a:p>
        </p:txBody>
      </p:sp>
      <p:sp>
        <p:nvSpPr>
          <p:cNvPr id="12" name="Text 9"/>
          <p:cNvSpPr txBox="1"/>
          <p:nvPr/>
        </p:nvSpPr>
        <p:spPr>
          <a:xfrm>
            <a:off x="5285232" y="2304288"/>
            <a:ext cx="1463040" cy="365760"/>
          </a:xfrm>
          <a:prstGeom prst="rect">
            <a:avLst/>
          </a:prstGeom>
          <a:noFill/>
          <a:ln/>
        </p:spPr>
        <p:txBody>
          <a:bodyPr wrap="square" lIns="0" tIns="0" rIns="0" bIns="0" rtlCol="0" anchor="t"/>
          <a:lstStyle/>
          <a:p>
            <a:pPr indent="0" marL="0">
              <a:buNone/>
            </a:pPr>
            <a:r>
              <a:rPr lang="en-US" sz="1150" dirty="0">
                <a:solidFill>
                  <a:srgbClr val="16213A"/>
                </a:solidFill>
                <a:latin typeface="Calibri" pitchFamily="34" charset="0"/>
                <a:ea typeface="Calibri" pitchFamily="34" charset="-122"/>
                <a:cs typeface="Calibri" pitchFamily="34" charset="-120"/>
              </a:rPr>
              <a:t>naskhah terjual</a:t>
            </a:r>
            <a:endParaRPr lang="en-US" sz="1150" dirty="0"/>
          </a:p>
        </p:txBody>
      </p:sp>
      <p:sp>
        <p:nvSpPr>
          <p:cNvPr id="13" name="Shape 10"/>
          <p:cNvSpPr/>
          <p:nvPr/>
        </p:nvSpPr>
        <p:spPr>
          <a:xfrm>
            <a:off x="6958584" y="1783080"/>
            <a:ext cx="1673352" cy="960120"/>
          </a:xfrm>
          <a:prstGeom prst="roundRect">
            <a:avLst>
              <a:gd name="adj" fmla="val 9524"/>
            </a:avLst>
          </a:prstGeom>
          <a:solidFill>
            <a:srgbClr val="FBF3DF"/>
          </a:solidFill>
          <a:ln w="12700">
            <a:solidFill>
              <a:srgbClr val="FBF3DF"/>
            </a:solidFill>
            <a:prstDash val="solid"/>
          </a:ln>
        </p:spPr>
      </p:sp>
      <p:sp>
        <p:nvSpPr>
          <p:cNvPr id="14" name="Text 11"/>
          <p:cNvSpPr txBox="1"/>
          <p:nvPr/>
        </p:nvSpPr>
        <p:spPr>
          <a:xfrm>
            <a:off x="7095744" y="1847088"/>
            <a:ext cx="1463040" cy="475488"/>
          </a:xfrm>
          <a:prstGeom prst="rect">
            <a:avLst/>
          </a:prstGeom>
          <a:noFill/>
          <a:ln/>
        </p:spPr>
        <p:txBody>
          <a:bodyPr wrap="square" lIns="0" tIns="0" rIns="0" bIns="0" rtlCol="0" anchor="ctr"/>
          <a:lstStyle/>
          <a:p>
            <a:pPr indent="0" marL="0">
              <a:buNone/>
            </a:pPr>
            <a:r>
              <a:rPr lang="en-US" sz="2600" b="1" dirty="0">
                <a:solidFill>
                  <a:srgbClr val="9A6B0F"/>
                </a:solidFill>
                <a:latin typeface="Calibri" pitchFamily="34" charset="0"/>
                <a:ea typeface="Calibri" pitchFamily="34" charset="-122"/>
                <a:cs typeface="Calibri" pitchFamily="34" charset="-120"/>
              </a:rPr>
              <a:t>500+</a:t>
            </a:r>
            <a:endParaRPr lang="en-US" sz="2600" dirty="0"/>
          </a:p>
        </p:txBody>
      </p:sp>
      <p:sp>
        <p:nvSpPr>
          <p:cNvPr id="15" name="Text 12"/>
          <p:cNvSpPr txBox="1"/>
          <p:nvPr/>
        </p:nvSpPr>
        <p:spPr>
          <a:xfrm>
            <a:off x="7095744" y="2304288"/>
            <a:ext cx="1463040" cy="365760"/>
          </a:xfrm>
          <a:prstGeom prst="rect">
            <a:avLst/>
          </a:prstGeom>
          <a:noFill/>
          <a:ln/>
        </p:spPr>
        <p:txBody>
          <a:bodyPr wrap="square" lIns="0" tIns="0" rIns="0" bIns="0" rtlCol="0" anchor="t"/>
          <a:lstStyle/>
          <a:p>
            <a:pPr indent="0" marL="0">
              <a:buNone/>
            </a:pPr>
            <a:r>
              <a:rPr lang="en-US" sz="1150" dirty="0">
                <a:solidFill>
                  <a:srgbClr val="16213A"/>
                </a:solidFill>
                <a:latin typeface="Calibri" pitchFamily="34" charset="0"/>
                <a:ea typeface="Calibri" pitchFamily="34" charset="-122"/>
                <a:cs typeface="Calibri" pitchFamily="34" charset="-120"/>
              </a:rPr>
              <a:t>sekolah &amp; IPT dijelajah</a:t>
            </a:r>
            <a:endParaRPr lang="en-US" sz="1150" dirty="0"/>
          </a:p>
        </p:txBody>
      </p:sp>
      <p:sp>
        <p:nvSpPr>
          <p:cNvPr id="16" name="Text 13"/>
          <p:cNvSpPr txBox="1"/>
          <p:nvPr/>
        </p:nvSpPr>
        <p:spPr>
          <a:xfrm>
            <a:off x="3337560" y="2971800"/>
            <a:ext cx="2468880" cy="256032"/>
          </a:xfrm>
          <a:prstGeom prst="rect">
            <a:avLst/>
          </a:prstGeom>
          <a:noFill/>
          <a:ln/>
        </p:spPr>
        <p:txBody>
          <a:bodyPr wrap="square" lIns="0" tIns="0" rIns="0" bIns="0" rtlCol="0" anchor="t"/>
          <a:lstStyle/>
          <a:p>
            <a:pPr indent="0" marL="0">
              <a:buNone/>
            </a:pPr>
            <a:r>
              <a:rPr lang="en-US" sz="1100" b="1" spc="200" kern="0" dirty="0">
                <a:solidFill>
                  <a:srgbClr val="127C83"/>
                </a:solidFill>
                <a:latin typeface="Calibri" pitchFamily="34" charset="0"/>
                <a:ea typeface="Calibri" pitchFamily="34" charset="-122"/>
                <a:cs typeface="Calibri" pitchFamily="34" charset="-120"/>
              </a:rPr>
              <a:t>PENDIDIKAN</a:t>
            </a:r>
            <a:endParaRPr lang="en-US" sz="1100" dirty="0"/>
          </a:p>
        </p:txBody>
      </p:sp>
      <p:sp>
        <p:nvSpPr>
          <p:cNvPr id="17" name="Text 14"/>
          <p:cNvSpPr txBox="1"/>
          <p:nvPr/>
        </p:nvSpPr>
        <p:spPr>
          <a:xfrm>
            <a:off x="3337560" y="3246120"/>
            <a:ext cx="2514600" cy="1371600"/>
          </a:xfrm>
          <a:prstGeom prst="rect">
            <a:avLst/>
          </a:prstGeom>
          <a:noFill/>
          <a:ln/>
        </p:spPr>
        <p:txBody>
          <a:bodyPr wrap="square" lIns="0" tIns="0" rIns="0" bIns="0" rtlCol="0" anchor="t"/>
          <a:lstStyle/>
          <a:p>
            <a:pPr indent="0" marL="0">
              <a:buNone/>
            </a:pPr>
            <a:r>
              <a:rPr lang="en-US" sz="1150" b="1" dirty="0">
                <a:solidFill>
                  <a:srgbClr val="16213A"/>
                </a:solidFill>
                <a:latin typeface="Calibri" pitchFamily="34" charset="0"/>
                <a:ea typeface="Calibri" pitchFamily="34" charset="-122"/>
                <a:cs typeface="Calibri" pitchFamily="34" charset="-120"/>
              </a:rPr>
              <a:t>Ijazah Sarjana Muda Sains Kimia</a:t>
            </a:r>
            <a:endParaRPr lang="en-US" sz="1150" dirty="0"/>
          </a:p>
          <a:p>
            <a:pPr indent="0" marL="0">
              <a:buNone/>
            </a:pPr>
            <a:r>
              <a:rPr lang="en-US" sz="1150" dirty="0">
                <a:solidFill>
                  <a:srgbClr val="5A6880"/>
                </a:solidFill>
                <a:latin typeface="Calibri" pitchFamily="34" charset="0"/>
                <a:ea typeface="Calibri" pitchFamily="34" charset="-122"/>
                <a:cs typeface="Calibri" pitchFamily="34" charset="-120"/>
              </a:rPr>
              <a:t>Universiti Kebangsaan Malaysia (2015)</a:t>
            </a:r>
            <a:endParaRPr lang="en-US" sz="1150" dirty="0"/>
          </a:p>
          <a:p>
            <a:pPr indent="0" marL="0">
              <a:buNone/>
            </a:pPr>
            <a:r>
              <a:rPr lang="en-US" sz="500" dirty="0">
                <a:solidFill>
                  <a:srgbClr val="16213A"/>
                </a:solidFill>
                <a:latin typeface="Calibri" pitchFamily="34" charset="0"/>
                <a:ea typeface="Calibri" pitchFamily="34" charset="-122"/>
                <a:cs typeface="Calibri" pitchFamily="34" charset="-120"/>
              </a:rPr>
              <a:t> </a:t>
            </a:r>
            <a:endParaRPr lang="en-US" sz="1150" dirty="0"/>
          </a:p>
          <a:p>
            <a:pPr indent="0" marL="0">
              <a:buNone/>
            </a:pPr>
            <a:r>
              <a:rPr lang="en-US" sz="1150" b="1" dirty="0">
                <a:solidFill>
                  <a:srgbClr val="16213A"/>
                </a:solidFill>
                <a:latin typeface="Calibri" pitchFamily="34" charset="0"/>
                <a:ea typeface="Calibri" pitchFamily="34" charset="-122"/>
                <a:cs typeface="Calibri" pitchFamily="34" charset="-120"/>
              </a:rPr>
              <a:t>Ijazah Sarjana Muda Pengajian Islam</a:t>
            </a:r>
            <a:endParaRPr lang="en-US" sz="1150" dirty="0"/>
          </a:p>
          <a:p>
            <a:pPr indent="0" marL="0">
              <a:buNone/>
            </a:pPr>
            <a:r>
              <a:rPr lang="en-US" sz="1150" dirty="0">
                <a:solidFill>
                  <a:srgbClr val="5A6880"/>
                </a:solidFill>
                <a:latin typeface="Calibri" pitchFamily="34" charset="0"/>
                <a:ea typeface="Calibri" pitchFamily="34" charset="-122"/>
                <a:cs typeface="Calibri" pitchFamily="34" charset="-120"/>
              </a:rPr>
              <a:t>Open University Malaysia (2026)</a:t>
            </a:r>
            <a:endParaRPr lang="en-US" sz="1150" dirty="0"/>
          </a:p>
        </p:txBody>
      </p:sp>
      <p:sp>
        <p:nvSpPr>
          <p:cNvPr id="18" name="Text 15"/>
          <p:cNvSpPr txBox="1"/>
          <p:nvPr/>
        </p:nvSpPr>
        <p:spPr>
          <a:xfrm>
            <a:off x="6035040" y="2971800"/>
            <a:ext cx="2651760" cy="256032"/>
          </a:xfrm>
          <a:prstGeom prst="rect">
            <a:avLst/>
          </a:prstGeom>
          <a:noFill/>
          <a:ln/>
        </p:spPr>
        <p:txBody>
          <a:bodyPr wrap="square" lIns="0" tIns="0" rIns="0" bIns="0" rtlCol="0" anchor="t"/>
          <a:lstStyle/>
          <a:p>
            <a:pPr indent="0" marL="0">
              <a:buNone/>
            </a:pPr>
            <a:r>
              <a:rPr lang="en-US" sz="1100" b="1" spc="200" kern="0" dirty="0">
                <a:solidFill>
                  <a:srgbClr val="127C83"/>
                </a:solidFill>
                <a:latin typeface="Calibri" pitchFamily="34" charset="0"/>
                <a:ea typeface="Calibri" pitchFamily="34" charset="-122"/>
                <a:cs typeface="Calibri" pitchFamily="34" charset="-120"/>
              </a:rPr>
              <a:t>PENGALAMAN</a:t>
            </a:r>
            <a:endParaRPr lang="en-US" sz="1100" dirty="0"/>
          </a:p>
        </p:txBody>
      </p:sp>
      <p:sp>
        <p:nvSpPr>
          <p:cNvPr id="19" name="Text 16"/>
          <p:cNvSpPr txBox="1"/>
          <p:nvPr/>
        </p:nvSpPr>
        <p:spPr>
          <a:xfrm>
            <a:off x="6035040" y="3246120"/>
            <a:ext cx="2697480" cy="137160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16213A"/>
                </a:solidFill>
                <a:latin typeface="Calibri" pitchFamily="34" charset="0"/>
                <a:ea typeface="Calibri" pitchFamily="34" charset="-122"/>
                <a:cs typeface="Calibri" pitchFamily="34" charset="-120"/>
              </a:rPr>
              <a:t>Penulis &amp; penceramah (2015 – kini)</a:t>
            </a:r>
            <a:endParaRPr lang="en-US" sz="1150" dirty="0"/>
          </a:p>
          <a:p>
            <a:pPr marL="342900" indent="-342900">
              <a:spcAft>
                <a:spcPts val="300"/>
              </a:spcAft>
              <a:buSzPct val="100000"/>
              <a:buChar char="◆"/>
            </a:pPr>
            <a:r>
              <a:rPr lang="en-US" sz="1150" dirty="0">
                <a:solidFill>
                  <a:srgbClr val="16213A"/>
                </a:solidFill>
                <a:latin typeface="Calibri" pitchFamily="34" charset="0"/>
                <a:ea typeface="Calibri" pitchFamily="34" charset="-122"/>
                <a:cs typeface="Calibri" pitchFamily="34" charset="-120"/>
              </a:rPr>
              <a:t>Jelajah sekolah &amp; IPT termasuk UK dan Australia</a:t>
            </a:r>
            <a:endParaRPr lang="en-US" sz="1150" dirty="0"/>
          </a:p>
          <a:p>
            <a:pPr marL="342900" indent="-342900">
              <a:spcAft>
                <a:spcPts val="300"/>
              </a:spcAft>
              <a:buSzPct val="100000"/>
              <a:buChar char="◆"/>
            </a:pPr>
            <a:r>
              <a:rPr lang="en-US" sz="1150" dirty="0">
                <a:solidFill>
                  <a:srgbClr val="16213A"/>
                </a:solidFill>
                <a:latin typeface="Calibri" pitchFamily="34" charset="0"/>
                <a:ea typeface="Calibri" pitchFamily="34" charset="-122"/>
                <a:cs typeface="Calibri" pitchFamily="34" charset="-120"/>
              </a:rPr>
              <a:t>Editor in Chief, Sentap Press (2015 – 2021)</a:t>
            </a:r>
            <a:endParaRPr lang="en-US" sz="1150" dirty="0"/>
          </a:p>
          <a:p>
            <a:pPr marL="342900" indent="-342900">
              <a:spcAft>
                <a:spcPts val="300"/>
              </a:spcAft>
              <a:buSzPct val="100000"/>
              <a:buChar char="◆"/>
            </a:pPr>
            <a:r>
              <a:rPr lang="en-US" sz="1150" dirty="0">
                <a:solidFill>
                  <a:srgbClr val="16213A"/>
                </a:solidFill>
                <a:latin typeface="Calibri" pitchFamily="34" charset="0"/>
                <a:ea typeface="Calibri" pitchFamily="34" charset="-122"/>
                <a:cs typeface="Calibri" pitchFamily="34" charset="-120"/>
              </a:rPr>
              <a:t>Project Leader, Media Wangsa (2025 – kini)</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11480"/>
            <a:ext cx="4572000" cy="256032"/>
          </a:xfrm>
          <a:prstGeom prst="rect">
            <a:avLst/>
          </a:prstGeom>
          <a:noFill/>
          <a:ln/>
        </p:spPr>
        <p:txBody>
          <a:bodyPr wrap="square" lIns="0" tIns="0" rIns="0" bIns="0" rtlCol="0" anchor="t"/>
          <a:lstStyle/>
          <a:p>
            <a:pPr indent="0" marL="0">
              <a:buNone/>
            </a:pPr>
            <a:r>
              <a:rPr lang="en-US" sz="1100" b="1" spc="200" kern="0" dirty="0">
                <a:solidFill>
                  <a:srgbClr val="9A6B0F"/>
                </a:solidFill>
                <a:latin typeface="Calibri" pitchFamily="34" charset="0"/>
                <a:ea typeface="Calibri" pitchFamily="34" charset="-122"/>
                <a:cs typeface="Calibri" pitchFamily="34" charset="-120"/>
              </a:rPr>
              <a:t>PETA CERAMAH</a:t>
            </a:r>
            <a:endParaRPr lang="en-US" sz="1100" dirty="0"/>
          </a:p>
        </p:txBody>
      </p:sp>
      <p:sp>
        <p:nvSpPr>
          <p:cNvPr id="3" name="Text 1"/>
          <p:cNvSpPr txBox="1"/>
          <p:nvPr/>
        </p:nvSpPr>
        <p:spPr>
          <a:xfrm>
            <a:off x="457200" y="658368"/>
            <a:ext cx="8229600" cy="566928"/>
          </a:xfrm>
          <a:prstGeom prst="rect">
            <a:avLst/>
          </a:prstGeom>
          <a:noFill/>
          <a:ln/>
        </p:spPr>
        <p:txBody>
          <a:bodyPr wrap="square" lIns="0" tIns="0" rIns="0" bIns="0" rtlCol="0" anchor="ctr"/>
          <a:lstStyle/>
          <a:p>
            <a:pPr indent="0" marL="0">
              <a:buNone/>
            </a:pPr>
            <a:r>
              <a:rPr lang="en-US" sz="3000" b="1" dirty="0">
                <a:solidFill>
                  <a:srgbClr val="0F1E3D"/>
                </a:solidFill>
                <a:latin typeface="Calibri" pitchFamily="34" charset="0"/>
                <a:ea typeface="Calibri" pitchFamily="34" charset="-122"/>
                <a:cs typeface="Calibri" pitchFamily="34" charset="-120"/>
              </a:rPr>
              <a:t>Apa yang kita akan bincangkan?</a:t>
            </a:r>
            <a:endParaRPr lang="en-US" sz="3000" dirty="0"/>
          </a:p>
        </p:txBody>
      </p:sp>
      <p:sp>
        <p:nvSpPr>
          <p:cNvPr id="4" name="Shape 2"/>
          <p:cNvSpPr/>
          <p:nvPr/>
        </p:nvSpPr>
        <p:spPr>
          <a:xfrm>
            <a:off x="457200" y="1600200"/>
            <a:ext cx="1938528" cy="2880360"/>
          </a:xfrm>
          <a:prstGeom prst="roundRect">
            <a:avLst>
              <a:gd name="adj" fmla="val 5660"/>
            </a:avLst>
          </a:prstGeom>
          <a:solidFill>
            <a:srgbClr val="FFFFFF"/>
          </a:solidFill>
          <a:ln w="9525">
            <a:solidFill>
              <a:srgbClr val="DCE3EC"/>
            </a:solidFill>
            <a:prstDash val="solid"/>
          </a:ln>
          <a:effectLst>
            <a:outerShdw sx="100000" sy="100000" kx="0" ky="0" algn="bl" rotWithShape="0" blurRad="101600" dist="25400" dir="5400000">
              <a:srgbClr val="0F1E3D">
                <a:alpha val="12000"/>
              </a:srgbClr>
            </a:outerShdw>
          </a:effectLst>
        </p:spPr>
      </p:sp>
      <p:sp>
        <p:nvSpPr>
          <p:cNvPr id="5" name="Shape 3"/>
          <p:cNvSpPr/>
          <p:nvPr/>
        </p:nvSpPr>
        <p:spPr>
          <a:xfrm>
            <a:off x="685800" y="1874520"/>
            <a:ext cx="685800" cy="685800"/>
          </a:xfrm>
          <a:prstGeom prst="ellipse">
            <a:avLst/>
          </a:prstGeom>
          <a:solidFill>
            <a:srgbClr val="E3F2F2"/>
          </a:solidFill>
          <a:ln w="12700">
            <a:solidFill>
              <a:srgbClr val="E3F2F2"/>
            </a:solidFill>
            <a:prstDash val="solid"/>
          </a:ln>
        </p:spPr>
      </p:sp>
      <p:pic>
        <p:nvPicPr>
          <p:cNvPr id="6" name="Image 0" descr="preencoded.png">    </p:cNvPr>
          <p:cNvPicPr>
            <a:picLocks noChangeAspect="1"/>
          </p:cNvPicPr>
          <p:nvPr/>
        </p:nvPicPr>
        <p:blipFill>
          <a:blip r:embed="rId1"/>
          <a:stretch>
            <a:fillRect/>
          </a:stretch>
        </p:blipFill>
        <p:spPr>
          <a:xfrm>
            <a:off x="864108" y="2052828"/>
            <a:ext cx="329184" cy="329184"/>
          </a:xfrm>
          <a:prstGeom prst="rect">
            <a:avLst/>
          </a:prstGeom>
        </p:spPr>
      </p:pic>
      <p:sp>
        <p:nvSpPr>
          <p:cNvPr id="7" name="Text 4"/>
          <p:cNvSpPr txBox="1"/>
          <p:nvPr/>
        </p:nvSpPr>
        <p:spPr>
          <a:xfrm>
            <a:off x="1618488" y="1874520"/>
            <a:ext cx="548640" cy="457200"/>
          </a:xfrm>
          <a:prstGeom prst="rect">
            <a:avLst/>
          </a:prstGeom>
          <a:noFill/>
          <a:ln/>
        </p:spPr>
        <p:txBody>
          <a:bodyPr wrap="square" lIns="0" tIns="0" rIns="0" bIns="0" rtlCol="0" anchor="t"/>
          <a:lstStyle/>
          <a:p>
            <a:pPr algn="r" indent="0" marL="0">
              <a:buNone/>
            </a:pPr>
            <a:r>
              <a:rPr lang="en-US" sz="2200" b="1" dirty="0">
                <a:solidFill>
                  <a:srgbClr val="C3CCDA"/>
                </a:solidFill>
                <a:latin typeface="Calibri" pitchFamily="34" charset="0"/>
                <a:ea typeface="Calibri" pitchFamily="34" charset="-122"/>
                <a:cs typeface="Calibri" pitchFamily="34" charset="-120"/>
              </a:rPr>
              <a:t>01</a:t>
            </a:r>
            <a:endParaRPr lang="en-US" sz="2200" dirty="0"/>
          </a:p>
        </p:txBody>
      </p:sp>
      <p:sp>
        <p:nvSpPr>
          <p:cNvPr id="8" name="Text 5"/>
          <p:cNvSpPr txBox="1"/>
          <p:nvPr/>
        </p:nvSpPr>
        <p:spPr>
          <a:xfrm>
            <a:off x="685800" y="2788920"/>
            <a:ext cx="1527048" cy="731520"/>
          </a:xfrm>
          <a:prstGeom prst="rect">
            <a:avLst/>
          </a:prstGeom>
          <a:noFill/>
          <a:ln/>
        </p:spPr>
        <p:txBody>
          <a:bodyPr wrap="square" lIns="0" tIns="0" rIns="0" bIns="0" rtlCol="0" anchor="t"/>
          <a:lstStyle/>
          <a:p>
            <a:pPr indent="0" marL="0">
              <a:buNone/>
            </a:pPr>
            <a:r>
              <a:rPr lang="en-US" sz="1800" b="1" dirty="0">
                <a:solidFill>
                  <a:srgbClr val="0F1E3D"/>
                </a:solidFill>
                <a:latin typeface="Calibri" pitchFamily="34" charset="0"/>
                <a:ea typeface="Calibri" pitchFamily="34" charset="-122"/>
                <a:cs typeface="Calibri" pitchFamily="34" charset="-120"/>
              </a:rPr>
              <a:t>Generasi</a:t>
            </a:r>
            <a:endParaRPr lang="en-US" sz="1800" dirty="0"/>
          </a:p>
          <a:p>
            <a:pPr indent="0" marL="0">
              <a:buNone/>
            </a:pPr>
            <a:r>
              <a:rPr lang="en-US" sz="1800" b="1" dirty="0">
                <a:solidFill>
                  <a:srgbClr val="0F1E3D"/>
                </a:solidFill>
                <a:latin typeface="Calibri" pitchFamily="34" charset="0"/>
                <a:ea typeface="Calibri" pitchFamily="34" charset="-122"/>
                <a:cs typeface="Calibri" pitchFamily="34" charset="-120"/>
              </a:rPr>
              <a:t>Al-Quran</a:t>
            </a:r>
            <a:endParaRPr lang="en-US" sz="1800" dirty="0"/>
          </a:p>
        </p:txBody>
      </p:sp>
      <p:sp>
        <p:nvSpPr>
          <p:cNvPr id="9" name="Text 6"/>
          <p:cNvSpPr txBox="1"/>
          <p:nvPr/>
        </p:nvSpPr>
        <p:spPr>
          <a:xfrm>
            <a:off x="685800" y="3520440"/>
            <a:ext cx="1527048" cy="731520"/>
          </a:xfrm>
          <a:prstGeom prst="rect">
            <a:avLst/>
          </a:prstGeom>
          <a:noFill/>
          <a:ln/>
        </p:spPr>
        <p:txBody>
          <a:bodyPr wrap="square" lIns="0" tIns="0" rIns="0" bIns="0" rtlCol="0" anchor="t"/>
          <a:lstStyle/>
          <a:p>
            <a:pPr indent="0" marL="0">
              <a:buNone/>
            </a:pPr>
            <a:r>
              <a:rPr lang="en-US" sz="1300" dirty="0">
                <a:solidFill>
                  <a:srgbClr val="5A6880"/>
                </a:solidFill>
                <a:latin typeface="Calibri" pitchFamily="34" charset="0"/>
                <a:ea typeface="Calibri" pitchFamily="34" charset="-122"/>
                <a:cs typeface="Calibri" pitchFamily="34" charset="-120"/>
              </a:rPr>
              <a:t>Siapa mereka &amp; apa ciri-cirinya</a:t>
            </a:r>
            <a:endParaRPr lang="en-US" sz="1300" dirty="0"/>
          </a:p>
        </p:txBody>
      </p:sp>
      <p:sp>
        <p:nvSpPr>
          <p:cNvPr id="10" name="Shape 7"/>
          <p:cNvSpPr/>
          <p:nvPr/>
        </p:nvSpPr>
        <p:spPr>
          <a:xfrm>
            <a:off x="2578608" y="1600200"/>
            <a:ext cx="1938528" cy="2880360"/>
          </a:xfrm>
          <a:prstGeom prst="roundRect">
            <a:avLst>
              <a:gd name="adj" fmla="val 5660"/>
            </a:avLst>
          </a:prstGeom>
          <a:solidFill>
            <a:srgbClr val="FFFFFF"/>
          </a:solidFill>
          <a:ln w="9525">
            <a:solidFill>
              <a:srgbClr val="DCE3EC"/>
            </a:solidFill>
            <a:prstDash val="solid"/>
          </a:ln>
          <a:effectLst>
            <a:outerShdw sx="100000" sy="100000" kx="0" ky="0" algn="bl" rotWithShape="0" blurRad="101600" dist="25400" dir="5400000">
              <a:srgbClr val="0F1E3D">
                <a:alpha val="12000"/>
              </a:srgbClr>
            </a:outerShdw>
          </a:effectLst>
        </p:spPr>
      </p:sp>
      <p:sp>
        <p:nvSpPr>
          <p:cNvPr id="11" name="Shape 8"/>
          <p:cNvSpPr/>
          <p:nvPr/>
        </p:nvSpPr>
        <p:spPr>
          <a:xfrm>
            <a:off x="2807208" y="1874520"/>
            <a:ext cx="685800" cy="685800"/>
          </a:xfrm>
          <a:prstGeom prst="ellipse">
            <a:avLst/>
          </a:prstGeom>
          <a:solidFill>
            <a:srgbClr val="FBF3DF"/>
          </a:solidFill>
          <a:ln w="12700">
            <a:solidFill>
              <a:srgbClr val="FBF3DF"/>
            </a:solidFill>
            <a:prstDash val="solid"/>
          </a:ln>
        </p:spPr>
      </p:sp>
      <p:pic>
        <p:nvPicPr>
          <p:cNvPr id="12" name="Image 1" descr="preencoded.png">    </p:cNvPr>
          <p:cNvPicPr>
            <a:picLocks noChangeAspect="1"/>
          </p:cNvPicPr>
          <p:nvPr/>
        </p:nvPicPr>
        <p:blipFill>
          <a:blip r:embed="rId2"/>
          <a:stretch>
            <a:fillRect/>
          </a:stretch>
        </p:blipFill>
        <p:spPr>
          <a:xfrm>
            <a:off x="2985516" y="2052828"/>
            <a:ext cx="329184" cy="329184"/>
          </a:xfrm>
          <a:prstGeom prst="rect">
            <a:avLst/>
          </a:prstGeom>
        </p:spPr>
      </p:pic>
      <p:sp>
        <p:nvSpPr>
          <p:cNvPr id="13" name="Text 9"/>
          <p:cNvSpPr txBox="1"/>
          <p:nvPr/>
        </p:nvSpPr>
        <p:spPr>
          <a:xfrm>
            <a:off x="3739896" y="1874520"/>
            <a:ext cx="548640" cy="457200"/>
          </a:xfrm>
          <a:prstGeom prst="rect">
            <a:avLst/>
          </a:prstGeom>
          <a:noFill/>
          <a:ln/>
        </p:spPr>
        <p:txBody>
          <a:bodyPr wrap="square" lIns="0" tIns="0" rIns="0" bIns="0" rtlCol="0" anchor="t"/>
          <a:lstStyle/>
          <a:p>
            <a:pPr algn="r" indent="0" marL="0">
              <a:buNone/>
            </a:pPr>
            <a:r>
              <a:rPr lang="en-US" sz="2200" b="1" dirty="0">
                <a:solidFill>
                  <a:srgbClr val="C3CCDA"/>
                </a:solidFill>
                <a:latin typeface="Calibri" pitchFamily="34" charset="0"/>
                <a:ea typeface="Calibri" pitchFamily="34" charset="-122"/>
                <a:cs typeface="Calibri" pitchFamily="34" charset="-120"/>
              </a:rPr>
              <a:t>02</a:t>
            </a:r>
            <a:endParaRPr lang="en-US" sz="2200" dirty="0"/>
          </a:p>
        </p:txBody>
      </p:sp>
      <p:sp>
        <p:nvSpPr>
          <p:cNvPr id="14" name="Text 10"/>
          <p:cNvSpPr txBox="1"/>
          <p:nvPr/>
        </p:nvSpPr>
        <p:spPr>
          <a:xfrm>
            <a:off x="2807208" y="2788920"/>
            <a:ext cx="1527048" cy="731520"/>
          </a:xfrm>
          <a:prstGeom prst="rect">
            <a:avLst/>
          </a:prstGeom>
          <a:noFill/>
          <a:ln/>
        </p:spPr>
        <p:txBody>
          <a:bodyPr wrap="square" lIns="0" tIns="0" rIns="0" bIns="0" rtlCol="0" anchor="t"/>
          <a:lstStyle/>
          <a:p>
            <a:pPr indent="0" marL="0">
              <a:buNone/>
            </a:pPr>
            <a:r>
              <a:rPr lang="en-US" sz="1800" b="1" dirty="0">
                <a:solidFill>
                  <a:srgbClr val="0F1E3D"/>
                </a:solidFill>
                <a:latin typeface="Calibri" pitchFamily="34" charset="0"/>
                <a:ea typeface="Calibri" pitchFamily="34" charset="-122"/>
                <a:cs typeface="Calibri" pitchFamily="34" charset="-120"/>
              </a:rPr>
              <a:t>Musuh Sejak Azali</a:t>
            </a:r>
            <a:endParaRPr lang="en-US" sz="1800" dirty="0"/>
          </a:p>
        </p:txBody>
      </p:sp>
      <p:sp>
        <p:nvSpPr>
          <p:cNvPr id="15" name="Text 11"/>
          <p:cNvSpPr txBox="1"/>
          <p:nvPr/>
        </p:nvSpPr>
        <p:spPr>
          <a:xfrm>
            <a:off x="2807208" y="3520440"/>
            <a:ext cx="1527048" cy="731520"/>
          </a:xfrm>
          <a:prstGeom prst="rect">
            <a:avLst/>
          </a:prstGeom>
          <a:noFill/>
          <a:ln/>
        </p:spPr>
        <p:txBody>
          <a:bodyPr wrap="square" lIns="0" tIns="0" rIns="0" bIns="0" rtlCol="0" anchor="t"/>
          <a:lstStyle/>
          <a:p>
            <a:pPr indent="0" marL="0">
              <a:buNone/>
            </a:pPr>
            <a:r>
              <a:rPr lang="en-US" sz="1300" dirty="0">
                <a:solidFill>
                  <a:srgbClr val="5A6880"/>
                </a:solidFill>
                <a:latin typeface="Calibri" pitchFamily="34" charset="0"/>
                <a:ea typeface="Calibri" pitchFamily="34" charset="-122"/>
                <a:cs typeface="Calibri" pitchFamily="34" charset="-120"/>
              </a:rPr>
              <a:t>Kisah Nabi Adam &amp; dendam Iblis</a:t>
            </a:r>
            <a:endParaRPr lang="en-US" sz="1300" dirty="0"/>
          </a:p>
        </p:txBody>
      </p:sp>
      <p:sp>
        <p:nvSpPr>
          <p:cNvPr id="16" name="Shape 12"/>
          <p:cNvSpPr/>
          <p:nvPr/>
        </p:nvSpPr>
        <p:spPr>
          <a:xfrm>
            <a:off x="4700016" y="1600200"/>
            <a:ext cx="1938528" cy="2880360"/>
          </a:xfrm>
          <a:prstGeom prst="roundRect">
            <a:avLst>
              <a:gd name="adj" fmla="val 5660"/>
            </a:avLst>
          </a:prstGeom>
          <a:solidFill>
            <a:srgbClr val="FFFFFF"/>
          </a:solidFill>
          <a:ln w="9525">
            <a:solidFill>
              <a:srgbClr val="DCE3EC"/>
            </a:solidFill>
            <a:prstDash val="solid"/>
          </a:ln>
          <a:effectLst>
            <a:outerShdw sx="100000" sy="100000" kx="0" ky="0" algn="bl" rotWithShape="0" blurRad="101600" dist="25400" dir="5400000">
              <a:srgbClr val="0F1E3D">
                <a:alpha val="12000"/>
              </a:srgbClr>
            </a:outerShdw>
          </a:effectLst>
        </p:spPr>
      </p:sp>
      <p:sp>
        <p:nvSpPr>
          <p:cNvPr id="17" name="Shape 13"/>
          <p:cNvSpPr/>
          <p:nvPr/>
        </p:nvSpPr>
        <p:spPr>
          <a:xfrm>
            <a:off x="4928616" y="1874520"/>
            <a:ext cx="685800" cy="685800"/>
          </a:xfrm>
          <a:prstGeom prst="ellipse">
            <a:avLst/>
          </a:prstGeom>
          <a:solidFill>
            <a:srgbClr val="E3F2F2"/>
          </a:solidFill>
          <a:ln w="12700">
            <a:solidFill>
              <a:srgbClr val="E3F2F2"/>
            </a:solidFill>
            <a:prstDash val="solid"/>
          </a:ln>
        </p:spPr>
      </p:sp>
      <p:pic>
        <p:nvPicPr>
          <p:cNvPr id="18" name="Image 2" descr="preencoded.png">    </p:cNvPr>
          <p:cNvPicPr>
            <a:picLocks noChangeAspect="1"/>
          </p:cNvPicPr>
          <p:nvPr/>
        </p:nvPicPr>
        <p:blipFill>
          <a:blip r:embed="rId3"/>
          <a:stretch>
            <a:fillRect/>
          </a:stretch>
        </p:blipFill>
        <p:spPr>
          <a:xfrm>
            <a:off x="5106924" y="2052828"/>
            <a:ext cx="329184" cy="329184"/>
          </a:xfrm>
          <a:prstGeom prst="rect">
            <a:avLst/>
          </a:prstGeom>
        </p:spPr>
      </p:pic>
      <p:sp>
        <p:nvSpPr>
          <p:cNvPr id="19" name="Text 14"/>
          <p:cNvSpPr txBox="1"/>
          <p:nvPr/>
        </p:nvSpPr>
        <p:spPr>
          <a:xfrm>
            <a:off x="5861304" y="1874520"/>
            <a:ext cx="548640" cy="457200"/>
          </a:xfrm>
          <a:prstGeom prst="rect">
            <a:avLst/>
          </a:prstGeom>
          <a:noFill/>
          <a:ln/>
        </p:spPr>
        <p:txBody>
          <a:bodyPr wrap="square" lIns="0" tIns="0" rIns="0" bIns="0" rtlCol="0" anchor="t"/>
          <a:lstStyle/>
          <a:p>
            <a:pPr algn="r" indent="0" marL="0">
              <a:buNone/>
            </a:pPr>
            <a:r>
              <a:rPr lang="en-US" sz="2200" b="1" dirty="0">
                <a:solidFill>
                  <a:srgbClr val="C3CCDA"/>
                </a:solidFill>
                <a:latin typeface="Calibri" pitchFamily="34" charset="0"/>
                <a:ea typeface="Calibri" pitchFamily="34" charset="-122"/>
                <a:cs typeface="Calibri" pitchFamily="34" charset="-120"/>
              </a:rPr>
              <a:t>03</a:t>
            </a:r>
            <a:endParaRPr lang="en-US" sz="2200" dirty="0"/>
          </a:p>
        </p:txBody>
      </p:sp>
      <p:sp>
        <p:nvSpPr>
          <p:cNvPr id="20" name="Text 15"/>
          <p:cNvSpPr txBox="1"/>
          <p:nvPr/>
        </p:nvSpPr>
        <p:spPr>
          <a:xfrm>
            <a:off x="4928616" y="2788920"/>
            <a:ext cx="1527048" cy="731520"/>
          </a:xfrm>
          <a:prstGeom prst="rect">
            <a:avLst/>
          </a:prstGeom>
          <a:noFill/>
          <a:ln/>
        </p:spPr>
        <p:txBody>
          <a:bodyPr wrap="square" lIns="0" tIns="0" rIns="0" bIns="0" rtlCol="0" anchor="t"/>
          <a:lstStyle/>
          <a:p>
            <a:pPr indent="0" marL="0">
              <a:buNone/>
            </a:pPr>
            <a:r>
              <a:rPr lang="en-US" sz="1800" b="1" dirty="0">
                <a:solidFill>
                  <a:srgbClr val="0F1E3D"/>
                </a:solidFill>
                <a:latin typeface="Calibri" pitchFamily="34" charset="0"/>
                <a:ea typeface="Calibri" pitchFamily="34" charset="-122"/>
                <a:cs typeface="Calibri" pitchFamily="34" charset="-120"/>
              </a:rPr>
              <a:t>Serangan 4 Penjuru</a:t>
            </a:r>
            <a:endParaRPr lang="en-US" sz="1800" dirty="0"/>
          </a:p>
        </p:txBody>
      </p:sp>
      <p:sp>
        <p:nvSpPr>
          <p:cNvPr id="21" name="Text 16"/>
          <p:cNvSpPr txBox="1"/>
          <p:nvPr/>
        </p:nvSpPr>
        <p:spPr>
          <a:xfrm>
            <a:off x="4928616" y="3520440"/>
            <a:ext cx="1527048" cy="731520"/>
          </a:xfrm>
          <a:prstGeom prst="rect">
            <a:avLst/>
          </a:prstGeom>
          <a:noFill/>
          <a:ln/>
        </p:spPr>
        <p:txBody>
          <a:bodyPr wrap="square" lIns="0" tIns="0" rIns="0" bIns="0" rtlCol="0" anchor="t"/>
          <a:lstStyle/>
          <a:p>
            <a:pPr indent="0" marL="0">
              <a:buNone/>
            </a:pPr>
            <a:r>
              <a:rPr lang="en-US" sz="1300" dirty="0">
                <a:solidFill>
                  <a:srgbClr val="5A6880"/>
                </a:solidFill>
                <a:latin typeface="Calibri" pitchFamily="34" charset="0"/>
                <a:ea typeface="Calibri" pitchFamily="34" charset="-122"/>
                <a:cs typeface="Calibri" pitchFamily="34" charset="-120"/>
              </a:rPr>
              <a:t>Cara syaitan menyerang hati</a:t>
            </a:r>
            <a:endParaRPr lang="en-US" sz="1300" dirty="0"/>
          </a:p>
        </p:txBody>
      </p:sp>
      <p:sp>
        <p:nvSpPr>
          <p:cNvPr id="22" name="Shape 17"/>
          <p:cNvSpPr/>
          <p:nvPr/>
        </p:nvSpPr>
        <p:spPr>
          <a:xfrm>
            <a:off x="6821424" y="1600200"/>
            <a:ext cx="1938528" cy="2880360"/>
          </a:xfrm>
          <a:prstGeom prst="roundRect">
            <a:avLst>
              <a:gd name="adj" fmla="val 5660"/>
            </a:avLst>
          </a:prstGeom>
          <a:solidFill>
            <a:srgbClr val="FFFFFF"/>
          </a:solidFill>
          <a:ln w="9525">
            <a:solidFill>
              <a:srgbClr val="DCE3EC"/>
            </a:solidFill>
            <a:prstDash val="solid"/>
          </a:ln>
          <a:effectLst>
            <a:outerShdw sx="100000" sy="100000" kx="0" ky="0" algn="bl" rotWithShape="0" blurRad="101600" dist="25400" dir="5400000">
              <a:srgbClr val="0F1E3D">
                <a:alpha val="12000"/>
              </a:srgbClr>
            </a:outerShdw>
          </a:effectLst>
        </p:spPr>
      </p:sp>
      <p:sp>
        <p:nvSpPr>
          <p:cNvPr id="23" name="Shape 18"/>
          <p:cNvSpPr/>
          <p:nvPr/>
        </p:nvSpPr>
        <p:spPr>
          <a:xfrm>
            <a:off x="7050024" y="1874520"/>
            <a:ext cx="685800" cy="685800"/>
          </a:xfrm>
          <a:prstGeom prst="ellipse">
            <a:avLst/>
          </a:prstGeom>
          <a:solidFill>
            <a:srgbClr val="FBF3DF"/>
          </a:solidFill>
          <a:ln w="12700">
            <a:solidFill>
              <a:srgbClr val="FBF3DF"/>
            </a:solidFill>
            <a:prstDash val="solid"/>
          </a:ln>
        </p:spPr>
      </p:sp>
      <p:pic>
        <p:nvPicPr>
          <p:cNvPr id="24" name="Image 3" descr="preencoded.png">    </p:cNvPr>
          <p:cNvPicPr>
            <a:picLocks noChangeAspect="1"/>
          </p:cNvPicPr>
          <p:nvPr/>
        </p:nvPicPr>
        <p:blipFill>
          <a:blip r:embed="rId4"/>
          <a:stretch>
            <a:fillRect/>
          </a:stretch>
        </p:blipFill>
        <p:spPr>
          <a:xfrm>
            <a:off x="7228332" y="2052828"/>
            <a:ext cx="329184" cy="329184"/>
          </a:xfrm>
          <a:prstGeom prst="rect">
            <a:avLst/>
          </a:prstGeom>
        </p:spPr>
      </p:pic>
      <p:sp>
        <p:nvSpPr>
          <p:cNvPr id="25" name="Text 19"/>
          <p:cNvSpPr txBox="1"/>
          <p:nvPr/>
        </p:nvSpPr>
        <p:spPr>
          <a:xfrm>
            <a:off x="7982712" y="1874520"/>
            <a:ext cx="548640" cy="457200"/>
          </a:xfrm>
          <a:prstGeom prst="rect">
            <a:avLst/>
          </a:prstGeom>
          <a:noFill/>
          <a:ln/>
        </p:spPr>
        <p:txBody>
          <a:bodyPr wrap="square" lIns="0" tIns="0" rIns="0" bIns="0" rtlCol="0" anchor="t"/>
          <a:lstStyle/>
          <a:p>
            <a:pPr algn="r" indent="0" marL="0">
              <a:buNone/>
            </a:pPr>
            <a:r>
              <a:rPr lang="en-US" sz="2200" b="1" dirty="0">
                <a:solidFill>
                  <a:srgbClr val="C3CCDA"/>
                </a:solidFill>
                <a:latin typeface="Calibri" pitchFamily="34" charset="0"/>
                <a:ea typeface="Calibri" pitchFamily="34" charset="-122"/>
                <a:cs typeface="Calibri" pitchFamily="34" charset="-120"/>
              </a:rPr>
              <a:t>04</a:t>
            </a:r>
            <a:endParaRPr lang="en-US" sz="2200" dirty="0"/>
          </a:p>
        </p:txBody>
      </p:sp>
      <p:sp>
        <p:nvSpPr>
          <p:cNvPr id="26" name="Text 20"/>
          <p:cNvSpPr txBox="1"/>
          <p:nvPr/>
        </p:nvSpPr>
        <p:spPr>
          <a:xfrm>
            <a:off x="7050024" y="2788920"/>
            <a:ext cx="1527048" cy="731520"/>
          </a:xfrm>
          <a:prstGeom prst="rect">
            <a:avLst/>
          </a:prstGeom>
          <a:noFill/>
          <a:ln/>
        </p:spPr>
        <p:txBody>
          <a:bodyPr wrap="square" lIns="0" tIns="0" rIns="0" bIns="0" rtlCol="0" anchor="t"/>
          <a:lstStyle/>
          <a:p>
            <a:pPr indent="0" marL="0">
              <a:buNone/>
            </a:pPr>
            <a:r>
              <a:rPr lang="en-US" sz="1800" b="1" dirty="0">
                <a:solidFill>
                  <a:srgbClr val="0F1E3D"/>
                </a:solidFill>
                <a:latin typeface="Calibri" pitchFamily="34" charset="0"/>
                <a:ea typeface="Calibri" pitchFamily="34" charset="-122"/>
                <a:cs typeface="Calibri" pitchFamily="34" charset="-120"/>
              </a:rPr>
              <a:t>Solusi</a:t>
            </a:r>
            <a:endParaRPr lang="en-US" sz="1800" dirty="0"/>
          </a:p>
        </p:txBody>
      </p:sp>
      <p:sp>
        <p:nvSpPr>
          <p:cNvPr id="27" name="Text 21"/>
          <p:cNvSpPr txBox="1"/>
          <p:nvPr/>
        </p:nvSpPr>
        <p:spPr>
          <a:xfrm>
            <a:off x="7050024" y="3520440"/>
            <a:ext cx="1527048" cy="731520"/>
          </a:xfrm>
          <a:prstGeom prst="rect">
            <a:avLst/>
          </a:prstGeom>
          <a:noFill/>
          <a:ln/>
        </p:spPr>
        <p:txBody>
          <a:bodyPr wrap="square" lIns="0" tIns="0" rIns="0" bIns="0" rtlCol="0" anchor="t"/>
          <a:lstStyle/>
          <a:p>
            <a:pPr indent="0" marL="0">
              <a:buNone/>
            </a:pPr>
            <a:r>
              <a:rPr lang="en-US" sz="1300" dirty="0">
                <a:solidFill>
                  <a:srgbClr val="5A6880"/>
                </a:solidFill>
                <a:latin typeface="Calibri" pitchFamily="34" charset="0"/>
                <a:ea typeface="Calibri" pitchFamily="34" charset="-122"/>
                <a:cs typeface="Calibri" pitchFamily="34" charset="-120"/>
              </a:rPr>
              <a:t>5 langkah membina benteng diri</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E3D"/>
        </a:solidFill>
      </p:bgPr>
    </p:bg>
    <p:spTree>
      <p:nvGrpSpPr>
        <p:cNvPr id="1" name=""/>
        <p:cNvGrpSpPr/>
        <p:nvPr/>
      </p:nvGrpSpPr>
      <p:grpSpPr>
        <a:xfrm>
          <a:off x="0" y="0"/>
          <a:ext cx="0" cy="0"/>
          <a:chOff x="0" y="0"/>
          <a:chExt cx="0" cy="0"/>
        </a:xfrm>
      </p:grpSpPr>
      <p:pic>
        <p:nvPicPr>
          <p:cNvPr id="2" name="Image 0" descr="/tmp/claude-0/-home-user-Shukery-Azizan/b66663cb-20be-5bd3-935d-65edbae5e3fd/scratchpad/build/assets/pattern.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txBox="1"/>
          <p:nvPr/>
        </p:nvSpPr>
        <p:spPr>
          <a:xfrm>
            <a:off x="640080" y="1097280"/>
            <a:ext cx="2926080" cy="2011680"/>
          </a:xfrm>
          <a:prstGeom prst="rect">
            <a:avLst/>
          </a:prstGeom>
          <a:noFill/>
          <a:ln/>
        </p:spPr>
        <p:txBody>
          <a:bodyPr wrap="square" lIns="0" tIns="0" rIns="0" bIns="0" rtlCol="0" anchor="ctr"/>
          <a:lstStyle/>
          <a:p>
            <a:pPr indent="0" marL="0">
              <a:buNone/>
            </a:pPr>
            <a:r>
              <a:rPr lang="en-US" sz="15000" b="1" dirty="0">
                <a:solidFill>
                  <a:srgbClr val="D9A93A"/>
                </a:solidFill>
                <a:latin typeface="Calibri" pitchFamily="34" charset="0"/>
                <a:ea typeface="Calibri" pitchFamily="34" charset="-122"/>
                <a:cs typeface="Calibri" pitchFamily="34" charset="-120"/>
              </a:rPr>
              <a:t>01</a:t>
            </a:r>
            <a:endParaRPr lang="en-US" sz="15000" dirty="0"/>
          </a:p>
        </p:txBody>
      </p:sp>
      <p:sp>
        <p:nvSpPr>
          <p:cNvPr id="4" name="Text 1"/>
          <p:cNvSpPr txBox="1"/>
          <p:nvPr/>
        </p:nvSpPr>
        <p:spPr>
          <a:xfrm>
            <a:off x="3611880" y="1325880"/>
            <a:ext cx="4572000" cy="256032"/>
          </a:xfrm>
          <a:prstGeom prst="rect">
            <a:avLst/>
          </a:prstGeom>
          <a:noFill/>
          <a:ln/>
        </p:spPr>
        <p:txBody>
          <a:bodyPr wrap="square" lIns="0" tIns="0" rIns="0" bIns="0" rtlCol="0" anchor="t"/>
          <a:lstStyle/>
          <a:p>
            <a:pPr indent="0" marL="0">
              <a:buNone/>
            </a:pPr>
            <a:r>
              <a:rPr lang="en-US" sz="1100" b="1" spc="200" kern="0" dirty="0">
                <a:solidFill>
                  <a:srgbClr val="D9A93A"/>
                </a:solidFill>
                <a:latin typeface="Calibri" pitchFamily="34" charset="0"/>
                <a:ea typeface="Calibri" pitchFamily="34" charset="-122"/>
                <a:cs typeface="Calibri" pitchFamily="34" charset="-120"/>
              </a:rPr>
              <a:t>BAHAGIAN 1</a:t>
            </a:r>
            <a:endParaRPr lang="en-US" sz="1100" dirty="0"/>
          </a:p>
        </p:txBody>
      </p:sp>
      <p:sp>
        <p:nvSpPr>
          <p:cNvPr id="5" name="Text 2"/>
          <p:cNvSpPr txBox="1"/>
          <p:nvPr/>
        </p:nvSpPr>
        <p:spPr>
          <a:xfrm>
            <a:off x="3611880" y="1600200"/>
            <a:ext cx="4937760" cy="1234440"/>
          </a:xfrm>
          <a:prstGeom prst="rect">
            <a:avLst/>
          </a:prstGeom>
          <a:noFill/>
          <a:ln/>
        </p:spPr>
        <p:txBody>
          <a:bodyPr wrap="square" lIns="0" tIns="0" rIns="0" bIns="0" rtlCol="0" anchor="t"/>
          <a:lstStyle/>
          <a:p>
            <a:pPr indent="0" marL="0">
              <a:lnSpc>
                <a:spcPct val="95000"/>
              </a:lnSpc>
              <a:buNone/>
            </a:pPr>
            <a:r>
              <a:rPr lang="en-US" sz="3800" b="1" dirty="0">
                <a:solidFill>
                  <a:srgbClr val="FFFFFF"/>
                </a:solidFill>
                <a:latin typeface="Calibri" pitchFamily="34" charset="0"/>
                <a:ea typeface="Calibri" pitchFamily="34" charset="-122"/>
                <a:cs typeface="Calibri" pitchFamily="34" charset="-120"/>
              </a:rPr>
              <a:t>Siapa Generasi</a:t>
            </a:r>
            <a:endParaRPr lang="en-US" sz="3800" dirty="0"/>
          </a:p>
          <a:p>
            <a:pPr indent="0" marL="0">
              <a:lnSpc>
                <a:spcPct val="95000"/>
              </a:lnSpc>
              <a:buNone/>
            </a:pPr>
            <a:r>
              <a:rPr lang="en-US" sz="3800" b="1" dirty="0">
                <a:solidFill>
                  <a:srgbClr val="FFFFFF"/>
                </a:solidFill>
                <a:latin typeface="Calibri" pitchFamily="34" charset="0"/>
                <a:ea typeface="Calibri" pitchFamily="34" charset="-122"/>
                <a:cs typeface="Calibri" pitchFamily="34" charset="-120"/>
              </a:rPr>
              <a:t>Al-Quran?</a:t>
            </a:r>
            <a:endParaRPr lang="en-US" sz="3800" dirty="0"/>
          </a:p>
        </p:txBody>
      </p:sp>
      <p:sp>
        <p:nvSpPr>
          <p:cNvPr id="6" name="Text 3"/>
          <p:cNvSpPr txBox="1"/>
          <p:nvPr/>
        </p:nvSpPr>
        <p:spPr>
          <a:xfrm>
            <a:off x="3611880" y="2926080"/>
            <a:ext cx="4937760" cy="457200"/>
          </a:xfrm>
          <a:prstGeom prst="rect">
            <a:avLst/>
          </a:prstGeom>
          <a:noFill/>
          <a:ln/>
        </p:spPr>
        <p:txBody>
          <a:bodyPr wrap="square" lIns="0" tIns="0" rIns="0" bIns="0" rtlCol="0" anchor="t"/>
          <a:lstStyle/>
          <a:p>
            <a:pPr indent="0" marL="0">
              <a:buNone/>
            </a:pPr>
            <a:r>
              <a:rPr lang="en-US" sz="1700" dirty="0">
                <a:solidFill>
                  <a:srgbClr val="C9D3E6"/>
                </a:solidFill>
                <a:latin typeface="Calibri" pitchFamily="34" charset="0"/>
                <a:ea typeface="Calibri" pitchFamily="34" charset="-122"/>
                <a:cs typeface="Calibri" pitchFamily="34" charset="-120"/>
              </a:rPr>
              <a:t>Ciri-ciri mereka yang hidup dengan al-Quran</a:t>
            </a:r>
            <a:endParaRPr lang="en-US" sz="1700" dirty="0"/>
          </a:p>
        </p:txBody>
      </p:sp>
      <p:sp>
        <p:nvSpPr>
          <p:cNvPr id="7" name="Shape 4"/>
          <p:cNvSpPr/>
          <p:nvPr/>
        </p:nvSpPr>
        <p:spPr>
          <a:xfrm>
            <a:off x="7818120" y="3977640"/>
            <a:ext cx="731520" cy="731520"/>
          </a:xfrm>
          <a:prstGeom prst="ellipse">
            <a:avLst/>
          </a:prstGeom>
          <a:solidFill>
            <a:srgbClr val="1B2F5A"/>
          </a:solidFill>
          <a:ln w="12700">
            <a:solidFill>
              <a:srgbClr val="1B2F5A"/>
            </a:solidFill>
            <a:prstDash val="solid"/>
          </a:ln>
        </p:spPr>
      </p:sp>
      <p:pic>
        <p:nvPicPr>
          <p:cNvPr id="8" name="Image 1" descr="preencoded.png">    </p:cNvPr>
          <p:cNvPicPr>
            <a:picLocks noChangeAspect="1"/>
          </p:cNvPicPr>
          <p:nvPr/>
        </p:nvPicPr>
        <p:blipFill>
          <a:blip r:embed="rId2"/>
          <a:stretch>
            <a:fillRect/>
          </a:stretch>
        </p:blipFill>
        <p:spPr>
          <a:xfrm>
            <a:off x="8008315" y="4167835"/>
            <a:ext cx="351130" cy="35113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11480"/>
            <a:ext cx="4572000" cy="256032"/>
          </a:xfrm>
          <a:prstGeom prst="rect">
            <a:avLst/>
          </a:prstGeom>
          <a:noFill/>
          <a:ln/>
        </p:spPr>
        <p:txBody>
          <a:bodyPr wrap="square" lIns="0" tIns="0" rIns="0" bIns="0" rtlCol="0" anchor="t"/>
          <a:lstStyle/>
          <a:p>
            <a:pPr indent="0" marL="0">
              <a:buNone/>
            </a:pPr>
            <a:r>
              <a:rPr lang="en-US" sz="1100" b="1" spc="200" kern="0" dirty="0">
                <a:solidFill>
                  <a:srgbClr val="9A6B0F"/>
                </a:solidFill>
                <a:latin typeface="Calibri" pitchFamily="34" charset="0"/>
                <a:ea typeface="Calibri" pitchFamily="34" charset="-122"/>
                <a:cs typeface="Calibri" pitchFamily="34" charset="-120"/>
              </a:rPr>
              <a:t>GENERASI AL-QURAN</a:t>
            </a:r>
            <a:endParaRPr lang="en-US" sz="1100" dirty="0"/>
          </a:p>
        </p:txBody>
      </p:sp>
      <p:sp>
        <p:nvSpPr>
          <p:cNvPr id="3" name="Text 1"/>
          <p:cNvSpPr txBox="1"/>
          <p:nvPr/>
        </p:nvSpPr>
        <p:spPr>
          <a:xfrm>
            <a:off x="457200" y="658368"/>
            <a:ext cx="8229600" cy="566928"/>
          </a:xfrm>
          <a:prstGeom prst="rect">
            <a:avLst/>
          </a:prstGeom>
          <a:noFill/>
          <a:ln/>
        </p:spPr>
        <p:txBody>
          <a:bodyPr wrap="square" lIns="0" tIns="0" rIns="0" bIns="0" rtlCol="0" anchor="ctr"/>
          <a:lstStyle/>
          <a:p>
            <a:pPr indent="0" marL="0">
              <a:buNone/>
            </a:pPr>
            <a:r>
              <a:rPr lang="en-US" sz="3000" b="1" dirty="0">
                <a:solidFill>
                  <a:srgbClr val="0F1E3D"/>
                </a:solidFill>
                <a:latin typeface="Calibri" pitchFamily="34" charset="0"/>
                <a:ea typeface="Calibri" pitchFamily="34" charset="-122"/>
                <a:cs typeface="Calibri" pitchFamily="34" charset="-120"/>
              </a:rPr>
              <a:t>Tiga Ciri Generasi Al-Quran</a:t>
            </a:r>
            <a:endParaRPr lang="en-US" sz="3000" dirty="0"/>
          </a:p>
        </p:txBody>
      </p:sp>
      <p:sp>
        <p:nvSpPr>
          <p:cNvPr id="4" name="Shape 2"/>
          <p:cNvSpPr/>
          <p:nvPr/>
        </p:nvSpPr>
        <p:spPr>
          <a:xfrm>
            <a:off x="457200" y="1508760"/>
            <a:ext cx="2606040" cy="2514600"/>
          </a:xfrm>
          <a:prstGeom prst="roundRect">
            <a:avLst>
              <a:gd name="adj" fmla="val 4364"/>
            </a:avLst>
          </a:prstGeom>
          <a:solidFill>
            <a:srgbClr val="FFFFFF"/>
          </a:solidFill>
          <a:ln w="9525">
            <a:solidFill>
              <a:srgbClr val="DCE3EC"/>
            </a:solidFill>
            <a:prstDash val="solid"/>
          </a:ln>
          <a:effectLst>
            <a:outerShdw sx="100000" sy="100000" kx="0" ky="0" algn="bl" rotWithShape="0" blurRad="101600" dist="25400" dir="5400000">
              <a:srgbClr val="0F1E3D">
                <a:alpha val="12000"/>
              </a:srgbClr>
            </a:outerShdw>
          </a:effectLst>
        </p:spPr>
      </p:sp>
      <p:sp>
        <p:nvSpPr>
          <p:cNvPr id="5" name="Shape 3"/>
          <p:cNvSpPr/>
          <p:nvPr/>
        </p:nvSpPr>
        <p:spPr>
          <a:xfrm>
            <a:off x="731520" y="1783080"/>
            <a:ext cx="731520" cy="731520"/>
          </a:xfrm>
          <a:prstGeom prst="ellipse">
            <a:avLst/>
          </a:prstGeom>
          <a:solidFill>
            <a:srgbClr val="0F1E3D"/>
          </a:solidFill>
          <a:ln w="12700">
            <a:solidFill>
              <a:srgbClr val="0F1E3D"/>
            </a:solidFill>
            <a:prstDash val="solid"/>
          </a:ln>
        </p:spPr>
      </p:sp>
      <p:pic>
        <p:nvPicPr>
          <p:cNvPr id="6" name="Image 0" descr="preencoded.png">    </p:cNvPr>
          <p:cNvPicPr>
            <a:picLocks noChangeAspect="1"/>
          </p:cNvPicPr>
          <p:nvPr/>
        </p:nvPicPr>
        <p:blipFill>
          <a:blip r:embed="rId1"/>
          <a:stretch>
            <a:fillRect/>
          </a:stretch>
        </p:blipFill>
        <p:spPr>
          <a:xfrm>
            <a:off x="921715" y="1973275"/>
            <a:ext cx="351130" cy="351130"/>
          </a:xfrm>
          <a:prstGeom prst="rect">
            <a:avLst/>
          </a:prstGeom>
        </p:spPr>
      </p:pic>
      <p:sp>
        <p:nvSpPr>
          <p:cNvPr id="7" name="Text 4"/>
          <p:cNvSpPr txBox="1"/>
          <p:nvPr/>
        </p:nvSpPr>
        <p:spPr>
          <a:xfrm>
            <a:off x="2377440" y="1783080"/>
            <a:ext cx="411480" cy="457200"/>
          </a:xfrm>
          <a:prstGeom prst="rect">
            <a:avLst/>
          </a:prstGeom>
          <a:noFill/>
          <a:ln/>
        </p:spPr>
        <p:txBody>
          <a:bodyPr wrap="square" lIns="0" tIns="0" rIns="0" bIns="0" rtlCol="0" anchor="t"/>
          <a:lstStyle/>
          <a:p>
            <a:pPr algn="r" indent="0" marL="0">
              <a:buNone/>
            </a:pPr>
            <a:r>
              <a:rPr lang="en-US" sz="2400" b="1" dirty="0">
                <a:solidFill>
                  <a:srgbClr val="C3CCDA"/>
                </a:solidFill>
                <a:latin typeface="Calibri" pitchFamily="34" charset="0"/>
                <a:ea typeface="Calibri" pitchFamily="34" charset="-122"/>
                <a:cs typeface="Calibri" pitchFamily="34" charset="-120"/>
              </a:rPr>
              <a:t>1</a:t>
            </a:r>
            <a:endParaRPr lang="en-US" sz="2400" dirty="0"/>
          </a:p>
        </p:txBody>
      </p:sp>
      <p:sp>
        <p:nvSpPr>
          <p:cNvPr id="8" name="Text 5"/>
          <p:cNvSpPr txBox="1"/>
          <p:nvPr/>
        </p:nvSpPr>
        <p:spPr>
          <a:xfrm>
            <a:off x="731520" y="2651760"/>
            <a:ext cx="2148840" cy="640080"/>
          </a:xfrm>
          <a:prstGeom prst="rect">
            <a:avLst/>
          </a:prstGeom>
          <a:noFill/>
          <a:ln/>
        </p:spPr>
        <p:txBody>
          <a:bodyPr wrap="square" lIns="0" tIns="0" rIns="0" bIns="0" rtlCol="0" anchor="t"/>
          <a:lstStyle/>
          <a:p>
            <a:pPr indent="0" marL="0">
              <a:buNone/>
            </a:pPr>
            <a:r>
              <a:rPr lang="en-US" sz="1800" b="1" dirty="0">
                <a:solidFill>
                  <a:srgbClr val="0F1E3D"/>
                </a:solidFill>
                <a:latin typeface="Calibri" pitchFamily="34" charset="0"/>
                <a:ea typeface="Calibri" pitchFamily="34" charset="-122"/>
                <a:cs typeface="Calibri" pitchFamily="34" charset="-120"/>
              </a:rPr>
              <a:t>Beriman</a:t>
            </a:r>
            <a:endParaRPr lang="en-US" sz="1800" dirty="0"/>
          </a:p>
          <a:p>
            <a:pPr indent="0" marL="0">
              <a:buNone/>
            </a:pPr>
            <a:r>
              <a:rPr lang="en-US" sz="1800" b="1" dirty="0">
                <a:solidFill>
                  <a:srgbClr val="9A6B0F"/>
                </a:solidFill>
                <a:latin typeface="Calibri" pitchFamily="34" charset="0"/>
                <a:ea typeface="Calibri" pitchFamily="34" charset="-122"/>
                <a:cs typeface="Calibri" pitchFamily="34" charset="-120"/>
              </a:rPr>
              <a:t>sungguh-sungguh</a:t>
            </a:r>
            <a:endParaRPr lang="en-US" sz="1800" dirty="0"/>
          </a:p>
        </p:txBody>
      </p:sp>
      <p:sp>
        <p:nvSpPr>
          <p:cNvPr id="9" name="Text 6"/>
          <p:cNvSpPr txBox="1"/>
          <p:nvPr/>
        </p:nvSpPr>
        <p:spPr>
          <a:xfrm>
            <a:off x="731520" y="3291840"/>
            <a:ext cx="2148840" cy="685800"/>
          </a:xfrm>
          <a:prstGeom prst="rect">
            <a:avLst/>
          </a:prstGeom>
          <a:noFill/>
          <a:ln/>
        </p:spPr>
        <p:txBody>
          <a:bodyPr wrap="square" lIns="0" tIns="0" rIns="0" bIns="0" rtlCol="0" anchor="t"/>
          <a:lstStyle/>
          <a:p>
            <a:pPr indent="0" marL="0">
              <a:buNone/>
            </a:pPr>
            <a:r>
              <a:rPr lang="en-US" sz="1300" dirty="0">
                <a:solidFill>
                  <a:srgbClr val="16213A"/>
                </a:solidFill>
                <a:latin typeface="Calibri" pitchFamily="34" charset="0"/>
                <a:ea typeface="Calibri" pitchFamily="34" charset="-122"/>
                <a:cs typeface="Calibri" pitchFamily="34" charset="-120"/>
              </a:rPr>
              <a:t>dengan apa yang terkandung di dalam al-Quran dan as-Sunnah.</a:t>
            </a:r>
            <a:endParaRPr lang="en-US" sz="1300" dirty="0"/>
          </a:p>
        </p:txBody>
      </p:sp>
      <p:sp>
        <p:nvSpPr>
          <p:cNvPr id="10" name="Shape 7"/>
          <p:cNvSpPr/>
          <p:nvPr/>
        </p:nvSpPr>
        <p:spPr>
          <a:xfrm>
            <a:off x="3291840" y="1508760"/>
            <a:ext cx="2606040" cy="2514600"/>
          </a:xfrm>
          <a:prstGeom prst="roundRect">
            <a:avLst>
              <a:gd name="adj" fmla="val 4364"/>
            </a:avLst>
          </a:prstGeom>
          <a:solidFill>
            <a:srgbClr val="FFFFFF"/>
          </a:solidFill>
          <a:ln w="9525">
            <a:solidFill>
              <a:srgbClr val="DCE3EC"/>
            </a:solidFill>
            <a:prstDash val="solid"/>
          </a:ln>
          <a:effectLst>
            <a:outerShdw sx="100000" sy="100000" kx="0" ky="0" algn="bl" rotWithShape="0" blurRad="101600" dist="25400" dir="5400000">
              <a:srgbClr val="0F1E3D">
                <a:alpha val="12000"/>
              </a:srgbClr>
            </a:outerShdw>
          </a:effectLst>
        </p:spPr>
      </p:sp>
      <p:sp>
        <p:nvSpPr>
          <p:cNvPr id="11" name="Shape 8"/>
          <p:cNvSpPr/>
          <p:nvPr/>
        </p:nvSpPr>
        <p:spPr>
          <a:xfrm>
            <a:off x="3566160" y="1783080"/>
            <a:ext cx="731520" cy="731520"/>
          </a:xfrm>
          <a:prstGeom prst="ellipse">
            <a:avLst/>
          </a:prstGeom>
          <a:solidFill>
            <a:srgbClr val="0F1E3D"/>
          </a:solidFill>
          <a:ln w="12700">
            <a:solidFill>
              <a:srgbClr val="0F1E3D"/>
            </a:solidFill>
            <a:prstDash val="solid"/>
          </a:ln>
        </p:spPr>
      </p:sp>
      <p:pic>
        <p:nvPicPr>
          <p:cNvPr id="12" name="Image 1" descr="preencoded.png">    </p:cNvPr>
          <p:cNvPicPr>
            <a:picLocks noChangeAspect="1"/>
          </p:cNvPicPr>
          <p:nvPr/>
        </p:nvPicPr>
        <p:blipFill>
          <a:blip r:embed="rId2"/>
          <a:stretch>
            <a:fillRect/>
          </a:stretch>
        </p:blipFill>
        <p:spPr>
          <a:xfrm>
            <a:off x="3756355" y="1973275"/>
            <a:ext cx="351130" cy="351130"/>
          </a:xfrm>
          <a:prstGeom prst="rect">
            <a:avLst/>
          </a:prstGeom>
        </p:spPr>
      </p:pic>
      <p:sp>
        <p:nvSpPr>
          <p:cNvPr id="13" name="Text 9"/>
          <p:cNvSpPr txBox="1"/>
          <p:nvPr/>
        </p:nvSpPr>
        <p:spPr>
          <a:xfrm>
            <a:off x="5212080" y="1783080"/>
            <a:ext cx="411480" cy="457200"/>
          </a:xfrm>
          <a:prstGeom prst="rect">
            <a:avLst/>
          </a:prstGeom>
          <a:noFill/>
          <a:ln/>
        </p:spPr>
        <p:txBody>
          <a:bodyPr wrap="square" lIns="0" tIns="0" rIns="0" bIns="0" rtlCol="0" anchor="t"/>
          <a:lstStyle/>
          <a:p>
            <a:pPr algn="r" indent="0" marL="0">
              <a:buNone/>
            </a:pPr>
            <a:r>
              <a:rPr lang="en-US" sz="2400" b="1" dirty="0">
                <a:solidFill>
                  <a:srgbClr val="C3CCDA"/>
                </a:solidFill>
                <a:latin typeface="Calibri" pitchFamily="34" charset="0"/>
                <a:ea typeface="Calibri" pitchFamily="34" charset="-122"/>
                <a:cs typeface="Calibri" pitchFamily="34" charset="-120"/>
              </a:rPr>
              <a:t>2</a:t>
            </a:r>
            <a:endParaRPr lang="en-US" sz="2400" dirty="0"/>
          </a:p>
        </p:txBody>
      </p:sp>
      <p:sp>
        <p:nvSpPr>
          <p:cNvPr id="14" name="Text 10"/>
          <p:cNvSpPr txBox="1"/>
          <p:nvPr/>
        </p:nvSpPr>
        <p:spPr>
          <a:xfrm>
            <a:off x="3566160" y="2651760"/>
            <a:ext cx="2148840" cy="640080"/>
          </a:xfrm>
          <a:prstGeom prst="rect">
            <a:avLst/>
          </a:prstGeom>
          <a:noFill/>
          <a:ln/>
        </p:spPr>
        <p:txBody>
          <a:bodyPr wrap="square" lIns="0" tIns="0" rIns="0" bIns="0" rtlCol="0" anchor="t"/>
          <a:lstStyle/>
          <a:p>
            <a:pPr indent="0" marL="0">
              <a:buNone/>
            </a:pPr>
            <a:r>
              <a:rPr lang="en-US" sz="1800" b="1" dirty="0">
                <a:solidFill>
                  <a:srgbClr val="0F1E3D"/>
                </a:solidFill>
                <a:latin typeface="Calibri" pitchFamily="34" charset="0"/>
                <a:ea typeface="Calibri" pitchFamily="34" charset="-122"/>
                <a:cs typeface="Calibri" pitchFamily="34" charset="-120"/>
              </a:rPr>
              <a:t>Mengamalkan</a:t>
            </a:r>
            <a:endParaRPr lang="en-US" sz="1800" dirty="0"/>
          </a:p>
          <a:p>
            <a:pPr indent="0" marL="0">
              <a:buNone/>
            </a:pPr>
            <a:r>
              <a:rPr lang="en-US" sz="1800" b="1" dirty="0">
                <a:solidFill>
                  <a:srgbClr val="9A6B0F"/>
                </a:solidFill>
                <a:latin typeface="Calibri" pitchFamily="34" charset="0"/>
                <a:ea typeface="Calibri" pitchFamily="34" charset="-122"/>
                <a:cs typeface="Calibri" pitchFamily="34" charset="-120"/>
              </a:rPr>
              <a:t>sungguh-sungguh</a:t>
            </a:r>
            <a:endParaRPr lang="en-US" sz="1800" dirty="0"/>
          </a:p>
        </p:txBody>
      </p:sp>
      <p:sp>
        <p:nvSpPr>
          <p:cNvPr id="15" name="Text 11"/>
          <p:cNvSpPr txBox="1"/>
          <p:nvPr/>
        </p:nvSpPr>
        <p:spPr>
          <a:xfrm>
            <a:off x="3566160" y="3291840"/>
            <a:ext cx="2148840" cy="685800"/>
          </a:xfrm>
          <a:prstGeom prst="rect">
            <a:avLst/>
          </a:prstGeom>
          <a:noFill/>
          <a:ln/>
        </p:spPr>
        <p:txBody>
          <a:bodyPr wrap="square" lIns="0" tIns="0" rIns="0" bIns="0" rtlCol="0" anchor="t"/>
          <a:lstStyle/>
          <a:p>
            <a:pPr indent="0" marL="0">
              <a:buNone/>
            </a:pPr>
            <a:r>
              <a:rPr lang="en-US" sz="1300" dirty="0">
                <a:solidFill>
                  <a:srgbClr val="16213A"/>
                </a:solidFill>
                <a:latin typeface="Calibri" pitchFamily="34" charset="0"/>
                <a:ea typeface="Calibri" pitchFamily="34" charset="-122"/>
                <a:cs typeface="Calibri" pitchFamily="34" charset="-120"/>
              </a:rPr>
              <a:t>apa yang diberitahu di dalam al-Quran dan as-Sunnah.</a:t>
            </a:r>
            <a:endParaRPr lang="en-US" sz="1300" dirty="0"/>
          </a:p>
        </p:txBody>
      </p:sp>
      <p:sp>
        <p:nvSpPr>
          <p:cNvPr id="16" name="Shape 12"/>
          <p:cNvSpPr/>
          <p:nvPr/>
        </p:nvSpPr>
        <p:spPr>
          <a:xfrm>
            <a:off x="6126480" y="1508760"/>
            <a:ext cx="2606040" cy="2514600"/>
          </a:xfrm>
          <a:prstGeom prst="roundRect">
            <a:avLst>
              <a:gd name="adj" fmla="val 4364"/>
            </a:avLst>
          </a:prstGeom>
          <a:solidFill>
            <a:srgbClr val="FFFFFF"/>
          </a:solidFill>
          <a:ln w="9525">
            <a:solidFill>
              <a:srgbClr val="DCE3EC"/>
            </a:solidFill>
            <a:prstDash val="solid"/>
          </a:ln>
          <a:effectLst>
            <a:outerShdw sx="100000" sy="100000" kx="0" ky="0" algn="bl" rotWithShape="0" blurRad="101600" dist="25400" dir="5400000">
              <a:srgbClr val="0F1E3D">
                <a:alpha val="12000"/>
              </a:srgbClr>
            </a:outerShdw>
          </a:effectLst>
        </p:spPr>
      </p:sp>
      <p:sp>
        <p:nvSpPr>
          <p:cNvPr id="17" name="Shape 13"/>
          <p:cNvSpPr/>
          <p:nvPr/>
        </p:nvSpPr>
        <p:spPr>
          <a:xfrm>
            <a:off x="6400800" y="1783080"/>
            <a:ext cx="731520" cy="731520"/>
          </a:xfrm>
          <a:prstGeom prst="ellipse">
            <a:avLst/>
          </a:prstGeom>
          <a:solidFill>
            <a:srgbClr val="0F1E3D"/>
          </a:solidFill>
          <a:ln w="12700">
            <a:solidFill>
              <a:srgbClr val="0F1E3D"/>
            </a:solidFill>
            <a:prstDash val="solid"/>
          </a:ln>
        </p:spPr>
      </p:sp>
      <p:pic>
        <p:nvPicPr>
          <p:cNvPr id="18" name="Image 2" descr="preencoded.png">    </p:cNvPr>
          <p:cNvPicPr>
            <a:picLocks noChangeAspect="1"/>
          </p:cNvPicPr>
          <p:nvPr/>
        </p:nvPicPr>
        <p:blipFill>
          <a:blip r:embed="rId3"/>
          <a:stretch>
            <a:fillRect/>
          </a:stretch>
        </p:blipFill>
        <p:spPr>
          <a:xfrm>
            <a:off x="6590995" y="1973275"/>
            <a:ext cx="351130" cy="351130"/>
          </a:xfrm>
          <a:prstGeom prst="rect">
            <a:avLst/>
          </a:prstGeom>
        </p:spPr>
      </p:pic>
      <p:sp>
        <p:nvSpPr>
          <p:cNvPr id="19" name="Text 14"/>
          <p:cNvSpPr txBox="1"/>
          <p:nvPr/>
        </p:nvSpPr>
        <p:spPr>
          <a:xfrm>
            <a:off x="8046720" y="1783080"/>
            <a:ext cx="411480" cy="457200"/>
          </a:xfrm>
          <a:prstGeom prst="rect">
            <a:avLst/>
          </a:prstGeom>
          <a:noFill/>
          <a:ln/>
        </p:spPr>
        <p:txBody>
          <a:bodyPr wrap="square" lIns="0" tIns="0" rIns="0" bIns="0" rtlCol="0" anchor="t"/>
          <a:lstStyle/>
          <a:p>
            <a:pPr algn="r" indent="0" marL="0">
              <a:buNone/>
            </a:pPr>
            <a:r>
              <a:rPr lang="en-US" sz="2400" b="1" dirty="0">
                <a:solidFill>
                  <a:srgbClr val="C3CCDA"/>
                </a:solidFill>
                <a:latin typeface="Calibri" pitchFamily="34" charset="0"/>
                <a:ea typeface="Calibri" pitchFamily="34" charset="-122"/>
                <a:cs typeface="Calibri" pitchFamily="34" charset="-120"/>
              </a:rPr>
              <a:t>3</a:t>
            </a:r>
            <a:endParaRPr lang="en-US" sz="2400" dirty="0"/>
          </a:p>
        </p:txBody>
      </p:sp>
      <p:sp>
        <p:nvSpPr>
          <p:cNvPr id="20" name="Text 15"/>
          <p:cNvSpPr txBox="1"/>
          <p:nvPr/>
        </p:nvSpPr>
        <p:spPr>
          <a:xfrm>
            <a:off x="6400800" y="2651760"/>
            <a:ext cx="2148840" cy="640080"/>
          </a:xfrm>
          <a:prstGeom prst="rect">
            <a:avLst/>
          </a:prstGeom>
          <a:noFill/>
          <a:ln/>
        </p:spPr>
        <p:txBody>
          <a:bodyPr wrap="square" lIns="0" tIns="0" rIns="0" bIns="0" rtlCol="0" anchor="t"/>
          <a:lstStyle/>
          <a:p>
            <a:pPr indent="0" marL="0">
              <a:buNone/>
            </a:pPr>
            <a:r>
              <a:rPr lang="en-US" sz="1800" b="1" dirty="0">
                <a:solidFill>
                  <a:srgbClr val="0F1E3D"/>
                </a:solidFill>
                <a:latin typeface="Calibri" pitchFamily="34" charset="0"/>
                <a:ea typeface="Calibri" pitchFamily="34" charset="-122"/>
                <a:cs typeface="Calibri" pitchFamily="34" charset="-120"/>
              </a:rPr>
              <a:t>Meninggalkan</a:t>
            </a:r>
            <a:endParaRPr lang="en-US" sz="1800" dirty="0"/>
          </a:p>
          <a:p>
            <a:pPr indent="0" marL="0">
              <a:buNone/>
            </a:pPr>
            <a:r>
              <a:rPr lang="en-US" sz="1800" b="1" dirty="0">
                <a:solidFill>
                  <a:srgbClr val="9A6B0F"/>
                </a:solidFill>
                <a:latin typeface="Calibri" pitchFamily="34" charset="0"/>
                <a:ea typeface="Calibri" pitchFamily="34" charset="-122"/>
                <a:cs typeface="Calibri" pitchFamily="34" charset="-120"/>
              </a:rPr>
              <a:t>sungguh-sungguh</a:t>
            </a:r>
            <a:endParaRPr lang="en-US" sz="1800" dirty="0"/>
          </a:p>
        </p:txBody>
      </p:sp>
      <p:sp>
        <p:nvSpPr>
          <p:cNvPr id="21" name="Text 16"/>
          <p:cNvSpPr txBox="1"/>
          <p:nvPr/>
        </p:nvSpPr>
        <p:spPr>
          <a:xfrm>
            <a:off x="6400800" y="3291840"/>
            <a:ext cx="2148840" cy="685800"/>
          </a:xfrm>
          <a:prstGeom prst="rect">
            <a:avLst/>
          </a:prstGeom>
          <a:noFill/>
          <a:ln/>
        </p:spPr>
        <p:txBody>
          <a:bodyPr wrap="square" lIns="0" tIns="0" rIns="0" bIns="0" rtlCol="0" anchor="t"/>
          <a:lstStyle/>
          <a:p>
            <a:pPr indent="0" marL="0">
              <a:buNone/>
            </a:pPr>
            <a:r>
              <a:rPr lang="en-US" sz="1300" dirty="0">
                <a:solidFill>
                  <a:srgbClr val="16213A"/>
                </a:solidFill>
                <a:latin typeface="Calibri" pitchFamily="34" charset="0"/>
                <a:ea typeface="Calibri" pitchFamily="34" charset="-122"/>
                <a:cs typeface="Calibri" pitchFamily="34" charset="-120"/>
              </a:rPr>
              <a:t>maksiat dan kesan maksiat — tanpa kompromi.</a:t>
            </a:r>
            <a:endParaRPr lang="en-US" sz="1300" dirty="0"/>
          </a:p>
        </p:txBody>
      </p:sp>
      <p:sp>
        <p:nvSpPr>
          <p:cNvPr id="22" name="Shape 17"/>
          <p:cNvSpPr/>
          <p:nvPr/>
        </p:nvSpPr>
        <p:spPr>
          <a:xfrm>
            <a:off x="2514600" y="4297680"/>
            <a:ext cx="4114800" cy="438912"/>
          </a:xfrm>
          <a:prstGeom prst="roundRect">
            <a:avLst>
              <a:gd name="adj" fmla="val 25000"/>
            </a:avLst>
          </a:prstGeom>
          <a:solidFill>
            <a:srgbClr val="FBF3DF"/>
          </a:solidFill>
          <a:ln w="9525">
            <a:solidFill>
              <a:srgbClr val="FBF3DF"/>
            </a:solidFill>
            <a:prstDash val="solid"/>
          </a:ln>
        </p:spPr>
      </p:sp>
      <p:sp>
        <p:nvSpPr>
          <p:cNvPr id="23" name="Text 18"/>
          <p:cNvSpPr txBox="1"/>
          <p:nvPr/>
        </p:nvSpPr>
        <p:spPr>
          <a:xfrm>
            <a:off x="2624328" y="4297680"/>
            <a:ext cx="3895344" cy="438912"/>
          </a:xfrm>
          <a:prstGeom prst="rect">
            <a:avLst/>
          </a:prstGeom>
          <a:noFill/>
          <a:ln/>
        </p:spPr>
        <p:txBody>
          <a:bodyPr wrap="square" lIns="0" tIns="0" rIns="0" bIns="0" rtlCol="0" anchor="ctr"/>
          <a:lstStyle/>
          <a:p>
            <a:pPr algn="ctr" indent="0" marL="0">
              <a:buNone/>
            </a:pPr>
            <a:r>
              <a:rPr lang="en-US" sz="1400" b="1" dirty="0">
                <a:solidFill>
                  <a:srgbClr val="9A6B0F"/>
                </a:solidFill>
                <a:latin typeface="Calibri" pitchFamily="34" charset="0"/>
                <a:ea typeface="Calibri" pitchFamily="34" charset="-122"/>
                <a:cs typeface="Calibri" pitchFamily="34" charset="-120"/>
              </a:rPr>
              <a:t>Kata kuncinya:  SUNGGUH-SUNGGUH</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E3D"/>
        </a:solidFill>
      </p:bgPr>
    </p:bg>
    <p:spTree>
      <p:nvGrpSpPr>
        <p:cNvPr id="1" name=""/>
        <p:cNvGrpSpPr/>
        <p:nvPr/>
      </p:nvGrpSpPr>
      <p:grpSpPr>
        <a:xfrm>
          <a:off x="0" y="0"/>
          <a:ext cx="0" cy="0"/>
          <a:chOff x="0" y="0"/>
          <a:chExt cx="0" cy="0"/>
        </a:xfrm>
      </p:grpSpPr>
      <p:pic>
        <p:nvPicPr>
          <p:cNvPr id="2" name="Image 0" descr="/tmp/claude-0/-home-user-Shukery-Azizan/b66663cb-20be-5bd3-935d-65edbae5e3fd/scratchpad/build/assets/pattern.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txBox="1"/>
          <p:nvPr/>
        </p:nvSpPr>
        <p:spPr>
          <a:xfrm>
            <a:off x="640080" y="1097280"/>
            <a:ext cx="2926080" cy="2011680"/>
          </a:xfrm>
          <a:prstGeom prst="rect">
            <a:avLst/>
          </a:prstGeom>
          <a:noFill/>
          <a:ln/>
        </p:spPr>
        <p:txBody>
          <a:bodyPr wrap="square" lIns="0" tIns="0" rIns="0" bIns="0" rtlCol="0" anchor="ctr"/>
          <a:lstStyle/>
          <a:p>
            <a:pPr indent="0" marL="0">
              <a:buNone/>
            </a:pPr>
            <a:r>
              <a:rPr lang="en-US" sz="15000" b="1" dirty="0">
                <a:solidFill>
                  <a:srgbClr val="D9A93A"/>
                </a:solidFill>
                <a:latin typeface="Calibri" pitchFamily="34" charset="0"/>
                <a:ea typeface="Calibri" pitchFamily="34" charset="-122"/>
                <a:cs typeface="Calibri" pitchFamily="34" charset="-120"/>
              </a:rPr>
              <a:t>02</a:t>
            </a:r>
            <a:endParaRPr lang="en-US" sz="15000" dirty="0"/>
          </a:p>
        </p:txBody>
      </p:sp>
      <p:sp>
        <p:nvSpPr>
          <p:cNvPr id="4" name="Text 1"/>
          <p:cNvSpPr txBox="1"/>
          <p:nvPr/>
        </p:nvSpPr>
        <p:spPr>
          <a:xfrm>
            <a:off x="3611880" y="1600200"/>
            <a:ext cx="4572000" cy="256032"/>
          </a:xfrm>
          <a:prstGeom prst="rect">
            <a:avLst/>
          </a:prstGeom>
          <a:noFill/>
          <a:ln/>
        </p:spPr>
        <p:txBody>
          <a:bodyPr wrap="square" lIns="0" tIns="0" rIns="0" bIns="0" rtlCol="0" anchor="t"/>
          <a:lstStyle/>
          <a:p>
            <a:pPr indent="0" marL="0">
              <a:buNone/>
            </a:pPr>
            <a:r>
              <a:rPr lang="en-US" sz="1100" b="1" spc="200" kern="0" dirty="0">
                <a:solidFill>
                  <a:srgbClr val="D9A93A"/>
                </a:solidFill>
                <a:latin typeface="Calibri" pitchFamily="34" charset="0"/>
                <a:ea typeface="Calibri" pitchFamily="34" charset="-122"/>
                <a:cs typeface="Calibri" pitchFamily="34" charset="-120"/>
              </a:rPr>
              <a:t>BAHAGIAN 2</a:t>
            </a:r>
            <a:endParaRPr lang="en-US" sz="1100" dirty="0"/>
          </a:p>
        </p:txBody>
      </p:sp>
      <p:sp>
        <p:nvSpPr>
          <p:cNvPr id="5" name="Text 2"/>
          <p:cNvSpPr txBox="1"/>
          <p:nvPr/>
        </p:nvSpPr>
        <p:spPr>
          <a:xfrm>
            <a:off x="3611880" y="1874520"/>
            <a:ext cx="4937760" cy="685800"/>
          </a:xfrm>
          <a:prstGeom prst="rect">
            <a:avLst/>
          </a:prstGeom>
          <a:noFill/>
          <a:ln/>
        </p:spPr>
        <p:txBody>
          <a:bodyPr wrap="square" lIns="0" tIns="0" rIns="0" bIns="0" rtlCol="0" anchor="t"/>
          <a:lstStyle/>
          <a:p>
            <a:pPr indent="0" marL="0">
              <a:lnSpc>
                <a:spcPct val="95000"/>
              </a:lnSpc>
              <a:buNone/>
            </a:pPr>
            <a:r>
              <a:rPr lang="en-US" sz="3800" b="1" dirty="0">
                <a:solidFill>
                  <a:srgbClr val="FFFFFF"/>
                </a:solidFill>
                <a:latin typeface="Calibri" pitchFamily="34" charset="0"/>
                <a:ea typeface="Calibri" pitchFamily="34" charset="-122"/>
                <a:cs typeface="Calibri" pitchFamily="34" charset="-120"/>
              </a:rPr>
              <a:t>Musuh Sejak Azali</a:t>
            </a:r>
            <a:endParaRPr lang="en-US" sz="3800" dirty="0"/>
          </a:p>
        </p:txBody>
      </p:sp>
      <p:sp>
        <p:nvSpPr>
          <p:cNvPr id="6" name="Text 3"/>
          <p:cNvSpPr txBox="1"/>
          <p:nvPr/>
        </p:nvSpPr>
        <p:spPr>
          <a:xfrm>
            <a:off x="3611880" y="2697480"/>
            <a:ext cx="4937760" cy="457200"/>
          </a:xfrm>
          <a:prstGeom prst="rect">
            <a:avLst/>
          </a:prstGeom>
          <a:noFill/>
          <a:ln/>
        </p:spPr>
        <p:txBody>
          <a:bodyPr wrap="square" lIns="0" tIns="0" rIns="0" bIns="0" rtlCol="0" anchor="t"/>
          <a:lstStyle/>
          <a:p>
            <a:pPr indent="0" marL="0">
              <a:buNone/>
            </a:pPr>
            <a:r>
              <a:rPr lang="en-US" sz="1700" dirty="0">
                <a:solidFill>
                  <a:srgbClr val="C9D3E6"/>
                </a:solidFill>
                <a:latin typeface="Calibri" pitchFamily="34" charset="0"/>
                <a:ea typeface="Calibri" pitchFamily="34" charset="-122"/>
                <a:cs typeface="Calibri" pitchFamily="34" charset="-120"/>
              </a:rPr>
              <a:t>Kisah Nabi Adam dan dendam Iblis</a:t>
            </a:r>
            <a:endParaRPr lang="en-US" sz="1700" dirty="0"/>
          </a:p>
        </p:txBody>
      </p:sp>
      <p:sp>
        <p:nvSpPr>
          <p:cNvPr id="7" name="Shape 4"/>
          <p:cNvSpPr/>
          <p:nvPr/>
        </p:nvSpPr>
        <p:spPr>
          <a:xfrm>
            <a:off x="7818120" y="3977640"/>
            <a:ext cx="731520" cy="731520"/>
          </a:xfrm>
          <a:prstGeom prst="ellipse">
            <a:avLst/>
          </a:prstGeom>
          <a:solidFill>
            <a:srgbClr val="1B2F5A"/>
          </a:solidFill>
          <a:ln w="12700">
            <a:solidFill>
              <a:srgbClr val="1B2F5A"/>
            </a:solidFill>
            <a:prstDash val="solid"/>
          </a:ln>
        </p:spPr>
      </p:sp>
      <p:pic>
        <p:nvPicPr>
          <p:cNvPr id="8" name="Image 1" descr="preencoded.png">    </p:cNvPr>
          <p:cNvPicPr>
            <a:picLocks noChangeAspect="1"/>
          </p:cNvPicPr>
          <p:nvPr/>
        </p:nvPicPr>
        <p:blipFill>
          <a:blip r:embed="rId2"/>
          <a:stretch>
            <a:fillRect/>
          </a:stretch>
        </p:blipFill>
        <p:spPr>
          <a:xfrm>
            <a:off x="8008315" y="4167835"/>
            <a:ext cx="351130" cy="3511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E3D"/>
        </a:solidFill>
      </p:bgPr>
    </p:bg>
    <p:spTree>
      <p:nvGrpSpPr>
        <p:cNvPr id="1" name=""/>
        <p:cNvGrpSpPr/>
        <p:nvPr/>
      </p:nvGrpSpPr>
      <p:grpSpPr>
        <a:xfrm>
          <a:off x="0" y="0"/>
          <a:ext cx="0" cy="0"/>
          <a:chOff x="0" y="0"/>
          <a:chExt cx="0" cy="0"/>
        </a:xfrm>
      </p:grpSpPr>
      <p:pic>
        <p:nvPicPr>
          <p:cNvPr id="2" name="Image 0" descr="/tmp/claude-0/-home-user-Shukery-Azizan/b66663cb-20be-5bd3-935d-65edbae5e3fd/scratchpad/build/assets/pattern.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069080" y="777240"/>
            <a:ext cx="1005840" cy="1005840"/>
          </a:xfrm>
          <a:prstGeom prst="ellipse">
            <a:avLst/>
          </a:prstGeom>
          <a:solidFill>
            <a:srgbClr val="1B2F5A"/>
          </a:solidFill>
          <a:ln w="12700">
            <a:solidFill>
              <a:srgbClr val="1B2F5A"/>
            </a:solidFill>
            <a:prstDash val="solid"/>
          </a:ln>
        </p:spPr>
      </p:sp>
      <p:pic>
        <p:nvPicPr>
          <p:cNvPr id="4" name="Image 1" descr="preencoded.png">    </p:cNvPr>
          <p:cNvPicPr>
            <a:picLocks noChangeAspect="1"/>
          </p:cNvPicPr>
          <p:nvPr/>
        </p:nvPicPr>
        <p:blipFill>
          <a:blip r:embed="rId2"/>
          <a:stretch>
            <a:fillRect/>
          </a:stretch>
        </p:blipFill>
        <p:spPr>
          <a:xfrm>
            <a:off x="4330598" y="1038758"/>
            <a:ext cx="482803" cy="482803"/>
          </a:xfrm>
          <a:prstGeom prst="rect">
            <a:avLst/>
          </a:prstGeom>
        </p:spPr>
      </p:pic>
      <p:sp>
        <p:nvSpPr>
          <p:cNvPr id="5" name="Text 1"/>
          <p:cNvSpPr txBox="1"/>
          <p:nvPr/>
        </p:nvSpPr>
        <p:spPr>
          <a:xfrm>
            <a:off x="1097280" y="2011680"/>
            <a:ext cx="6949440" cy="1371600"/>
          </a:xfrm>
          <a:prstGeom prst="rect">
            <a:avLst/>
          </a:prstGeom>
          <a:noFill/>
          <a:ln/>
        </p:spPr>
        <p:txBody>
          <a:bodyPr wrap="square" lIns="0" tIns="0" rIns="0" bIns="0"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Sejak bila berlakunya maksiat kepada Allah?</a:t>
            </a:r>
            <a:endParaRPr lang="en-US" sz="3800" dirty="0"/>
          </a:p>
        </p:txBody>
      </p:sp>
      <p:sp>
        <p:nvSpPr>
          <p:cNvPr id="6" name="Text 2"/>
          <p:cNvSpPr txBox="1"/>
          <p:nvPr/>
        </p:nvSpPr>
        <p:spPr>
          <a:xfrm>
            <a:off x="1097280" y="3520440"/>
            <a:ext cx="6949440" cy="365760"/>
          </a:xfrm>
          <a:prstGeom prst="rect">
            <a:avLst/>
          </a:prstGeom>
          <a:noFill/>
          <a:ln/>
        </p:spPr>
        <p:txBody>
          <a:bodyPr wrap="square" lIns="0" tIns="0" rIns="0" bIns="0" rtlCol="0" anchor="t"/>
          <a:lstStyle/>
          <a:p>
            <a:pPr algn="ctr" indent="0" marL="0">
              <a:buNone/>
            </a:pPr>
            <a:r>
              <a:rPr lang="en-US" sz="1600" i="1" dirty="0">
                <a:solidFill>
                  <a:srgbClr val="D9A93A"/>
                </a:solidFill>
                <a:latin typeface="Calibri" pitchFamily="34" charset="0"/>
                <a:ea typeface="Calibri" pitchFamily="34" charset="-122"/>
                <a:cs typeface="Calibri" pitchFamily="34" charset="-120"/>
              </a:rPr>
              <a:t>Fikir sejenak sebelum kita lihat jawapannya…</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548640"/>
            <a:ext cx="3291840" cy="256032"/>
          </a:xfrm>
          <a:prstGeom prst="rect">
            <a:avLst/>
          </a:prstGeom>
          <a:noFill/>
          <a:ln/>
        </p:spPr>
        <p:txBody>
          <a:bodyPr wrap="square" lIns="0" tIns="0" rIns="0" bIns="0" rtlCol="0" anchor="t"/>
          <a:lstStyle/>
          <a:p>
            <a:pPr indent="0" marL="0">
              <a:buNone/>
            </a:pPr>
            <a:r>
              <a:rPr lang="en-US" sz="1100" b="1" spc="200" kern="0" dirty="0">
                <a:solidFill>
                  <a:srgbClr val="9A6B0F"/>
                </a:solidFill>
                <a:latin typeface="Calibri" pitchFamily="34" charset="0"/>
                <a:ea typeface="Calibri" pitchFamily="34" charset="-122"/>
                <a:cs typeface="Calibri" pitchFamily="34" charset="-120"/>
              </a:rPr>
              <a:t>JAWAPANNYA</a:t>
            </a:r>
            <a:endParaRPr lang="en-US" sz="1100" dirty="0"/>
          </a:p>
        </p:txBody>
      </p:sp>
      <p:sp>
        <p:nvSpPr>
          <p:cNvPr id="3" name="Text 1"/>
          <p:cNvSpPr txBox="1"/>
          <p:nvPr/>
        </p:nvSpPr>
        <p:spPr>
          <a:xfrm>
            <a:off x="457200" y="822960"/>
            <a:ext cx="3291840" cy="1737360"/>
          </a:xfrm>
          <a:prstGeom prst="rect">
            <a:avLst/>
          </a:prstGeom>
          <a:noFill/>
          <a:ln/>
        </p:spPr>
        <p:txBody>
          <a:bodyPr wrap="square" lIns="0" tIns="0" rIns="0" bIns="0" rtlCol="0" anchor="t"/>
          <a:lstStyle/>
          <a:p>
            <a:pPr indent="0" marL="0">
              <a:buNone/>
            </a:pPr>
            <a:r>
              <a:rPr lang="en-US" sz="3600" b="1" dirty="0">
                <a:solidFill>
                  <a:srgbClr val="0F1E3D"/>
                </a:solidFill>
                <a:latin typeface="Calibri" pitchFamily="34" charset="0"/>
                <a:ea typeface="Calibri" pitchFamily="34" charset="-122"/>
                <a:cs typeface="Calibri" pitchFamily="34" charset="-120"/>
              </a:rPr>
              <a:t>Sejak zaman</a:t>
            </a:r>
            <a:endParaRPr lang="en-US" sz="3600" dirty="0"/>
          </a:p>
          <a:p>
            <a:pPr indent="0" marL="0">
              <a:buNone/>
            </a:pPr>
            <a:r>
              <a:rPr lang="en-US" sz="3600" b="1" dirty="0">
                <a:solidFill>
                  <a:srgbClr val="0F1E3D"/>
                </a:solidFill>
                <a:latin typeface="Calibri" pitchFamily="34" charset="0"/>
                <a:ea typeface="Calibri" pitchFamily="34" charset="-122"/>
                <a:cs typeface="Calibri" pitchFamily="34" charset="-120"/>
              </a:rPr>
              <a:t>Nabi Adam</a:t>
            </a:r>
            <a:endParaRPr lang="en-US" sz="3600" dirty="0"/>
          </a:p>
          <a:p>
            <a:pPr indent="0" marL="0">
              <a:buNone/>
            </a:pPr>
            <a:r>
              <a:rPr lang="en-US" sz="3600" b="1" dirty="0">
                <a:solidFill>
                  <a:srgbClr val="9A6B0F"/>
                </a:solidFill>
                <a:latin typeface="Calibri" pitchFamily="34" charset="0"/>
                <a:ea typeface="Calibri" pitchFamily="34" charset="-122"/>
                <a:cs typeface="Calibri" pitchFamily="34" charset="-120"/>
              </a:rPr>
              <a:t>vs Iblis</a:t>
            </a:r>
            <a:endParaRPr lang="en-US" sz="3600" dirty="0"/>
          </a:p>
        </p:txBody>
      </p:sp>
      <p:sp>
        <p:nvSpPr>
          <p:cNvPr id="4" name="Text 2"/>
          <p:cNvSpPr txBox="1"/>
          <p:nvPr/>
        </p:nvSpPr>
        <p:spPr>
          <a:xfrm>
            <a:off x="457200" y="2651760"/>
            <a:ext cx="3108960" cy="685800"/>
          </a:xfrm>
          <a:prstGeom prst="rect">
            <a:avLst/>
          </a:prstGeom>
          <a:noFill/>
          <a:ln/>
        </p:spPr>
        <p:txBody>
          <a:bodyPr wrap="square" lIns="0" tIns="0" rIns="0" bIns="0" rtlCol="0" anchor="t"/>
          <a:lstStyle/>
          <a:p>
            <a:pPr indent="0" marL="0">
              <a:buNone/>
            </a:pPr>
            <a:r>
              <a:rPr lang="en-US" sz="1300" dirty="0">
                <a:solidFill>
                  <a:srgbClr val="5A6880"/>
                </a:solidFill>
                <a:latin typeface="Calibri" pitchFamily="34" charset="0"/>
                <a:ea typeface="Calibri" pitchFamily="34" charset="-122"/>
                <a:cs typeface="Calibri" pitchFamily="34" charset="-120"/>
              </a:rPr>
              <a:t>Kisah ini disebut dalam banyak surah, antaranya Surah al-Baqarah bermula ayat 34.</a:t>
            </a:r>
            <a:endParaRPr lang="en-US" sz="1300" dirty="0"/>
          </a:p>
        </p:txBody>
      </p:sp>
      <p:sp>
        <p:nvSpPr>
          <p:cNvPr id="5" name="Shape 3"/>
          <p:cNvSpPr/>
          <p:nvPr/>
        </p:nvSpPr>
        <p:spPr>
          <a:xfrm>
            <a:off x="457200" y="3520440"/>
            <a:ext cx="1463040" cy="420624"/>
          </a:xfrm>
          <a:prstGeom prst="roundRect">
            <a:avLst>
              <a:gd name="adj" fmla="val 26087"/>
            </a:avLst>
          </a:prstGeom>
          <a:solidFill>
            <a:srgbClr val="FBE9E6"/>
          </a:solidFill>
          <a:ln w="9525">
            <a:solidFill>
              <a:srgbClr val="FBE9E6"/>
            </a:solidFill>
            <a:prstDash val="solid"/>
          </a:ln>
        </p:spPr>
      </p:sp>
      <p:sp>
        <p:nvSpPr>
          <p:cNvPr id="6" name="Text 4"/>
          <p:cNvSpPr txBox="1"/>
          <p:nvPr/>
        </p:nvSpPr>
        <p:spPr>
          <a:xfrm>
            <a:off x="566928" y="3520440"/>
            <a:ext cx="1243584" cy="420624"/>
          </a:xfrm>
          <a:prstGeom prst="rect">
            <a:avLst/>
          </a:prstGeom>
          <a:noFill/>
          <a:ln/>
        </p:spPr>
        <p:txBody>
          <a:bodyPr wrap="square" lIns="0" tIns="0" rIns="0" bIns="0" rtlCol="0" anchor="ctr"/>
          <a:lstStyle/>
          <a:p>
            <a:pPr algn="ctr" indent="0" marL="0">
              <a:buNone/>
            </a:pPr>
            <a:r>
              <a:rPr lang="en-US" sz="1300" b="1" dirty="0">
                <a:solidFill>
                  <a:srgbClr val="C4473A"/>
                </a:solidFill>
                <a:latin typeface="Calibri" pitchFamily="34" charset="0"/>
                <a:ea typeface="Calibri" pitchFamily="34" charset="-122"/>
                <a:cs typeface="Calibri" pitchFamily="34" charset="-120"/>
              </a:rPr>
              <a:t>Iblis menolak</a:t>
            </a:r>
            <a:endParaRPr lang="en-US" sz="1300" dirty="0"/>
          </a:p>
        </p:txBody>
      </p:sp>
      <p:sp>
        <p:nvSpPr>
          <p:cNvPr id="7" name="Shape 5"/>
          <p:cNvSpPr/>
          <p:nvPr/>
        </p:nvSpPr>
        <p:spPr>
          <a:xfrm>
            <a:off x="2057400" y="3520440"/>
            <a:ext cx="1463040" cy="420624"/>
          </a:xfrm>
          <a:prstGeom prst="roundRect">
            <a:avLst>
              <a:gd name="adj" fmla="val 26087"/>
            </a:avLst>
          </a:prstGeom>
          <a:solidFill>
            <a:srgbClr val="FBE9E6"/>
          </a:solidFill>
          <a:ln w="9525">
            <a:solidFill>
              <a:srgbClr val="FBE9E6"/>
            </a:solidFill>
            <a:prstDash val="solid"/>
          </a:ln>
        </p:spPr>
      </p:sp>
      <p:sp>
        <p:nvSpPr>
          <p:cNvPr id="8" name="Text 6"/>
          <p:cNvSpPr txBox="1"/>
          <p:nvPr/>
        </p:nvSpPr>
        <p:spPr>
          <a:xfrm>
            <a:off x="2167128" y="3520440"/>
            <a:ext cx="1243584" cy="420624"/>
          </a:xfrm>
          <a:prstGeom prst="rect">
            <a:avLst/>
          </a:prstGeom>
          <a:noFill/>
          <a:ln/>
        </p:spPr>
        <p:txBody>
          <a:bodyPr wrap="square" lIns="0" tIns="0" rIns="0" bIns="0" rtlCol="0" anchor="ctr"/>
          <a:lstStyle/>
          <a:p>
            <a:pPr algn="ctr" indent="0" marL="0">
              <a:buNone/>
            </a:pPr>
            <a:r>
              <a:rPr lang="en-US" sz="1300" b="1" dirty="0">
                <a:solidFill>
                  <a:srgbClr val="C4473A"/>
                </a:solidFill>
                <a:latin typeface="Calibri" pitchFamily="34" charset="0"/>
                <a:ea typeface="Calibri" pitchFamily="34" charset="-122"/>
                <a:cs typeface="Calibri" pitchFamily="34" charset="-120"/>
              </a:rPr>
              <a:t>Iblis sombong</a:t>
            </a:r>
            <a:endParaRPr lang="en-US" sz="1300" dirty="0"/>
          </a:p>
        </p:txBody>
      </p:sp>
      <p:sp>
        <p:nvSpPr>
          <p:cNvPr id="9" name="Shape 7"/>
          <p:cNvSpPr/>
          <p:nvPr/>
        </p:nvSpPr>
        <p:spPr>
          <a:xfrm>
            <a:off x="4023360" y="548640"/>
            <a:ext cx="4663440" cy="4023360"/>
          </a:xfrm>
          <a:prstGeom prst="roundRect">
            <a:avLst>
              <a:gd name="adj" fmla="val 2727"/>
            </a:avLst>
          </a:prstGeom>
          <a:solidFill>
            <a:srgbClr val="FFFFFF"/>
          </a:solidFill>
          <a:ln w="9525">
            <a:solidFill>
              <a:srgbClr val="DCE3EC"/>
            </a:solidFill>
            <a:prstDash val="solid"/>
          </a:ln>
          <a:effectLst>
            <a:outerShdw sx="100000" sy="100000" kx="0" ky="0" algn="bl" rotWithShape="0" blurRad="101600" dist="25400" dir="5400000">
              <a:srgbClr val="0F1E3D">
                <a:alpha val="12000"/>
              </a:srgbClr>
            </a:outerShdw>
          </a:effectLst>
        </p:spPr>
      </p:sp>
      <p:pic>
        <p:nvPicPr>
          <p:cNvPr id="10" name="Image 0" descr="/tmp/claude-0/-home-user-Shukery-Azizan/b66663cb-20be-5bd3-935d-65edbae5e3fd/scratchpad/build/assets/a_2_34.png">    </p:cNvPr>
          <p:cNvPicPr>
            <a:picLocks noChangeAspect="1"/>
          </p:cNvPicPr>
          <p:nvPr/>
        </p:nvPicPr>
        <p:blipFill>
          <a:blip r:embed="rId1"/>
          <a:stretch>
            <a:fillRect/>
          </a:stretch>
        </p:blipFill>
        <p:spPr>
          <a:xfrm>
            <a:off x="4251960" y="947934"/>
            <a:ext cx="4206240" cy="1030212"/>
          </a:xfrm>
          <a:prstGeom prst="rect">
            <a:avLst/>
          </a:prstGeom>
        </p:spPr>
      </p:pic>
      <p:sp>
        <p:nvSpPr>
          <p:cNvPr id="11" name="Text 8"/>
          <p:cNvSpPr txBox="1"/>
          <p:nvPr/>
        </p:nvSpPr>
        <p:spPr>
          <a:xfrm>
            <a:off x="4251960" y="2087874"/>
            <a:ext cx="4206240" cy="2026926"/>
          </a:xfrm>
          <a:prstGeom prst="rect">
            <a:avLst/>
          </a:prstGeom>
          <a:noFill/>
          <a:ln/>
        </p:spPr>
        <p:txBody>
          <a:bodyPr wrap="square" lIns="0" tIns="0" rIns="0" bIns="0" rtlCol="0" anchor="t"/>
          <a:lstStyle/>
          <a:p>
            <a:pPr indent="0" marL="0">
              <a:spcAft>
                <a:spcPts val="400"/>
              </a:spcAft>
              <a:buNone/>
            </a:pPr>
            <a:r>
              <a:rPr lang="en-US" sz="1550" dirty="0">
                <a:solidFill>
                  <a:srgbClr val="16213A"/>
                </a:solidFill>
                <a:latin typeface="Calibri" pitchFamily="34" charset="0"/>
                <a:ea typeface="Calibri" pitchFamily="34" charset="-122"/>
                <a:cs typeface="Calibri" pitchFamily="34" charset="-120"/>
              </a:rPr>
              <a:t>Dan (ingatlah) ketika Kami berfirman kepada para malaikat, "Sujudlah kalian kepada Adam!" Maka mereka pun sujud kecuali Iblis. Ia menolak dan menyombongkan diri, dan ia termasuk golongan yang kafir.</a:t>
            </a:r>
            <a:endParaRPr lang="en-US" sz="1550" dirty="0"/>
          </a:p>
        </p:txBody>
      </p:sp>
      <p:sp>
        <p:nvSpPr>
          <p:cNvPr id="12" name="Text 9"/>
          <p:cNvSpPr txBox="1"/>
          <p:nvPr/>
        </p:nvSpPr>
        <p:spPr>
          <a:xfrm>
            <a:off x="4251960" y="4187952"/>
            <a:ext cx="4206240" cy="237744"/>
          </a:xfrm>
          <a:prstGeom prst="rect">
            <a:avLst/>
          </a:prstGeom>
          <a:noFill/>
          <a:ln/>
        </p:spPr>
        <p:txBody>
          <a:bodyPr wrap="square" lIns="0" tIns="0" rIns="0" bIns="0" rtlCol="0" anchor="t"/>
          <a:lstStyle/>
          <a:p>
            <a:pPr algn="r" indent="0" marL="0">
              <a:buNone/>
            </a:pPr>
            <a:r>
              <a:rPr lang="en-US" sz="1150" b="1" dirty="0">
                <a:solidFill>
                  <a:srgbClr val="9A6B0F"/>
                </a:solidFill>
                <a:latin typeface="Calibri" pitchFamily="34" charset="0"/>
                <a:ea typeface="Calibri" pitchFamily="34" charset="-122"/>
                <a:cs typeface="Calibri" pitchFamily="34" charset="-120"/>
              </a:rPr>
              <a:t>Surah al-Baqarah : 34</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4572000" cy="256032"/>
          </a:xfrm>
          <a:prstGeom prst="rect">
            <a:avLst/>
          </a:prstGeom>
          <a:noFill/>
          <a:ln/>
        </p:spPr>
        <p:txBody>
          <a:bodyPr wrap="square" lIns="0" tIns="0" rIns="0" bIns="0" rtlCol="0" anchor="t"/>
          <a:lstStyle/>
          <a:p>
            <a:pPr indent="0" marL="0">
              <a:buNone/>
            </a:pPr>
            <a:r>
              <a:rPr lang="en-US" sz="1100" b="1" spc="200" kern="0" dirty="0">
                <a:solidFill>
                  <a:srgbClr val="9A6B0F"/>
                </a:solidFill>
                <a:latin typeface="Calibri" pitchFamily="34" charset="0"/>
                <a:ea typeface="Calibri" pitchFamily="34" charset="-122"/>
                <a:cs typeface="Calibri" pitchFamily="34" charset="-120"/>
              </a:rPr>
              <a:t>SURAH AL-A'RAF : 16–17</a:t>
            </a:r>
            <a:endParaRPr lang="en-US" sz="1100" dirty="0"/>
          </a:p>
        </p:txBody>
      </p:sp>
      <p:sp>
        <p:nvSpPr>
          <p:cNvPr id="3" name="Text 1"/>
          <p:cNvSpPr txBox="1"/>
          <p:nvPr/>
        </p:nvSpPr>
        <p:spPr>
          <a:xfrm>
            <a:off x="457200" y="603504"/>
            <a:ext cx="8229600" cy="566928"/>
          </a:xfrm>
          <a:prstGeom prst="rect">
            <a:avLst/>
          </a:prstGeom>
          <a:noFill/>
          <a:ln/>
        </p:spPr>
        <p:txBody>
          <a:bodyPr wrap="square" lIns="0" tIns="0" rIns="0" bIns="0" rtlCol="0" anchor="ctr"/>
          <a:lstStyle/>
          <a:p>
            <a:pPr indent="0" marL="0">
              <a:buNone/>
            </a:pPr>
            <a:r>
              <a:rPr lang="en-US" sz="3000" b="1" dirty="0">
                <a:solidFill>
                  <a:srgbClr val="0F1E3D"/>
                </a:solidFill>
                <a:latin typeface="Calibri" pitchFamily="34" charset="0"/>
                <a:ea typeface="Calibri" pitchFamily="34" charset="-122"/>
                <a:cs typeface="Calibri" pitchFamily="34" charset="-120"/>
              </a:rPr>
              <a:t>Apa Dendam Iblis?</a:t>
            </a:r>
            <a:endParaRPr lang="en-US" sz="3000" dirty="0"/>
          </a:p>
        </p:txBody>
      </p:sp>
      <p:sp>
        <p:nvSpPr>
          <p:cNvPr id="4" name="Shape 2"/>
          <p:cNvSpPr/>
          <p:nvPr/>
        </p:nvSpPr>
        <p:spPr>
          <a:xfrm>
            <a:off x="457200" y="1325880"/>
            <a:ext cx="8229600" cy="1664208"/>
          </a:xfrm>
          <a:prstGeom prst="roundRect">
            <a:avLst>
              <a:gd name="adj" fmla="val 6593"/>
            </a:avLst>
          </a:prstGeom>
          <a:solidFill>
            <a:srgbClr val="FFFFFF"/>
          </a:solidFill>
          <a:ln w="9525">
            <a:solidFill>
              <a:srgbClr val="DCE3EC"/>
            </a:solidFill>
            <a:prstDash val="solid"/>
          </a:ln>
          <a:effectLst>
            <a:outerShdw sx="100000" sy="100000" kx="0" ky="0" algn="bl" rotWithShape="0" blurRad="101600" dist="25400" dir="5400000">
              <a:srgbClr val="0F1E3D">
                <a:alpha val="12000"/>
              </a:srgbClr>
            </a:outerShdw>
          </a:effectLst>
        </p:spPr>
      </p:sp>
      <p:pic>
        <p:nvPicPr>
          <p:cNvPr id="5" name="Image 0" descr="/tmp/claude-0/-home-user-Shukery-Azizan/b66663cb-20be-5bd3-935d-65edbae5e3fd/scratchpad/build/assets/a_7_16.png">    </p:cNvPr>
          <p:cNvPicPr>
            <a:picLocks noChangeAspect="1"/>
          </p:cNvPicPr>
          <p:nvPr/>
        </p:nvPicPr>
        <p:blipFill>
          <a:blip r:embed="rId1"/>
          <a:stretch>
            <a:fillRect/>
          </a:stretch>
        </p:blipFill>
        <p:spPr>
          <a:xfrm>
            <a:off x="4572000" y="1926180"/>
            <a:ext cx="3931920" cy="463608"/>
          </a:xfrm>
          <a:prstGeom prst="rect">
            <a:avLst/>
          </a:prstGeom>
        </p:spPr>
      </p:pic>
      <p:sp>
        <p:nvSpPr>
          <p:cNvPr id="6" name="Text 3"/>
          <p:cNvSpPr txBox="1"/>
          <p:nvPr/>
        </p:nvSpPr>
        <p:spPr>
          <a:xfrm>
            <a:off x="685800" y="1490472"/>
            <a:ext cx="1828800" cy="228600"/>
          </a:xfrm>
          <a:prstGeom prst="rect">
            <a:avLst/>
          </a:prstGeom>
          <a:noFill/>
          <a:ln/>
        </p:spPr>
        <p:txBody>
          <a:bodyPr wrap="square" lIns="0" tIns="0" rIns="0" bIns="0" rtlCol="0" anchor="t"/>
          <a:lstStyle/>
          <a:p>
            <a:pPr indent="0" marL="0">
              <a:buNone/>
            </a:pPr>
            <a:r>
              <a:rPr lang="en-US" sz="1050" b="1" spc="200" kern="0" dirty="0">
                <a:solidFill>
                  <a:srgbClr val="127C83"/>
                </a:solidFill>
                <a:latin typeface="Calibri" pitchFamily="34" charset="0"/>
                <a:ea typeface="Calibri" pitchFamily="34" charset="-122"/>
                <a:cs typeface="Calibri" pitchFamily="34" charset="-120"/>
              </a:rPr>
              <a:t>AYAT 16</a:t>
            </a:r>
            <a:endParaRPr lang="en-US" sz="1050" dirty="0"/>
          </a:p>
        </p:txBody>
      </p:sp>
      <p:sp>
        <p:nvSpPr>
          <p:cNvPr id="7" name="Text 4"/>
          <p:cNvSpPr txBox="1"/>
          <p:nvPr/>
        </p:nvSpPr>
        <p:spPr>
          <a:xfrm>
            <a:off x="685800" y="1737360"/>
            <a:ext cx="3703320" cy="1161288"/>
          </a:xfrm>
          <a:prstGeom prst="rect">
            <a:avLst/>
          </a:prstGeom>
          <a:noFill/>
          <a:ln/>
        </p:spPr>
        <p:txBody>
          <a:bodyPr wrap="square" lIns="0" tIns="0" rIns="0" bIns="0" rtlCol="0" anchor="t"/>
          <a:lstStyle/>
          <a:p>
            <a:pPr indent="0" marL="0">
              <a:buNone/>
            </a:pPr>
            <a:r>
              <a:rPr lang="en-US" sz="1250" dirty="0">
                <a:solidFill>
                  <a:srgbClr val="16213A"/>
                </a:solidFill>
                <a:latin typeface="Calibri" pitchFamily="34" charset="0"/>
                <a:ea typeface="Calibri" pitchFamily="34" charset="-122"/>
                <a:cs typeface="Calibri" pitchFamily="34" charset="-120"/>
              </a:rPr>
              <a:t>Iblis berkata: "Oleh kerana Engkau (wahai Tuhan) menyebabkan daku tersesat, (maka) demi sesungguhnya aku akan </a:t>
            </a:r>
            <a:pPr indent="0" marL="0">
              <a:buNone/>
            </a:pPr>
            <a:r>
              <a:rPr lang="en-US" sz="1250" b="1" dirty="0">
                <a:solidFill>
                  <a:srgbClr val="9A6B0F"/>
                </a:solidFill>
                <a:latin typeface="Calibri" pitchFamily="34" charset="0"/>
                <a:ea typeface="Calibri" pitchFamily="34" charset="-122"/>
                <a:cs typeface="Calibri" pitchFamily="34" charset="-120"/>
              </a:rPr>
              <a:t>mengambil tempat menghalangi mereka</a:t>
            </a:r>
            <a:pPr indent="0" marL="0">
              <a:buNone/>
            </a:pPr>
            <a:r>
              <a:rPr lang="en-US" sz="1250" dirty="0">
                <a:solidFill>
                  <a:srgbClr val="16213A"/>
                </a:solidFill>
                <a:latin typeface="Calibri" pitchFamily="34" charset="0"/>
                <a:ea typeface="Calibri" pitchFamily="34" charset="-122"/>
                <a:cs typeface="Calibri" pitchFamily="34" charset="-120"/>
              </a:rPr>
              <a:t> (dari menjalani) jalan-Mu yang lurus;"</a:t>
            </a:r>
            <a:endParaRPr lang="en-US" sz="1250" dirty="0"/>
          </a:p>
        </p:txBody>
      </p:sp>
      <p:sp>
        <p:nvSpPr>
          <p:cNvPr id="8" name="Shape 5"/>
          <p:cNvSpPr/>
          <p:nvPr/>
        </p:nvSpPr>
        <p:spPr>
          <a:xfrm>
            <a:off x="457200" y="3154680"/>
            <a:ext cx="8229600" cy="1664208"/>
          </a:xfrm>
          <a:prstGeom prst="roundRect">
            <a:avLst>
              <a:gd name="adj" fmla="val 6593"/>
            </a:avLst>
          </a:prstGeom>
          <a:solidFill>
            <a:srgbClr val="FFFFFF"/>
          </a:solidFill>
          <a:ln w="9525">
            <a:solidFill>
              <a:srgbClr val="DCE3EC"/>
            </a:solidFill>
            <a:prstDash val="solid"/>
          </a:ln>
          <a:effectLst>
            <a:outerShdw sx="100000" sy="100000" kx="0" ky="0" algn="bl" rotWithShape="0" blurRad="101600" dist="25400" dir="5400000">
              <a:srgbClr val="0F1E3D">
                <a:alpha val="12000"/>
              </a:srgbClr>
            </a:outerShdw>
          </a:effectLst>
        </p:spPr>
      </p:sp>
      <p:pic>
        <p:nvPicPr>
          <p:cNvPr id="9" name="Image 1" descr="/tmp/claude-0/-home-user-Shukery-Azizan/b66663cb-20be-5bd3-935d-65edbae5e3fd/scratchpad/build/assets/a_7_17.png">    </p:cNvPr>
          <p:cNvPicPr>
            <a:picLocks noChangeAspect="1"/>
          </p:cNvPicPr>
          <p:nvPr/>
        </p:nvPicPr>
        <p:blipFill>
          <a:blip r:embed="rId2"/>
          <a:stretch>
            <a:fillRect/>
          </a:stretch>
        </p:blipFill>
        <p:spPr>
          <a:xfrm>
            <a:off x="4572000" y="3493730"/>
            <a:ext cx="3931920" cy="986109"/>
          </a:xfrm>
          <a:prstGeom prst="rect">
            <a:avLst/>
          </a:prstGeom>
        </p:spPr>
      </p:pic>
      <p:sp>
        <p:nvSpPr>
          <p:cNvPr id="10" name="Text 6"/>
          <p:cNvSpPr txBox="1"/>
          <p:nvPr/>
        </p:nvSpPr>
        <p:spPr>
          <a:xfrm>
            <a:off x="685800" y="3319272"/>
            <a:ext cx="1828800" cy="228600"/>
          </a:xfrm>
          <a:prstGeom prst="rect">
            <a:avLst/>
          </a:prstGeom>
          <a:noFill/>
          <a:ln/>
        </p:spPr>
        <p:txBody>
          <a:bodyPr wrap="square" lIns="0" tIns="0" rIns="0" bIns="0" rtlCol="0" anchor="t"/>
          <a:lstStyle/>
          <a:p>
            <a:pPr indent="0" marL="0">
              <a:buNone/>
            </a:pPr>
            <a:r>
              <a:rPr lang="en-US" sz="1050" b="1" spc="200" kern="0" dirty="0">
                <a:solidFill>
                  <a:srgbClr val="127C83"/>
                </a:solidFill>
                <a:latin typeface="Calibri" pitchFamily="34" charset="0"/>
                <a:ea typeface="Calibri" pitchFamily="34" charset="-122"/>
                <a:cs typeface="Calibri" pitchFamily="34" charset="-120"/>
              </a:rPr>
              <a:t>AYAT 17</a:t>
            </a:r>
            <a:endParaRPr lang="en-US" sz="1050" dirty="0"/>
          </a:p>
        </p:txBody>
      </p:sp>
      <p:sp>
        <p:nvSpPr>
          <p:cNvPr id="11" name="Text 7"/>
          <p:cNvSpPr txBox="1"/>
          <p:nvPr/>
        </p:nvSpPr>
        <p:spPr>
          <a:xfrm>
            <a:off x="685800" y="3566160"/>
            <a:ext cx="3703320" cy="1161288"/>
          </a:xfrm>
          <a:prstGeom prst="rect">
            <a:avLst/>
          </a:prstGeom>
          <a:noFill/>
          <a:ln/>
        </p:spPr>
        <p:txBody>
          <a:bodyPr wrap="square" lIns="0" tIns="0" rIns="0" bIns="0" rtlCol="0" anchor="t"/>
          <a:lstStyle/>
          <a:p>
            <a:pPr indent="0" marL="0">
              <a:buNone/>
            </a:pPr>
            <a:r>
              <a:rPr lang="en-US" sz="1250" dirty="0">
                <a:solidFill>
                  <a:srgbClr val="16213A"/>
                </a:solidFill>
                <a:latin typeface="Calibri" pitchFamily="34" charset="0"/>
                <a:ea typeface="Calibri" pitchFamily="34" charset="-122"/>
                <a:cs typeface="Calibri" pitchFamily="34" charset="-120"/>
              </a:rPr>
              <a:t>"Kemudian aku datangi mereka, </a:t>
            </a:r>
            <a:pPr indent="0" marL="0">
              <a:buNone/>
            </a:pPr>
            <a:r>
              <a:rPr lang="en-US" sz="1250" b="1" dirty="0">
                <a:solidFill>
                  <a:srgbClr val="9A6B0F"/>
                </a:solidFill>
                <a:latin typeface="Calibri" pitchFamily="34" charset="0"/>
                <a:ea typeface="Calibri" pitchFamily="34" charset="-122"/>
                <a:cs typeface="Calibri" pitchFamily="34" charset="-120"/>
              </a:rPr>
              <a:t>dari hadapan</a:t>
            </a:r>
            <a:pPr indent="0" marL="0">
              <a:buNone/>
            </a:pPr>
            <a:r>
              <a:rPr lang="en-US" sz="1250" dirty="0">
                <a:solidFill>
                  <a:srgbClr val="16213A"/>
                </a:solidFill>
                <a:latin typeface="Calibri" pitchFamily="34" charset="0"/>
                <a:ea typeface="Calibri" pitchFamily="34" charset="-122"/>
                <a:cs typeface="Calibri" pitchFamily="34" charset="-120"/>
              </a:rPr>
              <a:t> mereka serta </a:t>
            </a:r>
            <a:pPr indent="0" marL="0">
              <a:buNone/>
            </a:pPr>
            <a:r>
              <a:rPr lang="en-US" sz="1250" b="1" dirty="0">
                <a:solidFill>
                  <a:srgbClr val="9A6B0F"/>
                </a:solidFill>
                <a:latin typeface="Calibri" pitchFamily="34" charset="0"/>
                <a:ea typeface="Calibri" pitchFamily="34" charset="-122"/>
                <a:cs typeface="Calibri" pitchFamily="34" charset="-120"/>
              </a:rPr>
              <a:t>dari belakang</a:t>
            </a:r>
            <a:pPr indent="0" marL="0">
              <a:buNone/>
            </a:pPr>
            <a:r>
              <a:rPr lang="en-US" sz="1250" dirty="0">
                <a:solidFill>
                  <a:srgbClr val="16213A"/>
                </a:solidFill>
                <a:latin typeface="Calibri" pitchFamily="34" charset="0"/>
                <a:ea typeface="Calibri" pitchFamily="34" charset="-122"/>
                <a:cs typeface="Calibri" pitchFamily="34" charset="-120"/>
              </a:rPr>
              <a:t> mereka, dan </a:t>
            </a:r>
            <a:pPr indent="0" marL="0">
              <a:buNone/>
            </a:pPr>
            <a:r>
              <a:rPr lang="en-US" sz="1250" b="1" dirty="0">
                <a:solidFill>
                  <a:srgbClr val="9A6B0F"/>
                </a:solidFill>
                <a:latin typeface="Calibri" pitchFamily="34" charset="0"/>
                <a:ea typeface="Calibri" pitchFamily="34" charset="-122"/>
                <a:cs typeface="Calibri" pitchFamily="34" charset="-120"/>
              </a:rPr>
              <a:t>dari kanan</a:t>
            </a:r>
            <a:pPr indent="0" marL="0">
              <a:buNone/>
            </a:pPr>
            <a:r>
              <a:rPr lang="en-US" sz="1250" dirty="0">
                <a:solidFill>
                  <a:srgbClr val="16213A"/>
                </a:solidFill>
                <a:latin typeface="Calibri" pitchFamily="34" charset="0"/>
                <a:ea typeface="Calibri" pitchFamily="34" charset="-122"/>
                <a:cs typeface="Calibri" pitchFamily="34" charset="-120"/>
              </a:rPr>
              <a:t> mereka serta </a:t>
            </a:r>
            <a:pPr indent="0" marL="0">
              <a:buNone/>
            </a:pPr>
            <a:r>
              <a:rPr lang="en-US" sz="1250" b="1" dirty="0">
                <a:solidFill>
                  <a:srgbClr val="9A6B0F"/>
                </a:solidFill>
                <a:latin typeface="Calibri" pitchFamily="34" charset="0"/>
                <a:ea typeface="Calibri" pitchFamily="34" charset="-122"/>
                <a:cs typeface="Calibri" pitchFamily="34" charset="-120"/>
              </a:rPr>
              <a:t>dari kiri</a:t>
            </a:r>
            <a:pPr indent="0" marL="0">
              <a:buNone/>
            </a:pPr>
            <a:r>
              <a:rPr lang="en-US" sz="1250" dirty="0">
                <a:solidFill>
                  <a:srgbClr val="16213A"/>
                </a:solidFill>
                <a:latin typeface="Calibri" pitchFamily="34" charset="0"/>
                <a:ea typeface="Calibri" pitchFamily="34" charset="-122"/>
                <a:cs typeface="Calibri" pitchFamily="34" charset="-120"/>
              </a:rPr>
              <a:t> mereka; dan Engkau tidak akan dapati kebanyakan mereka bersyukur."</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0F1E3D"/>
          </a:solidFill>
          <a:ln w="12700">
            <a:solidFill>
              <a:srgbClr val="0F1E3D"/>
            </a:solidFill>
            <a:prstDash val="solid"/>
          </a:ln>
        </p:spPr>
      </p:sp>
      <p:pic>
        <p:nvPicPr>
          <p:cNvPr id="3" name="Image 0" descr="/tmp/claude-0/-home-user-Shukery-Azizan/b66663cb-20be-5bd3-935d-65edbae5e3fd/scratchpad/build/assets/pattern_panel.png">    </p:cNvPr>
          <p:cNvPicPr>
            <a:picLocks noChangeAspect="1"/>
          </p:cNvPicPr>
          <p:nvPr/>
        </p:nvPicPr>
        <p:blipFill>
          <a:blip r:embed="rId1"/>
          <a:stretch>
            <a:fillRect/>
          </a:stretch>
        </p:blipFill>
        <p:spPr>
          <a:xfrm>
            <a:off x="0" y="0"/>
            <a:ext cx="3200400" cy="5143500"/>
          </a:xfrm>
          <a:prstGeom prst="rect">
            <a:avLst/>
          </a:prstGeom>
        </p:spPr>
      </p:pic>
      <p:sp>
        <p:nvSpPr>
          <p:cNvPr id="4" name="Text 1"/>
          <p:cNvSpPr txBox="1"/>
          <p:nvPr/>
        </p:nvSpPr>
        <p:spPr>
          <a:xfrm>
            <a:off x="411480" y="548640"/>
            <a:ext cx="2468880" cy="256032"/>
          </a:xfrm>
          <a:prstGeom prst="rect">
            <a:avLst/>
          </a:prstGeom>
          <a:noFill/>
          <a:ln/>
        </p:spPr>
        <p:txBody>
          <a:bodyPr wrap="square" lIns="0" tIns="0" rIns="0" bIns="0" rtlCol="0" anchor="t"/>
          <a:lstStyle/>
          <a:p>
            <a:pPr indent="0" marL="0">
              <a:buNone/>
            </a:pPr>
            <a:r>
              <a:rPr lang="en-US" sz="1100" b="1" spc="200" kern="0" dirty="0">
                <a:solidFill>
                  <a:srgbClr val="D9A93A"/>
                </a:solidFill>
                <a:latin typeface="Calibri" pitchFamily="34" charset="0"/>
                <a:ea typeface="Calibri" pitchFamily="34" charset="-122"/>
                <a:cs typeface="Calibri" pitchFamily="34" charset="-120"/>
              </a:rPr>
              <a:t>MODUS OPERANDI IBLIS</a:t>
            </a:r>
            <a:endParaRPr lang="en-US" sz="1100" dirty="0"/>
          </a:p>
        </p:txBody>
      </p:sp>
      <p:pic>
        <p:nvPicPr>
          <p:cNvPr id="5" name="Image 1" descr="/tmp/claude-0/-home-user-Shukery-Azizan/b66663cb-20be-5bd3-935d-65edbae5e3fd/scratchpad/build/assets/a_qaada.png">    </p:cNvPr>
          <p:cNvPicPr>
            <a:picLocks noChangeAspect="1"/>
          </p:cNvPicPr>
          <p:nvPr/>
        </p:nvPicPr>
        <p:blipFill>
          <a:blip r:embed="rId2"/>
          <a:stretch>
            <a:fillRect/>
          </a:stretch>
        </p:blipFill>
        <p:spPr>
          <a:xfrm>
            <a:off x="582646" y="1051560"/>
            <a:ext cx="2035109" cy="2103120"/>
          </a:xfrm>
          <a:prstGeom prst="rect">
            <a:avLst/>
          </a:prstGeom>
        </p:spPr>
      </p:pic>
      <p:sp>
        <p:nvSpPr>
          <p:cNvPr id="6" name="Text 2"/>
          <p:cNvSpPr txBox="1"/>
          <p:nvPr/>
        </p:nvSpPr>
        <p:spPr>
          <a:xfrm>
            <a:off x="411480" y="3246120"/>
            <a:ext cx="2377440" cy="411480"/>
          </a:xfrm>
          <a:prstGeom prst="rect">
            <a:avLst/>
          </a:prstGeom>
          <a:noFill/>
          <a:ln/>
        </p:spPr>
        <p:txBody>
          <a:bodyPr wrap="square" lIns="0" tIns="0" rIns="0" bIns="0" rtlCol="0" anchor="t"/>
          <a:lstStyle/>
          <a:p>
            <a:pPr algn="ctr" indent="0" marL="0">
              <a:buNone/>
            </a:pPr>
            <a:r>
              <a:rPr lang="en-US" sz="2000" i="1" dirty="0">
                <a:solidFill>
                  <a:srgbClr val="FFFFFF"/>
                </a:solidFill>
                <a:latin typeface="Calibri" pitchFamily="34" charset="0"/>
                <a:ea typeface="Calibri" pitchFamily="34" charset="-122"/>
                <a:cs typeface="Calibri" pitchFamily="34" charset="-120"/>
              </a:rPr>
              <a:t>qa'ada</a:t>
            </a:r>
            <a:endParaRPr lang="en-US" sz="2000" dirty="0"/>
          </a:p>
        </p:txBody>
      </p:sp>
      <p:sp>
        <p:nvSpPr>
          <p:cNvPr id="7" name="Text 3"/>
          <p:cNvSpPr txBox="1"/>
          <p:nvPr/>
        </p:nvSpPr>
        <p:spPr>
          <a:xfrm>
            <a:off x="411480" y="3657600"/>
            <a:ext cx="2377440" cy="320040"/>
          </a:xfrm>
          <a:prstGeom prst="rect">
            <a:avLst/>
          </a:prstGeom>
          <a:noFill/>
          <a:ln/>
        </p:spPr>
        <p:txBody>
          <a:bodyPr wrap="square" lIns="0" tIns="0" rIns="0" bIns="0" rtlCol="0" anchor="t"/>
          <a:lstStyle/>
          <a:p>
            <a:pPr algn="ctr" indent="0" marL="0">
              <a:buNone/>
            </a:pPr>
            <a:r>
              <a:rPr lang="en-US" sz="1150" dirty="0">
                <a:solidFill>
                  <a:srgbClr val="C9D3E6"/>
                </a:solidFill>
                <a:latin typeface="Calibri" pitchFamily="34" charset="0"/>
                <a:ea typeface="Calibri" pitchFamily="34" charset="-122"/>
                <a:cs typeface="Calibri" pitchFamily="34" charset="-120"/>
              </a:rPr>
              <a:t>(dari ayat 16: la-aq‘udanna)</a:t>
            </a:r>
            <a:endParaRPr lang="en-US" sz="1150" dirty="0"/>
          </a:p>
        </p:txBody>
      </p:sp>
      <p:sp>
        <p:nvSpPr>
          <p:cNvPr id="8" name="Text 4"/>
          <p:cNvSpPr txBox="1"/>
          <p:nvPr/>
        </p:nvSpPr>
        <p:spPr>
          <a:xfrm>
            <a:off x="3611880" y="457200"/>
            <a:ext cx="5120640" cy="566928"/>
          </a:xfrm>
          <a:prstGeom prst="rect">
            <a:avLst/>
          </a:prstGeom>
          <a:noFill/>
          <a:ln/>
        </p:spPr>
        <p:txBody>
          <a:bodyPr wrap="square" lIns="0" tIns="0" rIns="0" bIns="0" rtlCol="0" anchor="ctr"/>
          <a:lstStyle/>
          <a:p>
            <a:pPr indent="0" marL="0">
              <a:buNone/>
            </a:pPr>
            <a:r>
              <a:rPr lang="en-US" sz="2800" b="1" dirty="0">
                <a:solidFill>
                  <a:srgbClr val="0F1E3D"/>
                </a:solidFill>
                <a:latin typeface="Calibri" pitchFamily="34" charset="0"/>
                <a:ea typeface="Calibri" pitchFamily="34" charset="-122"/>
                <a:cs typeface="Calibri" pitchFamily="34" charset="-120"/>
              </a:rPr>
              <a:t>Apa maksudnya?</a:t>
            </a:r>
            <a:endParaRPr lang="en-US" sz="2800" dirty="0"/>
          </a:p>
        </p:txBody>
      </p:sp>
      <p:sp>
        <p:nvSpPr>
          <p:cNvPr id="9" name="Text 5"/>
          <p:cNvSpPr txBox="1"/>
          <p:nvPr/>
        </p:nvSpPr>
        <p:spPr>
          <a:xfrm>
            <a:off x="3611880" y="1024128"/>
            <a:ext cx="5074920" cy="594360"/>
          </a:xfrm>
          <a:prstGeom prst="rect">
            <a:avLst/>
          </a:prstGeom>
          <a:noFill/>
          <a:ln/>
        </p:spPr>
        <p:txBody>
          <a:bodyPr wrap="square" lIns="0" tIns="0" rIns="0" bIns="0" rtlCol="0" anchor="t"/>
          <a:lstStyle/>
          <a:p>
            <a:pPr indent="0" marL="0">
              <a:buNone/>
            </a:pPr>
            <a:r>
              <a:rPr lang="en-US" sz="1500" dirty="0">
                <a:solidFill>
                  <a:srgbClr val="5A6880"/>
                </a:solidFill>
                <a:latin typeface="Calibri" pitchFamily="34" charset="0"/>
                <a:ea typeface="Calibri" pitchFamily="34" charset="-122"/>
                <a:cs typeface="Calibri" pitchFamily="34" charset="-120"/>
              </a:rPr>
              <a:t>Menanti dan bersedia untuk serang hendap pada masa yang sesuai.</a:t>
            </a:r>
            <a:endParaRPr lang="en-US" sz="1500" dirty="0"/>
          </a:p>
        </p:txBody>
      </p:sp>
      <p:sp>
        <p:nvSpPr>
          <p:cNvPr id="10" name="Shape 6"/>
          <p:cNvSpPr/>
          <p:nvPr/>
        </p:nvSpPr>
        <p:spPr>
          <a:xfrm>
            <a:off x="3611880" y="1783080"/>
            <a:ext cx="2423160" cy="777240"/>
          </a:xfrm>
          <a:prstGeom prst="roundRect">
            <a:avLst>
              <a:gd name="adj" fmla="val 14118"/>
            </a:avLst>
          </a:prstGeom>
          <a:solidFill>
            <a:srgbClr val="FFFFFF"/>
          </a:solidFill>
          <a:ln w="9525">
            <a:solidFill>
              <a:srgbClr val="DCE3EC"/>
            </a:solidFill>
            <a:prstDash val="solid"/>
          </a:ln>
          <a:effectLst>
            <a:outerShdw sx="100000" sy="100000" kx="0" ky="0" algn="bl" rotWithShape="0" blurRad="101600" dist="25400" dir="5400000">
              <a:srgbClr val="0F1E3D">
                <a:alpha val="12000"/>
              </a:srgbClr>
            </a:outerShdw>
          </a:effectLst>
        </p:spPr>
      </p:sp>
      <p:sp>
        <p:nvSpPr>
          <p:cNvPr id="11" name="Shape 7"/>
          <p:cNvSpPr/>
          <p:nvPr/>
        </p:nvSpPr>
        <p:spPr>
          <a:xfrm>
            <a:off x="3749040" y="1901952"/>
            <a:ext cx="548640" cy="548640"/>
          </a:xfrm>
          <a:prstGeom prst="ellipse">
            <a:avLst/>
          </a:prstGeom>
          <a:solidFill>
            <a:srgbClr val="FBF3DF"/>
          </a:solidFill>
          <a:ln w="12700">
            <a:solidFill>
              <a:srgbClr val="FBF3DF"/>
            </a:solidFill>
            <a:prstDash val="solid"/>
          </a:ln>
        </p:spPr>
      </p:sp>
      <p:pic>
        <p:nvPicPr>
          <p:cNvPr id="12" name="Image 2" descr="preencoded.png">    </p:cNvPr>
          <p:cNvPicPr>
            <a:picLocks noChangeAspect="1"/>
          </p:cNvPicPr>
          <p:nvPr/>
        </p:nvPicPr>
        <p:blipFill>
          <a:blip r:embed="rId3"/>
          <a:stretch>
            <a:fillRect/>
          </a:stretch>
        </p:blipFill>
        <p:spPr>
          <a:xfrm>
            <a:off x="3891686" y="2044598"/>
            <a:ext cx="263347" cy="263347"/>
          </a:xfrm>
          <a:prstGeom prst="rect">
            <a:avLst/>
          </a:prstGeom>
        </p:spPr>
      </p:pic>
      <p:sp>
        <p:nvSpPr>
          <p:cNvPr id="13" name="Text 8"/>
          <p:cNvSpPr txBox="1"/>
          <p:nvPr/>
        </p:nvSpPr>
        <p:spPr>
          <a:xfrm>
            <a:off x="4434840" y="1783080"/>
            <a:ext cx="1554480" cy="777240"/>
          </a:xfrm>
          <a:prstGeom prst="rect">
            <a:avLst/>
          </a:prstGeom>
          <a:noFill/>
          <a:ln/>
        </p:spPr>
        <p:txBody>
          <a:bodyPr wrap="square" lIns="0" tIns="0" rIns="0" bIns="0" rtlCol="0" anchor="ctr"/>
          <a:lstStyle/>
          <a:p>
            <a:pPr indent="0" marL="0">
              <a:buNone/>
            </a:pPr>
            <a:r>
              <a:rPr lang="en-US" sz="1600" b="1" dirty="0">
                <a:solidFill>
                  <a:srgbClr val="0F1E3D"/>
                </a:solidFill>
                <a:latin typeface="Calibri" pitchFamily="34" charset="0"/>
                <a:ea typeface="Calibri" pitchFamily="34" charset="-122"/>
                <a:cs typeface="Calibri" pitchFamily="34" charset="-120"/>
              </a:rPr>
              <a:t>Menanti</a:t>
            </a:r>
            <a:endParaRPr lang="en-US" sz="1600" dirty="0"/>
          </a:p>
        </p:txBody>
      </p:sp>
      <p:sp>
        <p:nvSpPr>
          <p:cNvPr id="14" name="Shape 9"/>
          <p:cNvSpPr/>
          <p:nvPr/>
        </p:nvSpPr>
        <p:spPr>
          <a:xfrm>
            <a:off x="6217920" y="1783080"/>
            <a:ext cx="2423160" cy="777240"/>
          </a:xfrm>
          <a:prstGeom prst="roundRect">
            <a:avLst>
              <a:gd name="adj" fmla="val 14118"/>
            </a:avLst>
          </a:prstGeom>
          <a:solidFill>
            <a:srgbClr val="FFFFFF"/>
          </a:solidFill>
          <a:ln w="9525">
            <a:solidFill>
              <a:srgbClr val="DCE3EC"/>
            </a:solidFill>
            <a:prstDash val="solid"/>
          </a:ln>
          <a:effectLst>
            <a:outerShdw sx="100000" sy="100000" kx="0" ky="0" algn="bl" rotWithShape="0" blurRad="101600" dist="25400" dir="5400000">
              <a:srgbClr val="0F1E3D">
                <a:alpha val="12000"/>
              </a:srgbClr>
            </a:outerShdw>
          </a:effectLst>
        </p:spPr>
      </p:sp>
      <p:sp>
        <p:nvSpPr>
          <p:cNvPr id="15" name="Shape 10"/>
          <p:cNvSpPr/>
          <p:nvPr/>
        </p:nvSpPr>
        <p:spPr>
          <a:xfrm>
            <a:off x="6355080" y="1901952"/>
            <a:ext cx="548640" cy="548640"/>
          </a:xfrm>
          <a:prstGeom prst="ellipse">
            <a:avLst/>
          </a:prstGeom>
          <a:solidFill>
            <a:srgbClr val="FBF3DF"/>
          </a:solidFill>
          <a:ln w="12700">
            <a:solidFill>
              <a:srgbClr val="FBF3DF"/>
            </a:solidFill>
            <a:prstDash val="solid"/>
          </a:ln>
        </p:spPr>
      </p:sp>
      <p:pic>
        <p:nvPicPr>
          <p:cNvPr id="16" name="Image 3" descr="preencoded.png">    </p:cNvPr>
          <p:cNvPicPr>
            <a:picLocks noChangeAspect="1"/>
          </p:cNvPicPr>
          <p:nvPr/>
        </p:nvPicPr>
        <p:blipFill>
          <a:blip r:embed="rId4"/>
          <a:stretch>
            <a:fillRect/>
          </a:stretch>
        </p:blipFill>
        <p:spPr>
          <a:xfrm>
            <a:off x="6497726" y="2044598"/>
            <a:ext cx="263347" cy="263347"/>
          </a:xfrm>
          <a:prstGeom prst="rect">
            <a:avLst/>
          </a:prstGeom>
        </p:spPr>
      </p:pic>
      <p:sp>
        <p:nvSpPr>
          <p:cNvPr id="17" name="Text 11"/>
          <p:cNvSpPr txBox="1"/>
          <p:nvPr/>
        </p:nvSpPr>
        <p:spPr>
          <a:xfrm>
            <a:off x="7040880" y="1783080"/>
            <a:ext cx="1554480" cy="777240"/>
          </a:xfrm>
          <a:prstGeom prst="rect">
            <a:avLst/>
          </a:prstGeom>
          <a:noFill/>
          <a:ln/>
        </p:spPr>
        <p:txBody>
          <a:bodyPr wrap="square" lIns="0" tIns="0" rIns="0" bIns="0" rtlCol="0" anchor="ctr"/>
          <a:lstStyle/>
          <a:p>
            <a:pPr indent="0" marL="0">
              <a:buNone/>
            </a:pPr>
            <a:r>
              <a:rPr lang="en-US" sz="1600" b="1" dirty="0">
                <a:solidFill>
                  <a:srgbClr val="0F1E3D"/>
                </a:solidFill>
                <a:latin typeface="Calibri" pitchFamily="34" charset="0"/>
                <a:ea typeface="Calibri" pitchFamily="34" charset="-122"/>
                <a:cs typeface="Calibri" pitchFamily="34" charset="-120"/>
              </a:rPr>
              <a:t>Bersedia</a:t>
            </a:r>
            <a:endParaRPr lang="en-US" sz="1600" dirty="0"/>
          </a:p>
        </p:txBody>
      </p:sp>
      <p:sp>
        <p:nvSpPr>
          <p:cNvPr id="18" name="Shape 12"/>
          <p:cNvSpPr/>
          <p:nvPr/>
        </p:nvSpPr>
        <p:spPr>
          <a:xfrm>
            <a:off x="3611880" y="2743200"/>
            <a:ext cx="2423160" cy="777240"/>
          </a:xfrm>
          <a:prstGeom prst="roundRect">
            <a:avLst>
              <a:gd name="adj" fmla="val 14118"/>
            </a:avLst>
          </a:prstGeom>
          <a:solidFill>
            <a:srgbClr val="FFFFFF"/>
          </a:solidFill>
          <a:ln w="9525">
            <a:solidFill>
              <a:srgbClr val="DCE3EC"/>
            </a:solidFill>
            <a:prstDash val="solid"/>
          </a:ln>
          <a:effectLst>
            <a:outerShdw sx="100000" sy="100000" kx="0" ky="0" algn="bl" rotWithShape="0" blurRad="101600" dist="25400" dir="5400000">
              <a:srgbClr val="0F1E3D">
                <a:alpha val="12000"/>
              </a:srgbClr>
            </a:outerShdw>
          </a:effectLst>
        </p:spPr>
      </p:sp>
      <p:sp>
        <p:nvSpPr>
          <p:cNvPr id="19" name="Shape 13"/>
          <p:cNvSpPr/>
          <p:nvPr/>
        </p:nvSpPr>
        <p:spPr>
          <a:xfrm>
            <a:off x="3749040" y="2862072"/>
            <a:ext cx="548640" cy="548640"/>
          </a:xfrm>
          <a:prstGeom prst="ellipse">
            <a:avLst/>
          </a:prstGeom>
          <a:solidFill>
            <a:srgbClr val="FBF3DF"/>
          </a:solidFill>
          <a:ln w="12700">
            <a:solidFill>
              <a:srgbClr val="FBF3DF"/>
            </a:solidFill>
            <a:prstDash val="solid"/>
          </a:ln>
        </p:spPr>
      </p:sp>
      <p:pic>
        <p:nvPicPr>
          <p:cNvPr id="20" name="Image 4" descr="preencoded.png">    </p:cNvPr>
          <p:cNvPicPr>
            <a:picLocks noChangeAspect="1"/>
          </p:cNvPicPr>
          <p:nvPr/>
        </p:nvPicPr>
        <p:blipFill>
          <a:blip r:embed="rId5"/>
          <a:stretch>
            <a:fillRect/>
          </a:stretch>
        </p:blipFill>
        <p:spPr>
          <a:xfrm>
            <a:off x="3891686" y="3004718"/>
            <a:ext cx="263347" cy="263347"/>
          </a:xfrm>
          <a:prstGeom prst="rect">
            <a:avLst/>
          </a:prstGeom>
        </p:spPr>
      </p:pic>
      <p:sp>
        <p:nvSpPr>
          <p:cNvPr id="21" name="Text 14"/>
          <p:cNvSpPr txBox="1"/>
          <p:nvPr/>
        </p:nvSpPr>
        <p:spPr>
          <a:xfrm>
            <a:off x="4434840" y="2743200"/>
            <a:ext cx="1554480" cy="777240"/>
          </a:xfrm>
          <a:prstGeom prst="rect">
            <a:avLst/>
          </a:prstGeom>
          <a:noFill/>
          <a:ln/>
        </p:spPr>
        <p:txBody>
          <a:bodyPr wrap="square" lIns="0" tIns="0" rIns="0" bIns="0" rtlCol="0" anchor="ctr"/>
          <a:lstStyle/>
          <a:p>
            <a:pPr indent="0" marL="0">
              <a:buNone/>
            </a:pPr>
            <a:r>
              <a:rPr lang="en-US" sz="1600" b="1" dirty="0">
                <a:solidFill>
                  <a:srgbClr val="0F1E3D"/>
                </a:solidFill>
                <a:latin typeface="Calibri" pitchFamily="34" charset="0"/>
                <a:ea typeface="Calibri" pitchFamily="34" charset="-122"/>
                <a:cs typeface="Calibri" pitchFamily="34" charset="-120"/>
              </a:rPr>
              <a:t>Serang hendap</a:t>
            </a:r>
            <a:endParaRPr lang="en-US" sz="1600" dirty="0"/>
          </a:p>
        </p:txBody>
      </p:sp>
      <p:sp>
        <p:nvSpPr>
          <p:cNvPr id="22" name="Shape 15"/>
          <p:cNvSpPr/>
          <p:nvPr/>
        </p:nvSpPr>
        <p:spPr>
          <a:xfrm>
            <a:off x="6217920" y="2743200"/>
            <a:ext cx="2423160" cy="777240"/>
          </a:xfrm>
          <a:prstGeom prst="roundRect">
            <a:avLst>
              <a:gd name="adj" fmla="val 14118"/>
            </a:avLst>
          </a:prstGeom>
          <a:solidFill>
            <a:srgbClr val="FFFFFF"/>
          </a:solidFill>
          <a:ln w="9525">
            <a:solidFill>
              <a:srgbClr val="DCE3EC"/>
            </a:solidFill>
            <a:prstDash val="solid"/>
          </a:ln>
          <a:effectLst>
            <a:outerShdw sx="100000" sy="100000" kx="0" ky="0" algn="bl" rotWithShape="0" blurRad="101600" dist="25400" dir="5400000">
              <a:srgbClr val="0F1E3D">
                <a:alpha val="12000"/>
              </a:srgbClr>
            </a:outerShdw>
          </a:effectLst>
        </p:spPr>
      </p:sp>
      <p:sp>
        <p:nvSpPr>
          <p:cNvPr id="23" name="Shape 16"/>
          <p:cNvSpPr/>
          <p:nvPr/>
        </p:nvSpPr>
        <p:spPr>
          <a:xfrm>
            <a:off x="6355080" y="2862072"/>
            <a:ext cx="548640" cy="548640"/>
          </a:xfrm>
          <a:prstGeom prst="ellipse">
            <a:avLst/>
          </a:prstGeom>
          <a:solidFill>
            <a:srgbClr val="FBF3DF"/>
          </a:solidFill>
          <a:ln w="12700">
            <a:solidFill>
              <a:srgbClr val="FBF3DF"/>
            </a:solidFill>
            <a:prstDash val="solid"/>
          </a:ln>
        </p:spPr>
      </p:sp>
      <p:pic>
        <p:nvPicPr>
          <p:cNvPr id="24" name="Image 5" descr="preencoded.png">    </p:cNvPr>
          <p:cNvPicPr>
            <a:picLocks noChangeAspect="1"/>
          </p:cNvPicPr>
          <p:nvPr/>
        </p:nvPicPr>
        <p:blipFill>
          <a:blip r:embed="rId6"/>
          <a:stretch>
            <a:fillRect/>
          </a:stretch>
        </p:blipFill>
        <p:spPr>
          <a:xfrm>
            <a:off x="6497726" y="3004718"/>
            <a:ext cx="263347" cy="263347"/>
          </a:xfrm>
          <a:prstGeom prst="rect">
            <a:avLst/>
          </a:prstGeom>
        </p:spPr>
      </p:pic>
      <p:sp>
        <p:nvSpPr>
          <p:cNvPr id="25" name="Text 17"/>
          <p:cNvSpPr txBox="1"/>
          <p:nvPr/>
        </p:nvSpPr>
        <p:spPr>
          <a:xfrm>
            <a:off x="7040880" y="2743200"/>
            <a:ext cx="1554480" cy="777240"/>
          </a:xfrm>
          <a:prstGeom prst="rect">
            <a:avLst/>
          </a:prstGeom>
          <a:noFill/>
          <a:ln/>
        </p:spPr>
        <p:txBody>
          <a:bodyPr wrap="square" lIns="0" tIns="0" rIns="0" bIns="0" rtlCol="0" anchor="ctr"/>
          <a:lstStyle/>
          <a:p>
            <a:pPr indent="0" marL="0">
              <a:buNone/>
            </a:pPr>
            <a:r>
              <a:rPr lang="en-US" sz="1600" b="1" dirty="0">
                <a:solidFill>
                  <a:srgbClr val="0F1E3D"/>
                </a:solidFill>
                <a:latin typeface="Calibri" pitchFamily="34" charset="0"/>
                <a:ea typeface="Calibri" pitchFamily="34" charset="-122"/>
                <a:cs typeface="Calibri" pitchFamily="34" charset="-120"/>
              </a:rPr>
              <a:t>Masa yang sesuai</a:t>
            </a:r>
            <a:endParaRPr lang="en-US" sz="1600" dirty="0"/>
          </a:p>
        </p:txBody>
      </p:sp>
      <p:sp>
        <p:nvSpPr>
          <p:cNvPr id="26" name="Shape 18"/>
          <p:cNvSpPr/>
          <p:nvPr/>
        </p:nvSpPr>
        <p:spPr>
          <a:xfrm>
            <a:off x="3611880" y="3931920"/>
            <a:ext cx="5029200" cy="502920"/>
          </a:xfrm>
          <a:prstGeom prst="roundRect">
            <a:avLst>
              <a:gd name="adj" fmla="val 21818"/>
            </a:avLst>
          </a:prstGeom>
          <a:solidFill>
            <a:srgbClr val="0F1E3D"/>
          </a:solidFill>
          <a:ln w="9525">
            <a:solidFill>
              <a:srgbClr val="0F1E3D"/>
            </a:solidFill>
            <a:prstDash val="solid"/>
          </a:ln>
        </p:spPr>
      </p:sp>
      <p:sp>
        <p:nvSpPr>
          <p:cNvPr id="27" name="Text 19"/>
          <p:cNvSpPr txBox="1"/>
          <p:nvPr/>
        </p:nvSpPr>
        <p:spPr>
          <a:xfrm>
            <a:off x="3721608" y="3931920"/>
            <a:ext cx="4809744" cy="502920"/>
          </a:xfrm>
          <a:prstGeom prst="rect">
            <a:avLst/>
          </a:prstGeom>
          <a:noFill/>
          <a:ln/>
        </p:spPr>
        <p:txBody>
          <a:bodyPr wrap="square" lIns="0" tIns="0" rIns="0" bIns="0" rtlCol="0" anchor="ctr"/>
          <a:lstStyle/>
          <a:p>
            <a:pPr algn="ctr" indent="0" marL="0">
              <a:buNone/>
            </a:pPr>
            <a:r>
              <a:rPr lang="en-US" sz="1500" b="1" dirty="0">
                <a:solidFill>
                  <a:srgbClr val="D9A93A"/>
                </a:solidFill>
                <a:latin typeface="Calibri" pitchFamily="34" charset="0"/>
                <a:ea typeface="Calibri" pitchFamily="34" charset="-122"/>
                <a:cs typeface="Calibri" pitchFamily="34" charset="-120"/>
              </a:rPr>
              <a:t>Persoalannya: serang dari arah mana?</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11480"/>
            <a:ext cx="4572000" cy="256032"/>
          </a:xfrm>
          <a:prstGeom prst="rect">
            <a:avLst/>
          </a:prstGeom>
          <a:noFill/>
          <a:ln/>
        </p:spPr>
        <p:txBody>
          <a:bodyPr wrap="square" lIns="0" tIns="0" rIns="0" bIns="0" rtlCol="0" anchor="t"/>
          <a:lstStyle/>
          <a:p>
            <a:pPr indent="0" marL="0">
              <a:buNone/>
            </a:pPr>
            <a:r>
              <a:rPr lang="en-US" sz="1100" b="1" spc="200" kern="0" dirty="0">
                <a:solidFill>
                  <a:srgbClr val="9A6B0F"/>
                </a:solidFill>
                <a:latin typeface="Calibri" pitchFamily="34" charset="0"/>
                <a:ea typeface="Calibri" pitchFamily="34" charset="-122"/>
                <a:cs typeface="Calibri" pitchFamily="34" charset="-120"/>
              </a:rPr>
              <a:t>SASARAN IBLIS</a:t>
            </a:r>
            <a:endParaRPr lang="en-US" sz="1100" dirty="0"/>
          </a:p>
        </p:txBody>
      </p:sp>
      <p:sp>
        <p:nvSpPr>
          <p:cNvPr id="3" name="Text 1"/>
          <p:cNvSpPr txBox="1"/>
          <p:nvPr/>
        </p:nvSpPr>
        <p:spPr>
          <a:xfrm>
            <a:off x="457200" y="658368"/>
            <a:ext cx="8229600" cy="566928"/>
          </a:xfrm>
          <a:prstGeom prst="rect">
            <a:avLst/>
          </a:prstGeom>
          <a:noFill/>
          <a:ln/>
        </p:spPr>
        <p:txBody>
          <a:bodyPr wrap="square" lIns="0" tIns="0" rIns="0" bIns="0" rtlCol="0" anchor="ctr"/>
          <a:lstStyle/>
          <a:p>
            <a:pPr indent="0" marL="0">
              <a:buNone/>
            </a:pPr>
            <a:r>
              <a:rPr lang="en-US" sz="3000" b="1" dirty="0">
                <a:solidFill>
                  <a:srgbClr val="0F1E3D"/>
                </a:solidFill>
                <a:latin typeface="Calibri" pitchFamily="34" charset="0"/>
                <a:ea typeface="Calibri" pitchFamily="34" charset="-122"/>
                <a:cs typeface="Calibri" pitchFamily="34" charset="-120"/>
              </a:rPr>
              <a:t>KPI Iblis &amp; Syaitan Goda Manusia</a:t>
            </a:r>
            <a:endParaRPr lang="en-US" sz="3000" dirty="0"/>
          </a:p>
        </p:txBody>
      </p:sp>
      <p:sp>
        <p:nvSpPr>
          <p:cNvPr id="4" name="Shape 2"/>
          <p:cNvSpPr/>
          <p:nvPr/>
        </p:nvSpPr>
        <p:spPr>
          <a:xfrm>
            <a:off x="457200" y="1463040"/>
            <a:ext cx="4023360" cy="3108960"/>
          </a:xfrm>
          <a:prstGeom prst="roundRect">
            <a:avLst>
              <a:gd name="adj" fmla="val 4412"/>
            </a:avLst>
          </a:prstGeom>
          <a:solidFill>
            <a:srgbClr val="0F1E3D"/>
          </a:solidFill>
          <a:ln w="12700">
            <a:solidFill>
              <a:srgbClr val="0F1E3D"/>
            </a:solidFill>
            <a:prstDash val="solid"/>
          </a:ln>
          <a:effectLst>
            <a:outerShdw sx="100000" sy="100000" kx="0" ky="0" algn="bl" rotWithShape="0" blurRad="101600" dist="25400" dir="5400000">
              <a:srgbClr val="0F1E3D">
                <a:alpha val="12000"/>
              </a:srgbClr>
            </a:outerShdw>
          </a:effectLst>
        </p:spPr>
      </p:sp>
      <p:sp>
        <p:nvSpPr>
          <p:cNvPr id="5" name="Shape 3"/>
          <p:cNvSpPr/>
          <p:nvPr/>
        </p:nvSpPr>
        <p:spPr>
          <a:xfrm>
            <a:off x="777240" y="1737360"/>
            <a:ext cx="731520" cy="731520"/>
          </a:xfrm>
          <a:prstGeom prst="ellipse">
            <a:avLst/>
          </a:prstGeom>
          <a:solidFill>
            <a:srgbClr val="1B2F5A"/>
          </a:solidFill>
          <a:ln w="12700">
            <a:solidFill>
              <a:srgbClr val="1B2F5A"/>
            </a:solidFill>
            <a:prstDash val="solid"/>
          </a:ln>
        </p:spPr>
      </p:sp>
      <p:pic>
        <p:nvPicPr>
          <p:cNvPr id="6" name="Image 0" descr="preencoded.png">    </p:cNvPr>
          <p:cNvPicPr>
            <a:picLocks noChangeAspect="1"/>
          </p:cNvPicPr>
          <p:nvPr/>
        </p:nvPicPr>
        <p:blipFill>
          <a:blip r:embed="rId1"/>
          <a:stretch>
            <a:fillRect/>
          </a:stretch>
        </p:blipFill>
        <p:spPr>
          <a:xfrm>
            <a:off x="967435" y="1927555"/>
            <a:ext cx="351130" cy="351130"/>
          </a:xfrm>
          <a:prstGeom prst="rect">
            <a:avLst/>
          </a:prstGeom>
        </p:spPr>
      </p:pic>
      <p:sp>
        <p:nvSpPr>
          <p:cNvPr id="7" name="Text 4"/>
          <p:cNvSpPr txBox="1"/>
          <p:nvPr/>
        </p:nvSpPr>
        <p:spPr>
          <a:xfrm>
            <a:off x="777240" y="2651760"/>
            <a:ext cx="3474720" cy="274320"/>
          </a:xfrm>
          <a:prstGeom prst="rect">
            <a:avLst/>
          </a:prstGeom>
          <a:noFill/>
          <a:ln/>
        </p:spPr>
        <p:txBody>
          <a:bodyPr wrap="square" lIns="0" tIns="0" rIns="0" bIns="0" rtlCol="0" anchor="t"/>
          <a:lstStyle/>
          <a:p>
            <a:pPr indent="0" marL="0">
              <a:buNone/>
            </a:pPr>
            <a:r>
              <a:rPr lang="en-US" sz="1200" b="1" spc="200" kern="0" dirty="0">
                <a:solidFill>
                  <a:srgbClr val="D9A93A"/>
                </a:solidFill>
                <a:latin typeface="Calibri" pitchFamily="34" charset="0"/>
                <a:ea typeface="Calibri" pitchFamily="34" charset="-122"/>
                <a:cs typeface="Calibri" pitchFamily="34" charset="-120"/>
              </a:rPr>
              <a:t>KPI UTAMA</a:t>
            </a:r>
            <a:endParaRPr lang="en-US" sz="1200" dirty="0"/>
          </a:p>
        </p:txBody>
      </p:sp>
      <p:sp>
        <p:nvSpPr>
          <p:cNvPr id="8" name="Text 5"/>
          <p:cNvSpPr txBox="1"/>
          <p:nvPr/>
        </p:nvSpPr>
        <p:spPr>
          <a:xfrm>
            <a:off x="777240" y="2926080"/>
            <a:ext cx="3474720" cy="1280160"/>
          </a:xfrm>
          <a:prstGeom prst="rect">
            <a:avLst/>
          </a:prstGeom>
          <a:noFill/>
          <a:ln/>
        </p:spPr>
        <p:txBody>
          <a:bodyPr wrap="square" lIns="0" tIns="0" rIns="0" bIns="0" rtlCol="0" anchor="t"/>
          <a:lstStyle/>
          <a:p>
            <a:pPr indent="0" marL="0">
              <a:buNone/>
            </a:pPr>
            <a:r>
              <a:rPr lang="en-US" sz="2600" b="1" dirty="0">
                <a:solidFill>
                  <a:srgbClr val="FFFFFF"/>
                </a:solidFill>
                <a:latin typeface="Calibri" pitchFamily="34" charset="0"/>
                <a:ea typeface="Calibri" pitchFamily="34" charset="-122"/>
                <a:cs typeface="Calibri" pitchFamily="34" charset="-120"/>
              </a:rPr>
              <a:t>Menjadikan manusia </a:t>
            </a:r>
            <a:pPr indent="0" marL="0">
              <a:buNone/>
            </a:pPr>
            <a:r>
              <a:rPr lang="en-US" sz="2600" b="1" dirty="0">
                <a:solidFill>
                  <a:srgbClr val="D9A93A"/>
                </a:solidFill>
                <a:latin typeface="Calibri" pitchFamily="34" charset="0"/>
                <a:ea typeface="Calibri" pitchFamily="34" charset="-122"/>
                <a:cs typeface="Calibri" pitchFamily="34" charset="-120"/>
              </a:rPr>
              <a:t>tidak bersyukur.</a:t>
            </a:r>
            <a:endParaRPr lang="en-US" sz="2600" dirty="0"/>
          </a:p>
        </p:txBody>
      </p:sp>
      <p:sp>
        <p:nvSpPr>
          <p:cNvPr id="9" name="Shape 6"/>
          <p:cNvSpPr/>
          <p:nvPr/>
        </p:nvSpPr>
        <p:spPr>
          <a:xfrm>
            <a:off x="4754880" y="1463040"/>
            <a:ext cx="3931920" cy="3108960"/>
          </a:xfrm>
          <a:prstGeom prst="roundRect">
            <a:avLst>
              <a:gd name="adj" fmla="val 3529"/>
            </a:avLst>
          </a:prstGeom>
          <a:solidFill>
            <a:srgbClr val="FFFFFF"/>
          </a:solidFill>
          <a:ln w="9525">
            <a:solidFill>
              <a:srgbClr val="DCE3EC"/>
            </a:solidFill>
            <a:prstDash val="solid"/>
          </a:ln>
          <a:effectLst>
            <a:outerShdw sx="100000" sy="100000" kx="0" ky="0" algn="bl" rotWithShape="0" blurRad="101600" dist="25400" dir="5400000">
              <a:srgbClr val="0F1E3D">
                <a:alpha val="12000"/>
              </a:srgbClr>
            </a:outerShdw>
          </a:effectLst>
        </p:spPr>
      </p:sp>
      <p:sp>
        <p:nvSpPr>
          <p:cNvPr id="10" name="Shape 7"/>
          <p:cNvSpPr/>
          <p:nvPr/>
        </p:nvSpPr>
        <p:spPr>
          <a:xfrm>
            <a:off x="5029200" y="1737360"/>
            <a:ext cx="731520" cy="731520"/>
          </a:xfrm>
          <a:prstGeom prst="ellipse">
            <a:avLst/>
          </a:prstGeom>
          <a:solidFill>
            <a:srgbClr val="FBF3DF"/>
          </a:solidFill>
          <a:ln w="12700">
            <a:solidFill>
              <a:srgbClr val="FBF3DF"/>
            </a:solidFill>
            <a:prstDash val="solid"/>
          </a:ln>
        </p:spPr>
      </p:sp>
      <p:pic>
        <p:nvPicPr>
          <p:cNvPr id="11" name="Image 1" descr="preencoded.png">    </p:cNvPr>
          <p:cNvPicPr>
            <a:picLocks noChangeAspect="1"/>
          </p:cNvPicPr>
          <p:nvPr/>
        </p:nvPicPr>
        <p:blipFill>
          <a:blip r:embed="rId2"/>
          <a:stretch>
            <a:fillRect/>
          </a:stretch>
        </p:blipFill>
        <p:spPr>
          <a:xfrm>
            <a:off x="5219395" y="1927555"/>
            <a:ext cx="351130" cy="351130"/>
          </a:xfrm>
          <a:prstGeom prst="rect">
            <a:avLst/>
          </a:prstGeom>
        </p:spPr>
      </p:pic>
      <p:sp>
        <p:nvSpPr>
          <p:cNvPr id="12" name="Text 8"/>
          <p:cNvSpPr txBox="1"/>
          <p:nvPr/>
        </p:nvSpPr>
        <p:spPr>
          <a:xfrm>
            <a:off x="5897880" y="1737360"/>
            <a:ext cx="2651760" cy="731520"/>
          </a:xfrm>
          <a:prstGeom prst="rect">
            <a:avLst/>
          </a:prstGeom>
          <a:noFill/>
          <a:ln/>
        </p:spPr>
        <p:txBody>
          <a:bodyPr wrap="square" lIns="0" tIns="0" rIns="0" bIns="0" rtlCol="0" anchor="ctr"/>
          <a:lstStyle/>
          <a:p>
            <a:pPr indent="0" marL="0">
              <a:buNone/>
            </a:pPr>
            <a:r>
              <a:rPr lang="en-US" sz="1600" b="1" dirty="0">
                <a:solidFill>
                  <a:srgbClr val="0F1E3D"/>
                </a:solidFill>
                <a:latin typeface="Calibri" pitchFamily="34" charset="0"/>
                <a:ea typeface="Calibri" pitchFamily="34" charset="-122"/>
                <a:cs typeface="Calibri" pitchFamily="34" charset="-120"/>
              </a:rPr>
              <a:t>Lebih daripada itu… dikira BONUS</a:t>
            </a:r>
            <a:endParaRPr lang="en-US" sz="1600" dirty="0"/>
          </a:p>
        </p:txBody>
      </p:sp>
      <p:sp>
        <p:nvSpPr>
          <p:cNvPr id="13" name="Shape 9"/>
          <p:cNvSpPr/>
          <p:nvPr/>
        </p:nvSpPr>
        <p:spPr>
          <a:xfrm>
            <a:off x="5029200" y="2743200"/>
            <a:ext cx="1600200" cy="438912"/>
          </a:xfrm>
          <a:prstGeom prst="roundRect">
            <a:avLst>
              <a:gd name="adj" fmla="val 25000"/>
            </a:avLst>
          </a:prstGeom>
          <a:solidFill>
            <a:srgbClr val="F3F6FA"/>
          </a:solidFill>
          <a:ln w="9525">
            <a:solidFill>
              <a:srgbClr val="F3F6FA"/>
            </a:solidFill>
            <a:prstDash val="solid"/>
          </a:ln>
        </p:spPr>
      </p:sp>
      <p:sp>
        <p:nvSpPr>
          <p:cNvPr id="14" name="Text 10"/>
          <p:cNvSpPr txBox="1"/>
          <p:nvPr/>
        </p:nvSpPr>
        <p:spPr>
          <a:xfrm>
            <a:off x="5138928" y="2743200"/>
            <a:ext cx="1380744" cy="438912"/>
          </a:xfrm>
          <a:prstGeom prst="rect">
            <a:avLst/>
          </a:prstGeom>
          <a:noFill/>
          <a:ln/>
        </p:spPr>
        <p:txBody>
          <a:bodyPr wrap="square" lIns="0" tIns="0" rIns="0" bIns="0" rtlCol="0" anchor="ctr"/>
          <a:lstStyle/>
          <a:p>
            <a:pPr algn="ctr" indent="0" marL="0">
              <a:buNone/>
            </a:pPr>
            <a:r>
              <a:rPr lang="en-US" sz="1350" b="1" dirty="0">
                <a:solidFill>
                  <a:srgbClr val="0F1E3D"/>
                </a:solidFill>
                <a:latin typeface="Calibri" pitchFamily="34" charset="0"/>
                <a:ea typeface="Calibri" pitchFamily="34" charset="-122"/>
                <a:cs typeface="Calibri" pitchFamily="34" charset="-120"/>
              </a:rPr>
              <a:t>Syirik</a:t>
            </a:r>
            <a:endParaRPr lang="en-US" sz="1350" dirty="0"/>
          </a:p>
        </p:txBody>
      </p:sp>
      <p:sp>
        <p:nvSpPr>
          <p:cNvPr id="15" name="Shape 11"/>
          <p:cNvSpPr/>
          <p:nvPr/>
        </p:nvSpPr>
        <p:spPr>
          <a:xfrm>
            <a:off x="6766560" y="2743200"/>
            <a:ext cx="1600200" cy="438912"/>
          </a:xfrm>
          <a:prstGeom prst="roundRect">
            <a:avLst>
              <a:gd name="adj" fmla="val 25000"/>
            </a:avLst>
          </a:prstGeom>
          <a:solidFill>
            <a:srgbClr val="F3F6FA"/>
          </a:solidFill>
          <a:ln w="9525">
            <a:solidFill>
              <a:srgbClr val="F3F6FA"/>
            </a:solidFill>
            <a:prstDash val="solid"/>
          </a:ln>
        </p:spPr>
      </p:sp>
      <p:sp>
        <p:nvSpPr>
          <p:cNvPr id="16" name="Text 12"/>
          <p:cNvSpPr txBox="1"/>
          <p:nvPr/>
        </p:nvSpPr>
        <p:spPr>
          <a:xfrm>
            <a:off x="6876288" y="2743200"/>
            <a:ext cx="1380744" cy="438912"/>
          </a:xfrm>
          <a:prstGeom prst="rect">
            <a:avLst/>
          </a:prstGeom>
          <a:noFill/>
          <a:ln/>
        </p:spPr>
        <p:txBody>
          <a:bodyPr wrap="square" lIns="0" tIns="0" rIns="0" bIns="0" rtlCol="0" anchor="ctr"/>
          <a:lstStyle/>
          <a:p>
            <a:pPr algn="ctr" indent="0" marL="0">
              <a:buNone/>
            </a:pPr>
            <a:r>
              <a:rPr lang="en-US" sz="1350" b="1" dirty="0">
                <a:solidFill>
                  <a:srgbClr val="0F1E3D"/>
                </a:solidFill>
                <a:latin typeface="Calibri" pitchFamily="34" charset="0"/>
                <a:ea typeface="Calibri" pitchFamily="34" charset="-122"/>
                <a:cs typeface="Calibri" pitchFamily="34" charset="-120"/>
              </a:rPr>
              <a:t>Murtad</a:t>
            </a:r>
            <a:endParaRPr lang="en-US" sz="1350" dirty="0"/>
          </a:p>
        </p:txBody>
      </p:sp>
      <p:sp>
        <p:nvSpPr>
          <p:cNvPr id="17" name="Shape 13"/>
          <p:cNvSpPr/>
          <p:nvPr/>
        </p:nvSpPr>
        <p:spPr>
          <a:xfrm>
            <a:off x="5029200" y="3310128"/>
            <a:ext cx="1600200" cy="438912"/>
          </a:xfrm>
          <a:prstGeom prst="roundRect">
            <a:avLst>
              <a:gd name="adj" fmla="val 25000"/>
            </a:avLst>
          </a:prstGeom>
          <a:solidFill>
            <a:srgbClr val="F3F6FA"/>
          </a:solidFill>
          <a:ln w="9525">
            <a:solidFill>
              <a:srgbClr val="F3F6FA"/>
            </a:solidFill>
            <a:prstDash val="solid"/>
          </a:ln>
        </p:spPr>
      </p:sp>
      <p:sp>
        <p:nvSpPr>
          <p:cNvPr id="18" name="Text 14"/>
          <p:cNvSpPr txBox="1"/>
          <p:nvPr/>
        </p:nvSpPr>
        <p:spPr>
          <a:xfrm>
            <a:off x="5138928" y="3310128"/>
            <a:ext cx="1380744" cy="438912"/>
          </a:xfrm>
          <a:prstGeom prst="rect">
            <a:avLst/>
          </a:prstGeom>
          <a:noFill/>
          <a:ln/>
        </p:spPr>
        <p:txBody>
          <a:bodyPr wrap="square" lIns="0" tIns="0" rIns="0" bIns="0" rtlCol="0" anchor="ctr"/>
          <a:lstStyle/>
          <a:p>
            <a:pPr algn="ctr" indent="0" marL="0">
              <a:buNone/>
            </a:pPr>
            <a:r>
              <a:rPr lang="en-US" sz="1350" b="1" dirty="0">
                <a:solidFill>
                  <a:srgbClr val="0F1E3D"/>
                </a:solidFill>
                <a:latin typeface="Calibri" pitchFamily="34" charset="0"/>
                <a:ea typeface="Calibri" pitchFamily="34" charset="-122"/>
                <a:cs typeface="Calibri" pitchFamily="34" charset="-120"/>
              </a:rPr>
              <a:t>Dosa besar</a:t>
            </a:r>
            <a:endParaRPr lang="en-US" sz="1350" dirty="0"/>
          </a:p>
        </p:txBody>
      </p:sp>
      <p:sp>
        <p:nvSpPr>
          <p:cNvPr id="19" name="Shape 15"/>
          <p:cNvSpPr/>
          <p:nvPr/>
        </p:nvSpPr>
        <p:spPr>
          <a:xfrm>
            <a:off x="6766560" y="3310128"/>
            <a:ext cx="1600200" cy="438912"/>
          </a:xfrm>
          <a:prstGeom prst="roundRect">
            <a:avLst>
              <a:gd name="adj" fmla="val 25000"/>
            </a:avLst>
          </a:prstGeom>
          <a:solidFill>
            <a:srgbClr val="F3F6FA"/>
          </a:solidFill>
          <a:ln w="9525">
            <a:solidFill>
              <a:srgbClr val="F3F6FA"/>
            </a:solidFill>
            <a:prstDash val="solid"/>
          </a:ln>
        </p:spPr>
      </p:sp>
      <p:sp>
        <p:nvSpPr>
          <p:cNvPr id="20" name="Text 16"/>
          <p:cNvSpPr txBox="1"/>
          <p:nvPr/>
        </p:nvSpPr>
        <p:spPr>
          <a:xfrm>
            <a:off x="6876288" y="3310128"/>
            <a:ext cx="1380744" cy="438912"/>
          </a:xfrm>
          <a:prstGeom prst="rect">
            <a:avLst/>
          </a:prstGeom>
          <a:noFill/>
          <a:ln/>
        </p:spPr>
        <p:txBody>
          <a:bodyPr wrap="square" lIns="0" tIns="0" rIns="0" bIns="0" rtlCol="0" anchor="ctr"/>
          <a:lstStyle/>
          <a:p>
            <a:pPr algn="ctr" indent="0" marL="0">
              <a:buNone/>
            </a:pPr>
            <a:r>
              <a:rPr lang="en-US" sz="1350" b="1" dirty="0">
                <a:solidFill>
                  <a:srgbClr val="0F1E3D"/>
                </a:solidFill>
                <a:latin typeface="Calibri" pitchFamily="34" charset="0"/>
                <a:ea typeface="Calibri" pitchFamily="34" charset="-122"/>
                <a:cs typeface="Calibri" pitchFamily="34" charset="-120"/>
              </a:rPr>
              <a:t>Maksiat</a:t>
            </a:r>
            <a:endParaRPr lang="en-US" sz="1350" dirty="0"/>
          </a:p>
        </p:txBody>
      </p:sp>
      <p:sp>
        <p:nvSpPr>
          <p:cNvPr id="21" name="Shape 17"/>
          <p:cNvSpPr/>
          <p:nvPr/>
        </p:nvSpPr>
        <p:spPr>
          <a:xfrm>
            <a:off x="5029200" y="3877056"/>
            <a:ext cx="1600200" cy="438912"/>
          </a:xfrm>
          <a:prstGeom prst="roundRect">
            <a:avLst>
              <a:gd name="adj" fmla="val 25000"/>
            </a:avLst>
          </a:prstGeom>
          <a:solidFill>
            <a:srgbClr val="F3F6FA"/>
          </a:solidFill>
          <a:ln w="9525">
            <a:solidFill>
              <a:srgbClr val="F3F6FA"/>
            </a:solidFill>
            <a:prstDash val="solid"/>
          </a:ln>
        </p:spPr>
      </p:sp>
      <p:sp>
        <p:nvSpPr>
          <p:cNvPr id="22" name="Text 18"/>
          <p:cNvSpPr txBox="1"/>
          <p:nvPr/>
        </p:nvSpPr>
        <p:spPr>
          <a:xfrm>
            <a:off x="5138928" y="3877056"/>
            <a:ext cx="1380744" cy="438912"/>
          </a:xfrm>
          <a:prstGeom prst="rect">
            <a:avLst/>
          </a:prstGeom>
          <a:noFill/>
          <a:ln/>
        </p:spPr>
        <p:txBody>
          <a:bodyPr wrap="square" lIns="0" tIns="0" rIns="0" bIns="0" rtlCol="0" anchor="ctr"/>
          <a:lstStyle/>
          <a:p>
            <a:pPr algn="ctr" indent="0" marL="0">
              <a:buNone/>
            </a:pPr>
            <a:r>
              <a:rPr lang="en-US" sz="1350" b="1" dirty="0">
                <a:solidFill>
                  <a:srgbClr val="0F1E3D"/>
                </a:solidFill>
                <a:latin typeface="Calibri" pitchFamily="34" charset="0"/>
                <a:ea typeface="Calibri" pitchFamily="34" charset="-122"/>
                <a:cs typeface="Calibri" pitchFamily="34" charset="-120"/>
              </a:rPr>
              <a:t>Dan lain-lain</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E3D"/>
        </a:solidFill>
      </p:bgPr>
    </p:bg>
    <p:spTree>
      <p:nvGrpSpPr>
        <p:cNvPr id="1" name=""/>
        <p:cNvGrpSpPr/>
        <p:nvPr/>
      </p:nvGrpSpPr>
      <p:grpSpPr>
        <a:xfrm>
          <a:off x="0" y="0"/>
          <a:ext cx="0" cy="0"/>
          <a:chOff x="0" y="0"/>
          <a:chExt cx="0" cy="0"/>
        </a:xfrm>
      </p:grpSpPr>
      <p:pic>
        <p:nvPicPr>
          <p:cNvPr id="2" name="Image 0" descr="/tmp/claude-0/-home-user-Shukery-Azizan/b66663cb-20be-5bd3-935d-65edbae5e3fd/scratchpad/build/assets/pattern.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txBox="1"/>
          <p:nvPr/>
        </p:nvSpPr>
        <p:spPr>
          <a:xfrm>
            <a:off x="640080" y="1097280"/>
            <a:ext cx="2926080" cy="2011680"/>
          </a:xfrm>
          <a:prstGeom prst="rect">
            <a:avLst/>
          </a:prstGeom>
          <a:noFill/>
          <a:ln/>
        </p:spPr>
        <p:txBody>
          <a:bodyPr wrap="square" lIns="0" tIns="0" rIns="0" bIns="0" rtlCol="0" anchor="ctr"/>
          <a:lstStyle/>
          <a:p>
            <a:pPr indent="0" marL="0">
              <a:buNone/>
            </a:pPr>
            <a:r>
              <a:rPr lang="en-US" sz="15000" b="1" dirty="0">
                <a:solidFill>
                  <a:srgbClr val="D9A93A"/>
                </a:solidFill>
                <a:latin typeface="Calibri" pitchFamily="34" charset="0"/>
                <a:ea typeface="Calibri" pitchFamily="34" charset="-122"/>
                <a:cs typeface="Calibri" pitchFamily="34" charset="-120"/>
              </a:rPr>
              <a:t>03</a:t>
            </a:r>
            <a:endParaRPr lang="en-US" sz="15000" dirty="0"/>
          </a:p>
        </p:txBody>
      </p:sp>
      <p:sp>
        <p:nvSpPr>
          <p:cNvPr id="4" name="Text 1"/>
          <p:cNvSpPr txBox="1"/>
          <p:nvPr/>
        </p:nvSpPr>
        <p:spPr>
          <a:xfrm>
            <a:off x="3611880" y="1600200"/>
            <a:ext cx="4572000" cy="256032"/>
          </a:xfrm>
          <a:prstGeom prst="rect">
            <a:avLst/>
          </a:prstGeom>
          <a:noFill/>
          <a:ln/>
        </p:spPr>
        <p:txBody>
          <a:bodyPr wrap="square" lIns="0" tIns="0" rIns="0" bIns="0" rtlCol="0" anchor="t"/>
          <a:lstStyle/>
          <a:p>
            <a:pPr indent="0" marL="0">
              <a:buNone/>
            </a:pPr>
            <a:r>
              <a:rPr lang="en-US" sz="1100" b="1" spc="200" kern="0" dirty="0">
                <a:solidFill>
                  <a:srgbClr val="D9A93A"/>
                </a:solidFill>
                <a:latin typeface="Calibri" pitchFamily="34" charset="0"/>
                <a:ea typeface="Calibri" pitchFamily="34" charset="-122"/>
                <a:cs typeface="Calibri" pitchFamily="34" charset="-120"/>
              </a:rPr>
              <a:t>BAHAGIAN 3</a:t>
            </a:r>
            <a:endParaRPr lang="en-US" sz="1100" dirty="0"/>
          </a:p>
        </p:txBody>
      </p:sp>
      <p:sp>
        <p:nvSpPr>
          <p:cNvPr id="5" name="Text 2"/>
          <p:cNvSpPr txBox="1"/>
          <p:nvPr/>
        </p:nvSpPr>
        <p:spPr>
          <a:xfrm>
            <a:off x="3611880" y="1874520"/>
            <a:ext cx="4937760" cy="685800"/>
          </a:xfrm>
          <a:prstGeom prst="rect">
            <a:avLst/>
          </a:prstGeom>
          <a:noFill/>
          <a:ln/>
        </p:spPr>
        <p:txBody>
          <a:bodyPr wrap="square" lIns="0" tIns="0" rIns="0" bIns="0" rtlCol="0" anchor="t"/>
          <a:lstStyle/>
          <a:p>
            <a:pPr indent="0" marL="0">
              <a:lnSpc>
                <a:spcPct val="95000"/>
              </a:lnSpc>
              <a:buNone/>
            </a:pPr>
            <a:r>
              <a:rPr lang="en-US" sz="3800" b="1" dirty="0">
                <a:solidFill>
                  <a:srgbClr val="FFFFFF"/>
                </a:solidFill>
                <a:latin typeface="Calibri" pitchFamily="34" charset="0"/>
                <a:ea typeface="Calibri" pitchFamily="34" charset="-122"/>
                <a:cs typeface="Calibri" pitchFamily="34" charset="-120"/>
              </a:rPr>
              <a:t>Serangan 4 Penjuru</a:t>
            </a:r>
            <a:endParaRPr lang="en-US" sz="3800" dirty="0"/>
          </a:p>
        </p:txBody>
      </p:sp>
      <p:sp>
        <p:nvSpPr>
          <p:cNvPr id="6" name="Text 3"/>
          <p:cNvSpPr txBox="1"/>
          <p:nvPr/>
        </p:nvSpPr>
        <p:spPr>
          <a:xfrm>
            <a:off x="3611880" y="2697480"/>
            <a:ext cx="4937760" cy="457200"/>
          </a:xfrm>
          <a:prstGeom prst="rect">
            <a:avLst/>
          </a:prstGeom>
          <a:noFill/>
          <a:ln/>
        </p:spPr>
        <p:txBody>
          <a:bodyPr wrap="square" lIns="0" tIns="0" rIns="0" bIns="0" rtlCol="0" anchor="t"/>
          <a:lstStyle/>
          <a:p>
            <a:pPr indent="0" marL="0">
              <a:buNone/>
            </a:pPr>
            <a:r>
              <a:rPr lang="en-US" sz="1700" dirty="0">
                <a:solidFill>
                  <a:srgbClr val="C9D3E6"/>
                </a:solidFill>
                <a:latin typeface="Calibri" pitchFamily="34" charset="0"/>
                <a:ea typeface="Calibri" pitchFamily="34" charset="-122"/>
                <a:cs typeface="Calibri" pitchFamily="34" charset="-120"/>
              </a:rPr>
              <a:t>Hadapan, belakang, kanan dan kiri</a:t>
            </a:r>
            <a:endParaRPr lang="en-US" sz="1700" dirty="0"/>
          </a:p>
        </p:txBody>
      </p:sp>
      <p:sp>
        <p:nvSpPr>
          <p:cNvPr id="7" name="Shape 4"/>
          <p:cNvSpPr/>
          <p:nvPr/>
        </p:nvSpPr>
        <p:spPr>
          <a:xfrm>
            <a:off x="7818120" y="3977640"/>
            <a:ext cx="731520" cy="731520"/>
          </a:xfrm>
          <a:prstGeom prst="ellipse">
            <a:avLst/>
          </a:prstGeom>
          <a:solidFill>
            <a:srgbClr val="1B2F5A"/>
          </a:solidFill>
          <a:ln w="12700">
            <a:solidFill>
              <a:srgbClr val="1B2F5A"/>
            </a:solidFill>
            <a:prstDash val="solid"/>
          </a:ln>
        </p:spPr>
      </p:sp>
      <p:pic>
        <p:nvPicPr>
          <p:cNvPr id="8" name="Image 1" descr="preencoded.png">    </p:cNvPr>
          <p:cNvPicPr>
            <a:picLocks noChangeAspect="1"/>
          </p:cNvPicPr>
          <p:nvPr/>
        </p:nvPicPr>
        <p:blipFill>
          <a:blip r:embed="rId2"/>
          <a:stretch>
            <a:fillRect/>
          </a:stretch>
        </p:blipFill>
        <p:spPr>
          <a:xfrm>
            <a:off x="8008315" y="4167835"/>
            <a:ext cx="351130" cy="35113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2743200" cy="256032"/>
          </a:xfrm>
          <a:prstGeom prst="rect">
            <a:avLst/>
          </a:prstGeom>
          <a:noFill/>
          <a:ln/>
        </p:spPr>
        <p:txBody>
          <a:bodyPr wrap="square" lIns="0" tIns="0" rIns="0" bIns="0" rtlCol="0" anchor="t"/>
          <a:lstStyle/>
          <a:p>
            <a:pPr indent="0" marL="0">
              <a:buNone/>
            </a:pPr>
            <a:r>
              <a:rPr lang="en-US" sz="1100" b="1" spc="200" kern="0" dirty="0">
                <a:solidFill>
                  <a:srgbClr val="9A6B0F"/>
                </a:solidFill>
                <a:latin typeface="Calibri" pitchFamily="34" charset="0"/>
                <a:ea typeface="Calibri" pitchFamily="34" charset="-122"/>
                <a:cs typeface="Calibri" pitchFamily="34" charset="-120"/>
              </a:rPr>
              <a:t>AL-A'RAF : 17</a:t>
            </a:r>
            <a:endParaRPr lang="en-US" sz="1100" dirty="0"/>
          </a:p>
        </p:txBody>
      </p:sp>
      <p:sp>
        <p:nvSpPr>
          <p:cNvPr id="3" name="Text 1"/>
          <p:cNvSpPr txBox="1"/>
          <p:nvPr/>
        </p:nvSpPr>
        <p:spPr>
          <a:xfrm>
            <a:off x="457200" y="603504"/>
            <a:ext cx="8229600" cy="566928"/>
          </a:xfrm>
          <a:prstGeom prst="rect">
            <a:avLst/>
          </a:prstGeom>
          <a:noFill/>
          <a:ln/>
        </p:spPr>
        <p:txBody>
          <a:bodyPr wrap="square" lIns="0" tIns="0" rIns="0" bIns="0" rtlCol="0" anchor="ctr"/>
          <a:lstStyle/>
          <a:p>
            <a:pPr indent="0" marL="0">
              <a:buNone/>
            </a:pPr>
            <a:r>
              <a:rPr lang="en-US" sz="2600" b="1" dirty="0">
                <a:solidFill>
                  <a:srgbClr val="0F1E3D"/>
                </a:solidFill>
                <a:latin typeface="Calibri" pitchFamily="34" charset="0"/>
                <a:ea typeface="Calibri" pitchFamily="34" charset="-122"/>
                <a:cs typeface="Calibri" pitchFamily="34" charset="-120"/>
              </a:rPr>
              <a:t>Iblis Menyerang dari Semua Arah</a:t>
            </a:r>
            <a:endParaRPr lang="en-US" sz="2600" dirty="0"/>
          </a:p>
        </p:txBody>
      </p:sp>
      <p:sp>
        <p:nvSpPr>
          <p:cNvPr id="4" name="Shape 2"/>
          <p:cNvSpPr/>
          <p:nvPr/>
        </p:nvSpPr>
        <p:spPr>
          <a:xfrm>
            <a:off x="3154680" y="1645920"/>
            <a:ext cx="2834640" cy="2834640"/>
          </a:xfrm>
          <a:prstGeom prst="ellipse">
            <a:avLst/>
          </a:prstGeom>
          <a:solidFill>
            <a:srgbClr val="FFFFFF">
              <a:alpha val="0"/>
            </a:srgbClr>
          </a:solidFill>
          <a:ln w="12700">
            <a:solidFill>
              <a:srgbClr val="B9C4D6"/>
            </a:solidFill>
            <a:prstDash val="dash"/>
          </a:ln>
        </p:spPr>
      </p:sp>
      <p:sp>
        <p:nvSpPr>
          <p:cNvPr id="5" name="Shape 3"/>
          <p:cNvSpPr/>
          <p:nvPr/>
        </p:nvSpPr>
        <p:spPr>
          <a:xfrm>
            <a:off x="4023360" y="2514600"/>
            <a:ext cx="1097280" cy="1097280"/>
          </a:xfrm>
          <a:prstGeom prst="ellipse">
            <a:avLst/>
          </a:prstGeom>
          <a:solidFill>
            <a:srgbClr val="0F1E3D"/>
          </a:solidFill>
          <a:ln w="12700">
            <a:solidFill>
              <a:srgbClr val="0F1E3D"/>
            </a:solidFill>
            <a:prstDash val="solid"/>
          </a:ln>
        </p:spPr>
      </p:sp>
      <p:pic>
        <p:nvPicPr>
          <p:cNvPr id="6" name="Image 0" descr="preencoded.png">    </p:cNvPr>
          <p:cNvPicPr>
            <a:picLocks noChangeAspect="1"/>
          </p:cNvPicPr>
          <p:nvPr/>
        </p:nvPicPr>
        <p:blipFill>
          <a:blip r:embed="rId1"/>
          <a:stretch>
            <a:fillRect/>
          </a:stretch>
        </p:blipFill>
        <p:spPr>
          <a:xfrm>
            <a:off x="4308653" y="2799893"/>
            <a:ext cx="526694" cy="526694"/>
          </a:xfrm>
          <a:prstGeom prst="rect">
            <a:avLst/>
          </a:prstGeom>
        </p:spPr>
      </p:pic>
      <p:sp>
        <p:nvSpPr>
          <p:cNvPr id="7" name="Text 4"/>
          <p:cNvSpPr txBox="1"/>
          <p:nvPr/>
        </p:nvSpPr>
        <p:spPr>
          <a:xfrm>
            <a:off x="4023360" y="3657600"/>
            <a:ext cx="1097280" cy="274320"/>
          </a:xfrm>
          <a:prstGeom prst="rect">
            <a:avLst/>
          </a:prstGeom>
          <a:noFill/>
          <a:ln/>
        </p:spPr>
        <p:txBody>
          <a:bodyPr wrap="square" lIns="0" tIns="0" rIns="0" bIns="0" rtlCol="0" anchor="t"/>
          <a:lstStyle/>
          <a:p>
            <a:pPr algn="ctr" indent="0" marL="0">
              <a:buNone/>
            </a:pPr>
            <a:r>
              <a:rPr lang="en-US" sz="1200" b="1" dirty="0">
                <a:solidFill>
                  <a:srgbClr val="0F1E3D"/>
                </a:solidFill>
                <a:latin typeface="Calibri" pitchFamily="34" charset="0"/>
                <a:ea typeface="Calibri" pitchFamily="34" charset="-122"/>
                <a:cs typeface="Calibri" pitchFamily="34" charset="-120"/>
              </a:rPr>
              <a:t>KITA</a:t>
            </a:r>
            <a:endParaRPr lang="en-US" sz="1200" dirty="0"/>
          </a:p>
        </p:txBody>
      </p:sp>
      <p:sp>
        <p:nvSpPr>
          <p:cNvPr id="8" name="Shape 5"/>
          <p:cNvSpPr/>
          <p:nvPr/>
        </p:nvSpPr>
        <p:spPr>
          <a:xfrm>
            <a:off x="3246120" y="1261872"/>
            <a:ext cx="2651760" cy="658368"/>
          </a:xfrm>
          <a:prstGeom prst="roundRect">
            <a:avLst>
              <a:gd name="adj" fmla="val 16667"/>
            </a:avLst>
          </a:prstGeom>
          <a:solidFill>
            <a:srgbClr val="FFFFFF"/>
          </a:solidFill>
          <a:ln w="9525">
            <a:solidFill>
              <a:srgbClr val="DCE3EC"/>
            </a:solidFill>
            <a:prstDash val="solid"/>
          </a:ln>
          <a:effectLst>
            <a:outerShdw sx="100000" sy="100000" kx="0" ky="0" algn="bl" rotWithShape="0" blurRad="101600" dist="25400" dir="5400000">
              <a:srgbClr val="0F1E3D">
                <a:alpha val="12000"/>
              </a:srgbClr>
            </a:outerShdw>
          </a:effectLst>
        </p:spPr>
      </p:sp>
      <p:sp>
        <p:nvSpPr>
          <p:cNvPr id="9" name="Text 6"/>
          <p:cNvSpPr txBox="1"/>
          <p:nvPr/>
        </p:nvSpPr>
        <p:spPr>
          <a:xfrm>
            <a:off x="3840480" y="1261872"/>
            <a:ext cx="1965960" cy="658368"/>
          </a:xfrm>
          <a:prstGeom prst="rect">
            <a:avLst/>
          </a:prstGeom>
          <a:noFill/>
          <a:ln/>
        </p:spPr>
        <p:txBody>
          <a:bodyPr wrap="square" lIns="0" tIns="0" rIns="0" bIns="0" rtlCol="0" anchor="ctr"/>
          <a:lstStyle/>
          <a:p>
            <a:pPr indent="0" marL="0">
              <a:buNone/>
            </a:pPr>
            <a:r>
              <a:rPr lang="en-US" sz="1500" b="1" dirty="0">
                <a:solidFill>
                  <a:srgbClr val="0F1E3D"/>
                </a:solidFill>
                <a:latin typeface="Calibri" pitchFamily="34" charset="0"/>
                <a:ea typeface="Calibri" pitchFamily="34" charset="-122"/>
                <a:cs typeface="Calibri" pitchFamily="34" charset="-120"/>
              </a:rPr>
              <a:t>Hadapan</a:t>
            </a:r>
            <a:endParaRPr lang="en-US" sz="1500" dirty="0"/>
          </a:p>
          <a:p>
            <a:pPr indent="0" marL="0">
              <a:buNone/>
            </a:pPr>
            <a:r>
              <a:rPr lang="en-US" sz="1200" dirty="0">
                <a:solidFill>
                  <a:srgbClr val="5A6880"/>
                </a:solidFill>
                <a:latin typeface="Calibri" pitchFamily="34" charset="0"/>
                <a:ea typeface="Calibri" pitchFamily="34" charset="-122"/>
                <a:cs typeface="Calibri" pitchFamily="34" charset="-120"/>
              </a:rPr>
              <a:t>Dunia di depan mata</a:t>
            </a:r>
            <a:endParaRPr lang="en-US" sz="1500" dirty="0"/>
          </a:p>
        </p:txBody>
      </p:sp>
      <p:sp>
        <p:nvSpPr>
          <p:cNvPr id="10" name="Shape 7"/>
          <p:cNvSpPr/>
          <p:nvPr/>
        </p:nvSpPr>
        <p:spPr>
          <a:xfrm>
            <a:off x="3383280" y="1408176"/>
            <a:ext cx="365760" cy="365760"/>
          </a:xfrm>
          <a:prstGeom prst="ellipse">
            <a:avLst/>
          </a:prstGeom>
          <a:solidFill>
            <a:srgbClr val="FBF3DF"/>
          </a:solidFill>
          <a:ln w="12700">
            <a:solidFill>
              <a:srgbClr val="FBF3DF"/>
            </a:solidFill>
            <a:prstDash val="solid"/>
          </a:ln>
        </p:spPr>
      </p:sp>
      <p:pic>
        <p:nvPicPr>
          <p:cNvPr id="11" name="Image 1" descr="preencoded.png">    </p:cNvPr>
          <p:cNvPicPr>
            <a:picLocks noChangeAspect="1"/>
          </p:cNvPicPr>
          <p:nvPr/>
        </p:nvPicPr>
        <p:blipFill>
          <a:blip r:embed="rId2"/>
          <a:stretch>
            <a:fillRect/>
          </a:stretch>
        </p:blipFill>
        <p:spPr>
          <a:xfrm>
            <a:off x="3478378" y="1503274"/>
            <a:ext cx="175565" cy="175565"/>
          </a:xfrm>
          <a:prstGeom prst="rect">
            <a:avLst/>
          </a:prstGeom>
        </p:spPr>
      </p:pic>
      <p:sp>
        <p:nvSpPr>
          <p:cNvPr id="12" name="Shape 8"/>
          <p:cNvSpPr/>
          <p:nvPr/>
        </p:nvSpPr>
        <p:spPr>
          <a:xfrm>
            <a:off x="3246120" y="4206240"/>
            <a:ext cx="2651760" cy="658368"/>
          </a:xfrm>
          <a:prstGeom prst="roundRect">
            <a:avLst>
              <a:gd name="adj" fmla="val 16667"/>
            </a:avLst>
          </a:prstGeom>
          <a:solidFill>
            <a:srgbClr val="FFFFFF"/>
          </a:solidFill>
          <a:ln w="9525">
            <a:solidFill>
              <a:srgbClr val="DCE3EC"/>
            </a:solidFill>
            <a:prstDash val="solid"/>
          </a:ln>
          <a:effectLst>
            <a:outerShdw sx="100000" sy="100000" kx="0" ky="0" algn="bl" rotWithShape="0" blurRad="101600" dist="25400" dir="5400000">
              <a:srgbClr val="0F1E3D">
                <a:alpha val="12000"/>
              </a:srgbClr>
            </a:outerShdw>
          </a:effectLst>
        </p:spPr>
      </p:sp>
      <p:sp>
        <p:nvSpPr>
          <p:cNvPr id="13" name="Text 9"/>
          <p:cNvSpPr txBox="1"/>
          <p:nvPr/>
        </p:nvSpPr>
        <p:spPr>
          <a:xfrm>
            <a:off x="3840480" y="4206240"/>
            <a:ext cx="1965960" cy="658368"/>
          </a:xfrm>
          <a:prstGeom prst="rect">
            <a:avLst/>
          </a:prstGeom>
          <a:noFill/>
          <a:ln/>
        </p:spPr>
        <p:txBody>
          <a:bodyPr wrap="square" lIns="0" tIns="0" rIns="0" bIns="0" rtlCol="0" anchor="ctr"/>
          <a:lstStyle/>
          <a:p>
            <a:pPr indent="0" marL="0">
              <a:buNone/>
            </a:pPr>
            <a:r>
              <a:rPr lang="en-US" sz="1500" b="1" dirty="0">
                <a:solidFill>
                  <a:srgbClr val="0F1E3D"/>
                </a:solidFill>
                <a:latin typeface="Calibri" pitchFamily="34" charset="0"/>
                <a:ea typeface="Calibri" pitchFamily="34" charset="-122"/>
                <a:cs typeface="Calibri" pitchFamily="34" charset="-120"/>
              </a:rPr>
              <a:t>Belakang</a:t>
            </a:r>
            <a:endParaRPr lang="en-US" sz="1500" dirty="0"/>
          </a:p>
          <a:p>
            <a:pPr indent="0" marL="0">
              <a:buNone/>
            </a:pPr>
            <a:r>
              <a:rPr lang="en-US" sz="1200" dirty="0">
                <a:solidFill>
                  <a:srgbClr val="5A6880"/>
                </a:solidFill>
                <a:latin typeface="Calibri" pitchFamily="34" charset="0"/>
                <a:ea typeface="Calibri" pitchFamily="34" charset="-122"/>
                <a:cs typeface="Calibri" pitchFamily="34" charset="-120"/>
              </a:rPr>
              <a:t>Masa silam &amp; putus asa</a:t>
            </a:r>
            <a:endParaRPr lang="en-US" sz="1500" dirty="0"/>
          </a:p>
        </p:txBody>
      </p:sp>
      <p:sp>
        <p:nvSpPr>
          <p:cNvPr id="14" name="Shape 10"/>
          <p:cNvSpPr/>
          <p:nvPr/>
        </p:nvSpPr>
        <p:spPr>
          <a:xfrm>
            <a:off x="3383280" y="4352544"/>
            <a:ext cx="365760" cy="365760"/>
          </a:xfrm>
          <a:prstGeom prst="ellipse">
            <a:avLst/>
          </a:prstGeom>
          <a:solidFill>
            <a:srgbClr val="FBF3DF"/>
          </a:solidFill>
          <a:ln w="12700">
            <a:solidFill>
              <a:srgbClr val="FBF3DF"/>
            </a:solidFill>
            <a:prstDash val="solid"/>
          </a:ln>
        </p:spPr>
      </p:sp>
      <p:pic>
        <p:nvPicPr>
          <p:cNvPr id="15" name="Image 2" descr="preencoded.png">    </p:cNvPr>
          <p:cNvPicPr>
            <a:picLocks noChangeAspect="1"/>
          </p:cNvPicPr>
          <p:nvPr/>
        </p:nvPicPr>
        <p:blipFill>
          <a:blip r:embed="rId3"/>
          <a:stretch>
            <a:fillRect/>
          </a:stretch>
        </p:blipFill>
        <p:spPr>
          <a:xfrm>
            <a:off x="3478378" y="4447642"/>
            <a:ext cx="175565" cy="175565"/>
          </a:xfrm>
          <a:prstGeom prst="rect">
            <a:avLst/>
          </a:prstGeom>
        </p:spPr>
      </p:pic>
      <p:sp>
        <p:nvSpPr>
          <p:cNvPr id="16" name="Shape 11"/>
          <p:cNvSpPr/>
          <p:nvPr/>
        </p:nvSpPr>
        <p:spPr>
          <a:xfrm>
            <a:off x="457200" y="2743200"/>
            <a:ext cx="2606040" cy="658368"/>
          </a:xfrm>
          <a:prstGeom prst="roundRect">
            <a:avLst>
              <a:gd name="adj" fmla="val 16667"/>
            </a:avLst>
          </a:prstGeom>
          <a:solidFill>
            <a:srgbClr val="FFFFFF"/>
          </a:solidFill>
          <a:ln w="9525">
            <a:solidFill>
              <a:srgbClr val="DCE3EC"/>
            </a:solidFill>
            <a:prstDash val="solid"/>
          </a:ln>
          <a:effectLst>
            <a:outerShdw sx="100000" sy="100000" kx="0" ky="0" algn="bl" rotWithShape="0" blurRad="101600" dist="25400" dir="5400000">
              <a:srgbClr val="0F1E3D">
                <a:alpha val="12000"/>
              </a:srgbClr>
            </a:outerShdw>
          </a:effectLst>
        </p:spPr>
      </p:sp>
      <p:sp>
        <p:nvSpPr>
          <p:cNvPr id="17" name="Text 12"/>
          <p:cNvSpPr txBox="1"/>
          <p:nvPr/>
        </p:nvSpPr>
        <p:spPr>
          <a:xfrm>
            <a:off x="1051560" y="2743200"/>
            <a:ext cx="1920240" cy="658368"/>
          </a:xfrm>
          <a:prstGeom prst="rect">
            <a:avLst/>
          </a:prstGeom>
          <a:noFill/>
          <a:ln/>
        </p:spPr>
        <p:txBody>
          <a:bodyPr wrap="square" lIns="0" tIns="0" rIns="0" bIns="0" rtlCol="0" anchor="ctr"/>
          <a:lstStyle/>
          <a:p>
            <a:pPr indent="0" marL="0">
              <a:buNone/>
            </a:pPr>
            <a:r>
              <a:rPr lang="en-US" sz="1500" b="1" dirty="0">
                <a:solidFill>
                  <a:srgbClr val="0F1E3D"/>
                </a:solidFill>
                <a:latin typeface="Calibri" pitchFamily="34" charset="0"/>
                <a:ea typeface="Calibri" pitchFamily="34" charset="-122"/>
                <a:cs typeface="Calibri" pitchFamily="34" charset="-120"/>
              </a:rPr>
              <a:t>Kiri</a:t>
            </a:r>
            <a:endParaRPr lang="en-US" sz="1500" dirty="0"/>
          </a:p>
          <a:p>
            <a:pPr indent="0" marL="0">
              <a:buNone/>
            </a:pPr>
            <a:r>
              <a:rPr lang="en-US" sz="1200" dirty="0">
                <a:solidFill>
                  <a:srgbClr val="5A6880"/>
                </a:solidFill>
                <a:latin typeface="Calibri" pitchFamily="34" charset="0"/>
                <a:ea typeface="Calibri" pitchFamily="34" charset="-122"/>
                <a:cs typeface="Calibri" pitchFamily="34" charset="-120"/>
              </a:rPr>
              <a:t>Kawan &amp; nafsu jahat</a:t>
            </a:r>
            <a:endParaRPr lang="en-US" sz="1500" dirty="0"/>
          </a:p>
        </p:txBody>
      </p:sp>
      <p:sp>
        <p:nvSpPr>
          <p:cNvPr id="18" name="Shape 13"/>
          <p:cNvSpPr/>
          <p:nvPr/>
        </p:nvSpPr>
        <p:spPr>
          <a:xfrm>
            <a:off x="594360" y="2889504"/>
            <a:ext cx="365760" cy="365760"/>
          </a:xfrm>
          <a:prstGeom prst="ellipse">
            <a:avLst/>
          </a:prstGeom>
          <a:solidFill>
            <a:srgbClr val="FBF3DF"/>
          </a:solidFill>
          <a:ln w="12700">
            <a:solidFill>
              <a:srgbClr val="FBF3DF"/>
            </a:solidFill>
            <a:prstDash val="solid"/>
          </a:ln>
        </p:spPr>
      </p:sp>
      <p:pic>
        <p:nvPicPr>
          <p:cNvPr id="19" name="Image 3" descr="preencoded.png">    </p:cNvPr>
          <p:cNvPicPr>
            <a:picLocks noChangeAspect="1"/>
          </p:cNvPicPr>
          <p:nvPr/>
        </p:nvPicPr>
        <p:blipFill>
          <a:blip r:embed="rId4"/>
          <a:stretch>
            <a:fillRect/>
          </a:stretch>
        </p:blipFill>
        <p:spPr>
          <a:xfrm>
            <a:off x="689458" y="2984602"/>
            <a:ext cx="175565" cy="175565"/>
          </a:xfrm>
          <a:prstGeom prst="rect">
            <a:avLst/>
          </a:prstGeom>
        </p:spPr>
      </p:pic>
      <p:sp>
        <p:nvSpPr>
          <p:cNvPr id="20" name="Shape 14"/>
          <p:cNvSpPr/>
          <p:nvPr/>
        </p:nvSpPr>
        <p:spPr>
          <a:xfrm>
            <a:off x="6080760" y="2743200"/>
            <a:ext cx="2606040" cy="658368"/>
          </a:xfrm>
          <a:prstGeom prst="roundRect">
            <a:avLst>
              <a:gd name="adj" fmla="val 16667"/>
            </a:avLst>
          </a:prstGeom>
          <a:solidFill>
            <a:srgbClr val="FFFFFF"/>
          </a:solidFill>
          <a:ln w="9525">
            <a:solidFill>
              <a:srgbClr val="DCE3EC"/>
            </a:solidFill>
            <a:prstDash val="solid"/>
          </a:ln>
          <a:effectLst>
            <a:outerShdw sx="100000" sy="100000" kx="0" ky="0" algn="bl" rotWithShape="0" blurRad="101600" dist="25400" dir="5400000">
              <a:srgbClr val="0F1E3D">
                <a:alpha val="12000"/>
              </a:srgbClr>
            </a:outerShdw>
          </a:effectLst>
        </p:spPr>
      </p:sp>
      <p:sp>
        <p:nvSpPr>
          <p:cNvPr id="21" name="Text 15"/>
          <p:cNvSpPr txBox="1"/>
          <p:nvPr/>
        </p:nvSpPr>
        <p:spPr>
          <a:xfrm>
            <a:off x="6675120" y="2743200"/>
            <a:ext cx="1920240" cy="658368"/>
          </a:xfrm>
          <a:prstGeom prst="rect">
            <a:avLst/>
          </a:prstGeom>
          <a:noFill/>
          <a:ln/>
        </p:spPr>
        <p:txBody>
          <a:bodyPr wrap="square" lIns="0" tIns="0" rIns="0" bIns="0" rtlCol="0" anchor="ctr"/>
          <a:lstStyle/>
          <a:p>
            <a:pPr indent="0" marL="0">
              <a:buNone/>
            </a:pPr>
            <a:r>
              <a:rPr lang="en-US" sz="1500" b="1" dirty="0">
                <a:solidFill>
                  <a:srgbClr val="0F1E3D"/>
                </a:solidFill>
                <a:latin typeface="Calibri" pitchFamily="34" charset="0"/>
                <a:ea typeface="Calibri" pitchFamily="34" charset="-122"/>
                <a:cs typeface="Calibri" pitchFamily="34" charset="-120"/>
              </a:rPr>
              <a:t>Kanan</a:t>
            </a:r>
            <a:endParaRPr lang="en-US" sz="1500" dirty="0"/>
          </a:p>
          <a:p>
            <a:pPr indent="0" marL="0">
              <a:buNone/>
            </a:pPr>
            <a:r>
              <a:rPr lang="en-US" sz="1200" dirty="0">
                <a:solidFill>
                  <a:srgbClr val="5A6880"/>
                </a:solidFill>
                <a:latin typeface="Calibri" pitchFamily="34" charset="0"/>
                <a:ea typeface="Calibri" pitchFamily="34" charset="-122"/>
                <a:cs typeface="Calibri" pitchFamily="34" charset="-120"/>
              </a:rPr>
              <a:t>Penyakit hati</a:t>
            </a:r>
            <a:endParaRPr lang="en-US" sz="1500" dirty="0"/>
          </a:p>
        </p:txBody>
      </p:sp>
      <p:sp>
        <p:nvSpPr>
          <p:cNvPr id="22" name="Shape 16"/>
          <p:cNvSpPr/>
          <p:nvPr/>
        </p:nvSpPr>
        <p:spPr>
          <a:xfrm>
            <a:off x="6217920" y="2889504"/>
            <a:ext cx="365760" cy="365760"/>
          </a:xfrm>
          <a:prstGeom prst="ellipse">
            <a:avLst/>
          </a:prstGeom>
          <a:solidFill>
            <a:srgbClr val="FBF3DF"/>
          </a:solidFill>
          <a:ln w="12700">
            <a:solidFill>
              <a:srgbClr val="FBF3DF"/>
            </a:solidFill>
            <a:prstDash val="solid"/>
          </a:ln>
        </p:spPr>
      </p:sp>
      <p:pic>
        <p:nvPicPr>
          <p:cNvPr id="23" name="Image 4" descr="preencoded.png">    </p:cNvPr>
          <p:cNvPicPr>
            <a:picLocks noChangeAspect="1"/>
          </p:cNvPicPr>
          <p:nvPr/>
        </p:nvPicPr>
        <p:blipFill>
          <a:blip r:embed="rId5"/>
          <a:stretch>
            <a:fillRect/>
          </a:stretch>
        </p:blipFill>
        <p:spPr>
          <a:xfrm>
            <a:off x="6313018" y="2984602"/>
            <a:ext cx="175565" cy="17556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108960" cy="5143500"/>
          </a:xfrm>
          <a:prstGeom prst="rect">
            <a:avLst/>
          </a:prstGeom>
          <a:solidFill>
            <a:srgbClr val="F3F6FA"/>
          </a:solidFill>
          <a:ln w="12700">
            <a:solidFill>
              <a:srgbClr val="F3F6FA"/>
            </a:solidFill>
            <a:prstDash val="solid"/>
          </a:ln>
        </p:spPr>
      </p:sp>
      <p:sp>
        <p:nvSpPr>
          <p:cNvPr id="3" name="Shape 1"/>
          <p:cNvSpPr/>
          <p:nvPr/>
        </p:nvSpPr>
        <p:spPr>
          <a:xfrm>
            <a:off x="566928" y="886968"/>
            <a:ext cx="1975104" cy="1975104"/>
          </a:xfrm>
          <a:prstGeom prst="ellipse">
            <a:avLst/>
          </a:prstGeom>
          <a:solidFill>
            <a:srgbClr val="FFFFFF">
              <a:alpha val="0"/>
            </a:srgbClr>
          </a:solidFill>
          <a:ln w="12700">
            <a:solidFill>
              <a:srgbClr val="B9C4D6"/>
            </a:solidFill>
            <a:prstDash val="dash"/>
          </a:ln>
        </p:spPr>
      </p:sp>
      <p:sp>
        <p:nvSpPr>
          <p:cNvPr id="4" name="Shape 2"/>
          <p:cNvSpPr/>
          <p:nvPr/>
        </p:nvSpPr>
        <p:spPr>
          <a:xfrm>
            <a:off x="1188720" y="1508760"/>
            <a:ext cx="731520" cy="731520"/>
          </a:xfrm>
          <a:prstGeom prst="ellipse">
            <a:avLst/>
          </a:prstGeom>
          <a:solidFill>
            <a:srgbClr val="0F1E3D"/>
          </a:solidFill>
          <a:ln w="12700">
            <a:solidFill>
              <a:srgbClr val="0F1E3D"/>
            </a:solidFill>
            <a:prstDash val="solid"/>
          </a:ln>
        </p:spPr>
      </p:sp>
      <p:pic>
        <p:nvPicPr>
          <p:cNvPr id="5" name="Image 0" descr="preencoded.png">    </p:cNvPr>
          <p:cNvPicPr>
            <a:picLocks noChangeAspect="1"/>
          </p:cNvPicPr>
          <p:nvPr/>
        </p:nvPicPr>
        <p:blipFill>
          <a:blip r:embed="rId1"/>
          <a:stretch>
            <a:fillRect/>
          </a:stretch>
        </p:blipFill>
        <p:spPr>
          <a:xfrm>
            <a:off x="1378915" y="1698955"/>
            <a:ext cx="351130" cy="351130"/>
          </a:xfrm>
          <a:prstGeom prst="rect">
            <a:avLst/>
          </a:prstGeom>
        </p:spPr>
      </p:pic>
      <p:sp>
        <p:nvSpPr>
          <p:cNvPr id="6" name="Shape 3"/>
          <p:cNvSpPr/>
          <p:nvPr/>
        </p:nvSpPr>
        <p:spPr>
          <a:xfrm>
            <a:off x="1197864" y="530352"/>
            <a:ext cx="713232" cy="713232"/>
          </a:xfrm>
          <a:prstGeom prst="ellipse">
            <a:avLst/>
          </a:prstGeom>
          <a:solidFill>
            <a:srgbClr val="D9A93A"/>
          </a:solidFill>
          <a:ln w="12700">
            <a:solidFill>
              <a:srgbClr val="D9A93A"/>
            </a:solidFill>
            <a:prstDash val="solid"/>
          </a:ln>
        </p:spPr>
      </p:sp>
      <p:sp>
        <p:nvSpPr>
          <p:cNvPr id="7" name="Text 4"/>
          <p:cNvSpPr txBox="1"/>
          <p:nvPr/>
        </p:nvSpPr>
        <p:spPr>
          <a:xfrm>
            <a:off x="1106424" y="530352"/>
            <a:ext cx="896112" cy="713232"/>
          </a:xfrm>
          <a:prstGeom prst="rect">
            <a:avLst/>
          </a:prstGeom>
          <a:noFill/>
          <a:ln/>
        </p:spPr>
        <p:txBody>
          <a:bodyPr wrap="square" lIns="0" tIns="0" rIns="0" bIns="0" rtlCol="0" anchor="ctr"/>
          <a:lstStyle/>
          <a:p>
            <a:pPr algn="ctr" indent="0" marL="0">
              <a:buNone/>
            </a:pPr>
            <a:r>
              <a:rPr lang="en-US" sz="950" b="1" dirty="0">
                <a:solidFill>
                  <a:srgbClr val="0F1E3D"/>
                </a:solidFill>
                <a:latin typeface="Calibri" pitchFamily="34" charset="0"/>
                <a:ea typeface="Calibri" pitchFamily="34" charset="-122"/>
                <a:cs typeface="Calibri" pitchFamily="34" charset="-120"/>
              </a:rPr>
              <a:t>Hadapan</a:t>
            </a:r>
            <a:endParaRPr lang="en-US" sz="950" dirty="0"/>
          </a:p>
        </p:txBody>
      </p:sp>
      <p:sp>
        <p:nvSpPr>
          <p:cNvPr id="8" name="Shape 5"/>
          <p:cNvSpPr/>
          <p:nvPr/>
        </p:nvSpPr>
        <p:spPr>
          <a:xfrm>
            <a:off x="1197864" y="2505456"/>
            <a:ext cx="713232" cy="713232"/>
          </a:xfrm>
          <a:prstGeom prst="ellipse">
            <a:avLst/>
          </a:prstGeom>
          <a:solidFill>
            <a:srgbClr val="FFFFFF"/>
          </a:solidFill>
          <a:ln w="12700">
            <a:solidFill>
              <a:srgbClr val="B9C4D6"/>
            </a:solidFill>
            <a:prstDash val="solid"/>
          </a:ln>
        </p:spPr>
      </p:sp>
      <p:sp>
        <p:nvSpPr>
          <p:cNvPr id="9" name="Text 6"/>
          <p:cNvSpPr txBox="1"/>
          <p:nvPr/>
        </p:nvSpPr>
        <p:spPr>
          <a:xfrm>
            <a:off x="1106424" y="2505456"/>
            <a:ext cx="896112" cy="713232"/>
          </a:xfrm>
          <a:prstGeom prst="rect">
            <a:avLst/>
          </a:prstGeom>
          <a:noFill/>
          <a:ln/>
        </p:spPr>
        <p:txBody>
          <a:bodyPr wrap="square" lIns="0" tIns="0" rIns="0" bIns="0" rtlCol="0" anchor="ctr"/>
          <a:lstStyle/>
          <a:p>
            <a:pPr algn="ctr" indent="0" marL="0">
              <a:buNone/>
            </a:pPr>
            <a:r>
              <a:rPr lang="en-US" sz="950" b="1" dirty="0">
                <a:solidFill>
                  <a:srgbClr val="5A6880"/>
                </a:solidFill>
                <a:latin typeface="Calibri" pitchFamily="34" charset="0"/>
                <a:ea typeface="Calibri" pitchFamily="34" charset="-122"/>
                <a:cs typeface="Calibri" pitchFamily="34" charset="-120"/>
              </a:rPr>
              <a:t>Belakang</a:t>
            </a:r>
            <a:endParaRPr lang="en-US" sz="950" dirty="0"/>
          </a:p>
        </p:txBody>
      </p:sp>
      <p:sp>
        <p:nvSpPr>
          <p:cNvPr id="10" name="Shape 7"/>
          <p:cNvSpPr/>
          <p:nvPr/>
        </p:nvSpPr>
        <p:spPr>
          <a:xfrm>
            <a:off x="210312" y="1517904"/>
            <a:ext cx="713232" cy="713232"/>
          </a:xfrm>
          <a:prstGeom prst="ellipse">
            <a:avLst/>
          </a:prstGeom>
          <a:solidFill>
            <a:srgbClr val="FFFFFF"/>
          </a:solidFill>
          <a:ln w="12700">
            <a:solidFill>
              <a:srgbClr val="B9C4D6"/>
            </a:solidFill>
            <a:prstDash val="solid"/>
          </a:ln>
        </p:spPr>
      </p:sp>
      <p:sp>
        <p:nvSpPr>
          <p:cNvPr id="11" name="Text 8"/>
          <p:cNvSpPr txBox="1"/>
          <p:nvPr/>
        </p:nvSpPr>
        <p:spPr>
          <a:xfrm>
            <a:off x="118872" y="1517904"/>
            <a:ext cx="896112" cy="713232"/>
          </a:xfrm>
          <a:prstGeom prst="rect">
            <a:avLst/>
          </a:prstGeom>
          <a:noFill/>
          <a:ln/>
        </p:spPr>
        <p:txBody>
          <a:bodyPr wrap="square" lIns="0" tIns="0" rIns="0" bIns="0" rtlCol="0" anchor="ctr"/>
          <a:lstStyle/>
          <a:p>
            <a:pPr algn="ctr" indent="0" marL="0">
              <a:buNone/>
            </a:pPr>
            <a:r>
              <a:rPr lang="en-US" sz="950" b="1" dirty="0">
                <a:solidFill>
                  <a:srgbClr val="5A6880"/>
                </a:solidFill>
                <a:latin typeface="Calibri" pitchFamily="34" charset="0"/>
                <a:ea typeface="Calibri" pitchFamily="34" charset="-122"/>
                <a:cs typeface="Calibri" pitchFamily="34" charset="-120"/>
              </a:rPr>
              <a:t>Kiri</a:t>
            </a:r>
            <a:endParaRPr lang="en-US" sz="950" dirty="0"/>
          </a:p>
        </p:txBody>
      </p:sp>
      <p:sp>
        <p:nvSpPr>
          <p:cNvPr id="12" name="Shape 9"/>
          <p:cNvSpPr/>
          <p:nvPr/>
        </p:nvSpPr>
        <p:spPr>
          <a:xfrm>
            <a:off x="2185416" y="1517904"/>
            <a:ext cx="713232" cy="713232"/>
          </a:xfrm>
          <a:prstGeom prst="ellipse">
            <a:avLst/>
          </a:prstGeom>
          <a:solidFill>
            <a:srgbClr val="FFFFFF"/>
          </a:solidFill>
          <a:ln w="12700">
            <a:solidFill>
              <a:srgbClr val="B9C4D6"/>
            </a:solidFill>
            <a:prstDash val="solid"/>
          </a:ln>
        </p:spPr>
      </p:sp>
      <p:sp>
        <p:nvSpPr>
          <p:cNvPr id="13" name="Text 10"/>
          <p:cNvSpPr txBox="1"/>
          <p:nvPr/>
        </p:nvSpPr>
        <p:spPr>
          <a:xfrm>
            <a:off x="2093976" y="1517904"/>
            <a:ext cx="896112" cy="713232"/>
          </a:xfrm>
          <a:prstGeom prst="rect">
            <a:avLst/>
          </a:prstGeom>
          <a:noFill/>
          <a:ln/>
        </p:spPr>
        <p:txBody>
          <a:bodyPr wrap="square" lIns="0" tIns="0" rIns="0" bIns="0" rtlCol="0" anchor="ctr"/>
          <a:lstStyle/>
          <a:p>
            <a:pPr algn="ctr" indent="0" marL="0">
              <a:buNone/>
            </a:pPr>
            <a:r>
              <a:rPr lang="en-US" sz="950" b="1" dirty="0">
                <a:solidFill>
                  <a:srgbClr val="5A6880"/>
                </a:solidFill>
                <a:latin typeface="Calibri" pitchFamily="34" charset="0"/>
                <a:ea typeface="Calibri" pitchFamily="34" charset="-122"/>
                <a:cs typeface="Calibri" pitchFamily="34" charset="-120"/>
              </a:rPr>
              <a:t>Kanan</a:t>
            </a:r>
            <a:endParaRPr lang="en-US" sz="950" dirty="0"/>
          </a:p>
        </p:txBody>
      </p:sp>
      <p:sp>
        <p:nvSpPr>
          <p:cNvPr id="14" name="Text 11"/>
          <p:cNvSpPr txBox="1"/>
          <p:nvPr/>
        </p:nvSpPr>
        <p:spPr>
          <a:xfrm>
            <a:off x="411480" y="3246120"/>
            <a:ext cx="2377440" cy="256032"/>
          </a:xfrm>
          <a:prstGeom prst="rect">
            <a:avLst/>
          </a:prstGeom>
          <a:noFill/>
          <a:ln/>
        </p:spPr>
        <p:txBody>
          <a:bodyPr wrap="square" lIns="0" tIns="0" rIns="0" bIns="0" rtlCol="0" anchor="t"/>
          <a:lstStyle/>
          <a:p>
            <a:pPr indent="0" marL="0">
              <a:buNone/>
            </a:pPr>
            <a:r>
              <a:rPr lang="en-US" sz="1100" b="1" spc="200" kern="0" dirty="0">
                <a:solidFill>
                  <a:srgbClr val="5A6880"/>
                </a:solidFill>
                <a:latin typeface="Calibri" pitchFamily="34" charset="0"/>
                <a:ea typeface="Calibri" pitchFamily="34" charset="-122"/>
                <a:cs typeface="Calibri" pitchFamily="34" charset="-120"/>
              </a:rPr>
              <a:t>SERANGAN DARI</a:t>
            </a:r>
            <a:endParaRPr lang="en-US" sz="1100" dirty="0"/>
          </a:p>
        </p:txBody>
      </p:sp>
      <p:sp>
        <p:nvSpPr>
          <p:cNvPr id="15" name="Text 12"/>
          <p:cNvSpPr txBox="1"/>
          <p:nvPr/>
        </p:nvSpPr>
        <p:spPr>
          <a:xfrm>
            <a:off x="411480" y="3474720"/>
            <a:ext cx="2377440" cy="548640"/>
          </a:xfrm>
          <a:prstGeom prst="rect">
            <a:avLst/>
          </a:prstGeom>
          <a:noFill/>
          <a:ln/>
        </p:spPr>
        <p:txBody>
          <a:bodyPr wrap="square" lIns="0" tIns="0" rIns="0" bIns="0" rtlCol="0" anchor="ctr"/>
          <a:lstStyle/>
          <a:p>
            <a:pPr indent="0" marL="0">
              <a:buNone/>
            </a:pPr>
            <a:r>
              <a:rPr lang="en-US" sz="3200" b="1" dirty="0">
                <a:solidFill>
                  <a:srgbClr val="0F1E3D"/>
                </a:solidFill>
                <a:latin typeface="Calibri" pitchFamily="34" charset="0"/>
                <a:ea typeface="Calibri" pitchFamily="34" charset="-122"/>
                <a:cs typeface="Calibri" pitchFamily="34" charset="-120"/>
              </a:rPr>
              <a:t>Hadapan</a:t>
            </a:r>
            <a:endParaRPr lang="en-US" sz="3200" dirty="0"/>
          </a:p>
        </p:txBody>
      </p:sp>
      <p:sp>
        <p:nvSpPr>
          <p:cNvPr id="16" name="Text 13"/>
          <p:cNvSpPr txBox="1"/>
          <p:nvPr/>
        </p:nvSpPr>
        <p:spPr>
          <a:xfrm>
            <a:off x="411480" y="4023360"/>
            <a:ext cx="2377440" cy="640080"/>
          </a:xfrm>
          <a:prstGeom prst="rect">
            <a:avLst/>
          </a:prstGeom>
          <a:noFill/>
          <a:ln/>
        </p:spPr>
        <p:txBody>
          <a:bodyPr wrap="square" lIns="0" tIns="0" rIns="0" bIns="0" rtlCol="0" anchor="t"/>
          <a:lstStyle/>
          <a:p>
            <a:pPr indent="0" marL="0">
              <a:buNone/>
            </a:pPr>
            <a:r>
              <a:rPr lang="en-US" sz="1300" dirty="0">
                <a:solidFill>
                  <a:srgbClr val="5A6880"/>
                </a:solidFill>
                <a:latin typeface="Calibri" pitchFamily="34" charset="0"/>
                <a:ea typeface="Calibri" pitchFamily="34" charset="-122"/>
                <a:cs typeface="Calibri" pitchFamily="34" charset="-120"/>
              </a:rPr>
              <a:t>Perkara yang nampak menarik dan dikejar.</a:t>
            </a:r>
            <a:endParaRPr lang="en-US" sz="1300" dirty="0"/>
          </a:p>
        </p:txBody>
      </p:sp>
      <p:sp>
        <p:nvSpPr>
          <p:cNvPr id="17" name="Text 14"/>
          <p:cNvSpPr txBox="1"/>
          <p:nvPr/>
        </p:nvSpPr>
        <p:spPr>
          <a:xfrm>
            <a:off x="3520440" y="411480"/>
            <a:ext cx="5212080" cy="566928"/>
          </a:xfrm>
          <a:prstGeom prst="rect">
            <a:avLst/>
          </a:prstGeom>
          <a:noFill/>
          <a:ln/>
        </p:spPr>
        <p:txBody>
          <a:bodyPr wrap="square" lIns="0" tIns="0" rIns="0" bIns="0" rtlCol="0" anchor="ctr"/>
          <a:lstStyle/>
          <a:p>
            <a:pPr indent="0" marL="0">
              <a:buNone/>
            </a:pPr>
            <a:r>
              <a:rPr lang="en-US" sz="2600" b="1" dirty="0">
                <a:solidFill>
                  <a:srgbClr val="0F1E3D"/>
                </a:solidFill>
                <a:latin typeface="Calibri" pitchFamily="34" charset="0"/>
                <a:ea typeface="Calibri" pitchFamily="34" charset="-122"/>
                <a:cs typeface="Calibri" pitchFamily="34" charset="-120"/>
              </a:rPr>
              <a:t>Hal keduniaan di depan mata</a:t>
            </a:r>
            <a:endParaRPr lang="en-US" sz="2600" dirty="0"/>
          </a:p>
        </p:txBody>
      </p:sp>
      <p:sp>
        <p:nvSpPr>
          <p:cNvPr id="18" name="Shape 15"/>
          <p:cNvSpPr/>
          <p:nvPr/>
        </p:nvSpPr>
        <p:spPr>
          <a:xfrm>
            <a:off x="3520440" y="1234440"/>
            <a:ext cx="1612392" cy="713232"/>
          </a:xfrm>
          <a:prstGeom prst="roundRect">
            <a:avLst>
              <a:gd name="adj" fmla="val 15385"/>
            </a:avLst>
          </a:prstGeom>
          <a:solidFill>
            <a:srgbClr val="FFFFFF"/>
          </a:solidFill>
          <a:ln w="9525">
            <a:solidFill>
              <a:srgbClr val="DCE3EC"/>
            </a:solidFill>
            <a:prstDash val="solid"/>
          </a:ln>
        </p:spPr>
      </p:sp>
      <p:sp>
        <p:nvSpPr>
          <p:cNvPr id="19" name="Text 16"/>
          <p:cNvSpPr txBox="1"/>
          <p:nvPr/>
        </p:nvSpPr>
        <p:spPr>
          <a:xfrm>
            <a:off x="3703320" y="1234440"/>
            <a:ext cx="1338072" cy="713232"/>
          </a:xfrm>
          <a:prstGeom prst="rect">
            <a:avLst/>
          </a:prstGeom>
          <a:noFill/>
          <a:ln/>
        </p:spPr>
        <p:txBody>
          <a:bodyPr wrap="square" lIns="0" tIns="0" rIns="0" bIns="0" rtlCol="0" anchor="ctr"/>
          <a:lstStyle/>
          <a:p>
            <a:pPr indent="0" marL="0">
              <a:buNone/>
            </a:pPr>
            <a:r>
              <a:rPr lang="en-US" sz="1600" b="1" dirty="0">
                <a:solidFill>
                  <a:srgbClr val="0F1E3D"/>
                </a:solidFill>
                <a:latin typeface="Calibri" pitchFamily="34" charset="0"/>
                <a:ea typeface="Calibri" pitchFamily="34" charset="-122"/>
                <a:cs typeface="Calibri" pitchFamily="34" charset="-120"/>
              </a:rPr>
              <a:t>Syirik</a:t>
            </a:r>
            <a:endParaRPr lang="en-US" sz="1600" dirty="0"/>
          </a:p>
        </p:txBody>
      </p:sp>
      <p:sp>
        <p:nvSpPr>
          <p:cNvPr id="20" name="Shape 17"/>
          <p:cNvSpPr/>
          <p:nvPr/>
        </p:nvSpPr>
        <p:spPr>
          <a:xfrm>
            <a:off x="5297424" y="1234440"/>
            <a:ext cx="1612392" cy="713232"/>
          </a:xfrm>
          <a:prstGeom prst="roundRect">
            <a:avLst>
              <a:gd name="adj" fmla="val 15385"/>
            </a:avLst>
          </a:prstGeom>
          <a:solidFill>
            <a:srgbClr val="FFFFFF"/>
          </a:solidFill>
          <a:ln w="9525">
            <a:solidFill>
              <a:srgbClr val="DCE3EC"/>
            </a:solidFill>
            <a:prstDash val="solid"/>
          </a:ln>
        </p:spPr>
      </p:sp>
      <p:sp>
        <p:nvSpPr>
          <p:cNvPr id="21" name="Text 18"/>
          <p:cNvSpPr txBox="1"/>
          <p:nvPr/>
        </p:nvSpPr>
        <p:spPr>
          <a:xfrm>
            <a:off x="5480304" y="1234440"/>
            <a:ext cx="1338072" cy="713232"/>
          </a:xfrm>
          <a:prstGeom prst="rect">
            <a:avLst/>
          </a:prstGeom>
          <a:noFill/>
          <a:ln/>
        </p:spPr>
        <p:txBody>
          <a:bodyPr wrap="square" lIns="0" tIns="0" rIns="0" bIns="0" rtlCol="0" anchor="ctr"/>
          <a:lstStyle/>
          <a:p>
            <a:pPr indent="0" marL="0">
              <a:buNone/>
            </a:pPr>
            <a:r>
              <a:rPr lang="en-US" sz="1600" b="1" dirty="0">
                <a:solidFill>
                  <a:srgbClr val="0F1E3D"/>
                </a:solidFill>
                <a:latin typeface="Calibri" pitchFamily="34" charset="0"/>
                <a:ea typeface="Calibri" pitchFamily="34" charset="-122"/>
                <a:cs typeface="Calibri" pitchFamily="34" charset="-120"/>
              </a:rPr>
              <a:t>Harta</a:t>
            </a:r>
            <a:endParaRPr lang="en-US" sz="1600" dirty="0"/>
          </a:p>
        </p:txBody>
      </p:sp>
      <p:sp>
        <p:nvSpPr>
          <p:cNvPr id="22" name="Shape 19"/>
          <p:cNvSpPr/>
          <p:nvPr/>
        </p:nvSpPr>
        <p:spPr>
          <a:xfrm>
            <a:off x="7074408" y="1234440"/>
            <a:ext cx="1612392" cy="713232"/>
          </a:xfrm>
          <a:prstGeom prst="roundRect">
            <a:avLst>
              <a:gd name="adj" fmla="val 15385"/>
            </a:avLst>
          </a:prstGeom>
          <a:solidFill>
            <a:srgbClr val="FFFFFF"/>
          </a:solidFill>
          <a:ln w="9525">
            <a:solidFill>
              <a:srgbClr val="DCE3EC"/>
            </a:solidFill>
            <a:prstDash val="solid"/>
          </a:ln>
        </p:spPr>
      </p:sp>
      <p:sp>
        <p:nvSpPr>
          <p:cNvPr id="23" name="Text 20"/>
          <p:cNvSpPr txBox="1"/>
          <p:nvPr/>
        </p:nvSpPr>
        <p:spPr>
          <a:xfrm>
            <a:off x="7257288" y="1234440"/>
            <a:ext cx="1338072" cy="713232"/>
          </a:xfrm>
          <a:prstGeom prst="rect">
            <a:avLst/>
          </a:prstGeom>
          <a:noFill/>
          <a:ln/>
        </p:spPr>
        <p:txBody>
          <a:bodyPr wrap="square" lIns="0" tIns="0" rIns="0" bIns="0" rtlCol="0" anchor="ctr"/>
          <a:lstStyle/>
          <a:p>
            <a:pPr indent="0" marL="0">
              <a:buNone/>
            </a:pPr>
            <a:r>
              <a:rPr lang="en-US" sz="1600" b="1" dirty="0">
                <a:solidFill>
                  <a:srgbClr val="0F1E3D"/>
                </a:solidFill>
                <a:latin typeface="Calibri" pitchFamily="34" charset="0"/>
                <a:ea typeface="Calibri" pitchFamily="34" charset="-122"/>
                <a:cs typeface="Calibri" pitchFamily="34" charset="-120"/>
              </a:rPr>
              <a:t>Pangkat</a:t>
            </a:r>
            <a:endParaRPr lang="en-US" sz="1600" dirty="0"/>
          </a:p>
        </p:txBody>
      </p:sp>
      <p:sp>
        <p:nvSpPr>
          <p:cNvPr id="24" name="Shape 21"/>
          <p:cNvSpPr/>
          <p:nvPr/>
        </p:nvSpPr>
        <p:spPr>
          <a:xfrm>
            <a:off x="3520440" y="2112264"/>
            <a:ext cx="1612392" cy="713232"/>
          </a:xfrm>
          <a:prstGeom prst="roundRect">
            <a:avLst>
              <a:gd name="adj" fmla="val 15385"/>
            </a:avLst>
          </a:prstGeom>
          <a:solidFill>
            <a:srgbClr val="FFFFFF"/>
          </a:solidFill>
          <a:ln w="9525">
            <a:solidFill>
              <a:srgbClr val="DCE3EC"/>
            </a:solidFill>
            <a:prstDash val="solid"/>
          </a:ln>
        </p:spPr>
      </p:sp>
      <p:sp>
        <p:nvSpPr>
          <p:cNvPr id="25" name="Text 22"/>
          <p:cNvSpPr txBox="1"/>
          <p:nvPr/>
        </p:nvSpPr>
        <p:spPr>
          <a:xfrm>
            <a:off x="3703320" y="2112264"/>
            <a:ext cx="1338072" cy="713232"/>
          </a:xfrm>
          <a:prstGeom prst="rect">
            <a:avLst/>
          </a:prstGeom>
          <a:noFill/>
          <a:ln/>
        </p:spPr>
        <p:txBody>
          <a:bodyPr wrap="square" lIns="0" tIns="0" rIns="0" bIns="0" rtlCol="0" anchor="ctr"/>
          <a:lstStyle/>
          <a:p>
            <a:pPr indent="0" marL="0">
              <a:buNone/>
            </a:pPr>
            <a:r>
              <a:rPr lang="en-US" sz="1600" b="1" dirty="0">
                <a:solidFill>
                  <a:srgbClr val="0F1E3D"/>
                </a:solidFill>
                <a:latin typeface="Calibri" pitchFamily="34" charset="0"/>
                <a:ea typeface="Calibri" pitchFamily="34" charset="-122"/>
                <a:cs typeface="Calibri" pitchFamily="34" charset="-120"/>
              </a:rPr>
              <a:t>Wanita cantik</a:t>
            </a:r>
            <a:endParaRPr lang="en-US" sz="1600" dirty="0"/>
          </a:p>
        </p:txBody>
      </p:sp>
      <p:sp>
        <p:nvSpPr>
          <p:cNvPr id="26" name="Shape 23"/>
          <p:cNvSpPr/>
          <p:nvPr/>
        </p:nvSpPr>
        <p:spPr>
          <a:xfrm>
            <a:off x="5297424" y="2112264"/>
            <a:ext cx="1612392" cy="713232"/>
          </a:xfrm>
          <a:prstGeom prst="roundRect">
            <a:avLst>
              <a:gd name="adj" fmla="val 15385"/>
            </a:avLst>
          </a:prstGeom>
          <a:solidFill>
            <a:srgbClr val="FFFFFF"/>
          </a:solidFill>
          <a:ln w="9525">
            <a:solidFill>
              <a:srgbClr val="DCE3EC"/>
            </a:solidFill>
            <a:prstDash val="solid"/>
          </a:ln>
        </p:spPr>
      </p:sp>
      <p:sp>
        <p:nvSpPr>
          <p:cNvPr id="27" name="Text 24"/>
          <p:cNvSpPr txBox="1"/>
          <p:nvPr/>
        </p:nvSpPr>
        <p:spPr>
          <a:xfrm>
            <a:off x="5480304" y="2112264"/>
            <a:ext cx="1338072" cy="713232"/>
          </a:xfrm>
          <a:prstGeom prst="rect">
            <a:avLst/>
          </a:prstGeom>
          <a:noFill/>
          <a:ln/>
        </p:spPr>
        <p:txBody>
          <a:bodyPr wrap="square" lIns="0" tIns="0" rIns="0" bIns="0" rtlCol="0" anchor="ctr"/>
          <a:lstStyle/>
          <a:p>
            <a:pPr indent="0" marL="0">
              <a:buNone/>
            </a:pPr>
            <a:r>
              <a:rPr lang="en-US" sz="1600" b="1" dirty="0">
                <a:solidFill>
                  <a:srgbClr val="0F1E3D"/>
                </a:solidFill>
                <a:latin typeface="Calibri" pitchFamily="34" charset="0"/>
                <a:ea typeface="Calibri" pitchFamily="34" charset="-122"/>
                <a:cs typeface="Calibri" pitchFamily="34" charset="-120"/>
              </a:rPr>
              <a:t>Lelaki hensem</a:t>
            </a:r>
            <a:endParaRPr lang="en-US" sz="1600" dirty="0"/>
          </a:p>
        </p:txBody>
      </p:sp>
      <p:sp>
        <p:nvSpPr>
          <p:cNvPr id="28" name="Shape 25"/>
          <p:cNvSpPr/>
          <p:nvPr/>
        </p:nvSpPr>
        <p:spPr>
          <a:xfrm>
            <a:off x="7074408" y="2112264"/>
            <a:ext cx="1612392" cy="713232"/>
          </a:xfrm>
          <a:prstGeom prst="roundRect">
            <a:avLst>
              <a:gd name="adj" fmla="val 15385"/>
            </a:avLst>
          </a:prstGeom>
          <a:solidFill>
            <a:srgbClr val="FFFFFF"/>
          </a:solidFill>
          <a:ln w="9525">
            <a:solidFill>
              <a:srgbClr val="DCE3EC"/>
            </a:solidFill>
            <a:prstDash val="solid"/>
          </a:ln>
        </p:spPr>
      </p:sp>
      <p:sp>
        <p:nvSpPr>
          <p:cNvPr id="29" name="Text 26"/>
          <p:cNvSpPr txBox="1"/>
          <p:nvPr/>
        </p:nvSpPr>
        <p:spPr>
          <a:xfrm>
            <a:off x="7257288" y="2112264"/>
            <a:ext cx="1338072" cy="713232"/>
          </a:xfrm>
          <a:prstGeom prst="rect">
            <a:avLst/>
          </a:prstGeom>
          <a:noFill/>
          <a:ln/>
        </p:spPr>
        <p:txBody>
          <a:bodyPr wrap="square" lIns="0" tIns="0" rIns="0" bIns="0" rtlCol="0" anchor="ctr"/>
          <a:lstStyle/>
          <a:p>
            <a:pPr indent="0" marL="0">
              <a:buNone/>
            </a:pPr>
            <a:r>
              <a:rPr lang="en-US" sz="1600" b="1" dirty="0">
                <a:solidFill>
                  <a:srgbClr val="0F1E3D"/>
                </a:solidFill>
                <a:latin typeface="Calibri" pitchFamily="34" charset="0"/>
                <a:ea typeface="Calibri" pitchFamily="34" charset="-122"/>
                <a:cs typeface="Calibri" pitchFamily="34" charset="-120"/>
              </a:rPr>
              <a:t>Drama</a:t>
            </a:r>
            <a:endParaRPr lang="en-US" sz="1600" dirty="0"/>
          </a:p>
        </p:txBody>
      </p:sp>
      <p:sp>
        <p:nvSpPr>
          <p:cNvPr id="30" name="Shape 27"/>
          <p:cNvSpPr/>
          <p:nvPr/>
        </p:nvSpPr>
        <p:spPr>
          <a:xfrm>
            <a:off x="3520440" y="2990088"/>
            <a:ext cx="1612392" cy="713232"/>
          </a:xfrm>
          <a:prstGeom prst="roundRect">
            <a:avLst>
              <a:gd name="adj" fmla="val 15385"/>
            </a:avLst>
          </a:prstGeom>
          <a:solidFill>
            <a:srgbClr val="FFFFFF"/>
          </a:solidFill>
          <a:ln w="9525">
            <a:solidFill>
              <a:srgbClr val="DCE3EC"/>
            </a:solidFill>
            <a:prstDash val="solid"/>
          </a:ln>
        </p:spPr>
      </p:sp>
      <p:sp>
        <p:nvSpPr>
          <p:cNvPr id="31" name="Text 28"/>
          <p:cNvSpPr txBox="1"/>
          <p:nvPr/>
        </p:nvSpPr>
        <p:spPr>
          <a:xfrm>
            <a:off x="3703320" y="2990088"/>
            <a:ext cx="1338072" cy="713232"/>
          </a:xfrm>
          <a:prstGeom prst="rect">
            <a:avLst/>
          </a:prstGeom>
          <a:noFill/>
          <a:ln/>
        </p:spPr>
        <p:txBody>
          <a:bodyPr wrap="square" lIns="0" tIns="0" rIns="0" bIns="0" rtlCol="0" anchor="ctr"/>
          <a:lstStyle/>
          <a:p>
            <a:pPr indent="0" marL="0">
              <a:buNone/>
            </a:pPr>
            <a:r>
              <a:rPr lang="en-US" sz="1600" b="1" dirty="0">
                <a:solidFill>
                  <a:srgbClr val="0F1E3D"/>
                </a:solidFill>
                <a:latin typeface="Calibri" pitchFamily="34" charset="0"/>
                <a:ea typeface="Calibri" pitchFamily="34" charset="-122"/>
                <a:cs typeface="Calibri" pitchFamily="34" charset="-120"/>
              </a:rPr>
              <a:t>Rokok / Vape</a:t>
            </a:r>
            <a:endParaRPr lang="en-US" sz="1600" dirty="0"/>
          </a:p>
        </p:txBody>
      </p:sp>
      <p:sp>
        <p:nvSpPr>
          <p:cNvPr id="32" name="Shape 29"/>
          <p:cNvSpPr/>
          <p:nvPr/>
        </p:nvSpPr>
        <p:spPr>
          <a:xfrm>
            <a:off x="5297424" y="2990088"/>
            <a:ext cx="1612392" cy="713232"/>
          </a:xfrm>
          <a:prstGeom prst="roundRect">
            <a:avLst>
              <a:gd name="adj" fmla="val 15385"/>
            </a:avLst>
          </a:prstGeom>
          <a:solidFill>
            <a:srgbClr val="FFFFFF"/>
          </a:solidFill>
          <a:ln w="9525">
            <a:solidFill>
              <a:srgbClr val="DCE3EC"/>
            </a:solidFill>
            <a:prstDash val="solid"/>
          </a:ln>
        </p:spPr>
      </p:sp>
      <p:sp>
        <p:nvSpPr>
          <p:cNvPr id="33" name="Text 30"/>
          <p:cNvSpPr txBox="1"/>
          <p:nvPr/>
        </p:nvSpPr>
        <p:spPr>
          <a:xfrm>
            <a:off x="5480304" y="2990088"/>
            <a:ext cx="1338072" cy="713232"/>
          </a:xfrm>
          <a:prstGeom prst="rect">
            <a:avLst/>
          </a:prstGeom>
          <a:noFill/>
          <a:ln/>
        </p:spPr>
        <p:txBody>
          <a:bodyPr wrap="square" lIns="0" tIns="0" rIns="0" bIns="0" rtlCol="0" anchor="ctr"/>
          <a:lstStyle/>
          <a:p>
            <a:pPr indent="0" marL="0">
              <a:buNone/>
            </a:pPr>
            <a:r>
              <a:rPr lang="en-US" sz="1600" b="1" dirty="0">
                <a:solidFill>
                  <a:srgbClr val="0F1E3D"/>
                </a:solidFill>
                <a:latin typeface="Calibri" pitchFamily="34" charset="0"/>
                <a:ea typeface="Calibri" pitchFamily="34" charset="-122"/>
                <a:cs typeface="Calibri" pitchFamily="34" charset="-120"/>
              </a:rPr>
              <a:t>Games</a:t>
            </a:r>
            <a:endParaRPr lang="en-US" sz="1600" dirty="0"/>
          </a:p>
        </p:txBody>
      </p:sp>
      <p:sp>
        <p:nvSpPr>
          <p:cNvPr id="34" name="Shape 31"/>
          <p:cNvSpPr/>
          <p:nvPr/>
        </p:nvSpPr>
        <p:spPr>
          <a:xfrm>
            <a:off x="7074408" y="2990088"/>
            <a:ext cx="1612392" cy="713232"/>
          </a:xfrm>
          <a:prstGeom prst="roundRect">
            <a:avLst>
              <a:gd name="adj" fmla="val 15385"/>
            </a:avLst>
          </a:prstGeom>
          <a:solidFill>
            <a:srgbClr val="FFFFFF"/>
          </a:solidFill>
          <a:ln w="9525">
            <a:solidFill>
              <a:srgbClr val="DCE3EC"/>
            </a:solidFill>
            <a:prstDash val="solid"/>
          </a:ln>
        </p:spPr>
      </p:sp>
      <p:sp>
        <p:nvSpPr>
          <p:cNvPr id="35" name="Text 32"/>
          <p:cNvSpPr txBox="1"/>
          <p:nvPr/>
        </p:nvSpPr>
        <p:spPr>
          <a:xfrm>
            <a:off x="7257288" y="2990088"/>
            <a:ext cx="1338072" cy="713232"/>
          </a:xfrm>
          <a:prstGeom prst="rect">
            <a:avLst/>
          </a:prstGeom>
          <a:noFill/>
          <a:ln/>
        </p:spPr>
        <p:txBody>
          <a:bodyPr wrap="square" lIns="0" tIns="0" rIns="0" bIns="0" rtlCol="0" anchor="ctr"/>
          <a:lstStyle/>
          <a:p>
            <a:pPr indent="0" marL="0">
              <a:buNone/>
            </a:pPr>
            <a:r>
              <a:rPr lang="en-US" sz="1600" b="1" dirty="0">
                <a:solidFill>
                  <a:srgbClr val="0F1E3D"/>
                </a:solidFill>
                <a:latin typeface="Calibri" pitchFamily="34" charset="0"/>
                <a:ea typeface="Calibri" pitchFamily="34" charset="-122"/>
                <a:cs typeface="Calibri" pitchFamily="34" charset="-120"/>
              </a:rPr>
              <a:t>Dunia depan mata</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108960" cy="5143500"/>
          </a:xfrm>
          <a:prstGeom prst="rect">
            <a:avLst/>
          </a:prstGeom>
          <a:solidFill>
            <a:srgbClr val="F3F6FA"/>
          </a:solidFill>
          <a:ln w="12700">
            <a:solidFill>
              <a:srgbClr val="F3F6FA"/>
            </a:solidFill>
            <a:prstDash val="solid"/>
          </a:ln>
        </p:spPr>
      </p:sp>
      <p:sp>
        <p:nvSpPr>
          <p:cNvPr id="3" name="Shape 1"/>
          <p:cNvSpPr/>
          <p:nvPr/>
        </p:nvSpPr>
        <p:spPr>
          <a:xfrm>
            <a:off x="566928" y="886968"/>
            <a:ext cx="1975104" cy="1975104"/>
          </a:xfrm>
          <a:prstGeom prst="ellipse">
            <a:avLst/>
          </a:prstGeom>
          <a:solidFill>
            <a:srgbClr val="FFFFFF">
              <a:alpha val="0"/>
            </a:srgbClr>
          </a:solidFill>
          <a:ln w="12700">
            <a:solidFill>
              <a:srgbClr val="B9C4D6"/>
            </a:solidFill>
            <a:prstDash val="dash"/>
          </a:ln>
        </p:spPr>
      </p:sp>
      <p:sp>
        <p:nvSpPr>
          <p:cNvPr id="4" name="Shape 2"/>
          <p:cNvSpPr/>
          <p:nvPr/>
        </p:nvSpPr>
        <p:spPr>
          <a:xfrm>
            <a:off x="1188720" y="1508760"/>
            <a:ext cx="731520" cy="731520"/>
          </a:xfrm>
          <a:prstGeom prst="ellipse">
            <a:avLst/>
          </a:prstGeom>
          <a:solidFill>
            <a:srgbClr val="0F1E3D"/>
          </a:solidFill>
          <a:ln w="12700">
            <a:solidFill>
              <a:srgbClr val="0F1E3D"/>
            </a:solidFill>
            <a:prstDash val="solid"/>
          </a:ln>
        </p:spPr>
      </p:sp>
      <p:pic>
        <p:nvPicPr>
          <p:cNvPr id="5" name="Image 0" descr="preencoded.png">    </p:cNvPr>
          <p:cNvPicPr>
            <a:picLocks noChangeAspect="1"/>
          </p:cNvPicPr>
          <p:nvPr/>
        </p:nvPicPr>
        <p:blipFill>
          <a:blip r:embed="rId1"/>
          <a:stretch>
            <a:fillRect/>
          </a:stretch>
        </p:blipFill>
        <p:spPr>
          <a:xfrm>
            <a:off x="1378915" y="1698955"/>
            <a:ext cx="351130" cy="351130"/>
          </a:xfrm>
          <a:prstGeom prst="rect">
            <a:avLst/>
          </a:prstGeom>
        </p:spPr>
      </p:pic>
      <p:sp>
        <p:nvSpPr>
          <p:cNvPr id="6" name="Shape 3"/>
          <p:cNvSpPr/>
          <p:nvPr/>
        </p:nvSpPr>
        <p:spPr>
          <a:xfrm>
            <a:off x="1197864" y="530352"/>
            <a:ext cx="713232" cy="713232"/>
          </a:xfrm>
          <a:prstGeom prst="ellipse">
            <a:avLst/>
          </a:prstGeom>
          <a:solidFill>
            <a:srgbClr val="FFFFFF"/>
          </a:solidFill>
          <a:ln w="12700">
            <a:solidFill>
              <a:srgbClr val="B9C4D6"/>
            </a:solidFill>
            <a:prstDash val="solid"/>
          </a:ln>
        </p:spPr>
      </p:sp>
      <p:sp>
        <p:nvSpPr>
          <p:cNvPr id="7" name="Text 4"/>
          <p:cNvSpPr txBox="1"/>
          <p:nvPr/>
        </p:nvSpPr>
        <p:spPr>
          <a:xfrm>
            <a:off x="1106424" y="530352"/>
            <a:ext cx="896112" cy="713232"/>
          </a:xfrm>
          <a:prstGeom prst="rect">
            <a:avLst/>
          </a:prstGeom>
          <a:noFill/>
          <a:ln/>
        </p:spPr>
        <p:txBody>
          <a:bodyPr wrap="square" lIns="0" tIns="0" rIns="0" bIns="0" rtlCol="0" anchor="ctr"/>
          <a:lstStyle/>
          <a:p>
            <a:pPr algn="ctr" indent="0" marL="0">
              <a:buNone/>
            </a:pPr>
            <a:r>
              <a:rPr lang="en-US" sz="950" b="1" dirty="0">
                <a:solidFill>
                  <a:srgbClr val="5A6880"/>
                </a:solidFill>
                <a:latin typeface="Calibri" pitchFamily="34" charset="0"/>
                <a:ea typeface="Calibri" pitchFamily="34" charset="-122"/>
                <a:cs typeface="Calibri" pitchFamily="34" charset="-120"/>
              </a:rPr>
              <a:t>Hadapan</a:t>
            </a:r>
            <a:endParaRPr lang="en-US" sz="950" dirty="0"/>
          </a:p>
        </p:txBody>
      </p:sp>
      <p:sp>
        <p:nvSpPr>
          <p:cNvPr id="8" name="Shape 5"/>
          <p:cNvSpPr/>
          <p:nvPr/>
        </p:nvSpPr>
        <p:spPr>
          <a:xfrm>
            <a:off x="1197864" y="2505456"/>
            <a:ext cx="713232" cy="713232"/>
          </a:xfrm>
          <a:prstGeom prst="ellipse">
            <a:avLst/>
          </a:prstGeom>
          <a:solidFill>
            <a:srgbClr val="D9A93A"/>
          </a:solidFill>
          <a:ln w="12700">
            <a:solidFill>
              <a:srgbClr val="D9A93A"/>
            </a:solidFill>
            <a:prstDash val="solid"/>
          </a:ln>
        </p:spPr>
      </p:sp>
      <p:sp>
        <p:nvSpPr>
          <p:cNvPr id="9" name="Text 6"/>
          <p:cNvSpPr txBox="1"/>
          <p:nvPr/>
        </p:nvSpPr>
        <p:spPr>
          <a:xfrm>
            <a:off x="1106424" y="2505456"/>
            <a:ext cx="896112" cy="713232"/>
          </a:xfrm>
          <a:prstGeom prst="rect">
            <a:avLst/>
          </a:prstGeom>
          <a:noFill/>
          <a:ln/>
        </p:spPr>
        <p:txBody>
          <a:bodyPr wrap="square" lIns="0" tIns="0" rIns="0" bIns="0" rtlCol="0" anchor="ctr"/>
          <a:lstStyle/>
          <a:p>
            <a:pPr algn="ctr" indent="0" marL="0">
              <a:buNone/>
            </a:pPr>
            <a:r>
              <a:rPr lang="en-US" sz="950" b="1" dirty="0">
                <a:solidFill>
                  <a:srgbClr val="0F1E3D"/>
                </a:solidFill>
                <a:latin typeface="Calibri" pitchFamily="34" charset="0"/>
                <a:ea typeface="Calibri" pitchFamily="34" charset="-122"/>
                <a:cs typeface="Calibri" pitchFamily="34" charset="-120"/>
              </a:rPr>
              <a:t>Belakang</a:t>
            </a:r>
            <a:endParaRPr lang="en-US" sz="950" dirty="0"/>
          </a:p>
        </p:txBody>
      </p:sp>
      <p:sp>
        <p:nvSpPr>
          <p:cNvPr id="10" name="Shape 7"/>
          <p:cNvSpPr/>
          <p:nvPr/>
        </p:nvSpPr>
        <p:spPr>
          <a:xfrm>
            <a:off x="210312" y="1517904"/>
            <a:ext cx="713232" cy="713232"/>
          </a:xfrm>
          <a:prstGeom prst="ellipse">
            <a:avLst/>
          </a:prstGeom>
          <a:solidFill>
            <a:srgbClr val="FFFFFF"/>
          </a:solidFill>
          <a:ln w="12700">
            <a:solidFill>
              <a:srgbClr val="B9C4D6"/>
            </a:solidFill>
            <a:prstDash val="solid"/>
          </a:ln>
        </p:spPr>
      </p:sp>
      <p:sp>
        <p:nvSpPr>
          <p:cNvPr id="11" name="Text 8"/>
          <p:cNvSpPr txBox="1"/>
          <p:nvPr/>
        </p:nvSpPr>
        <p:spPr>
          <a:xfrm>
            <a:off x="118872" y="1517904"/>
            <a:ext cx="896112" cy="713232"/>
          </a:xfrm>
          <a:prstGeom prst="rect">
            <a:avLst/>
          </a:prstGeom>
          <a:noFill/>
          <a:ln/>
        </p:spPr>
        <p:txBody>
          <a:bodyPr wrap="square" lIns="0" tIns="0" rIns="0" bIns="0" rtlCol="0" anchor="ctr"/>
          <a:lstStyle/>
          <a:p>
            <a:pPr algn="ctr" indent="0" marL="0">
              <a:buNone/>
            </a:pPr>
            <a:r>
              <a:rPr lang="en-US" sz="950" b="1" dirty="0">
                <a:solidFill>
                  <a:srgbClr val="5A6880"/>
                </a:solidFill>
                <a:latin typeface="Calibri" pitchFamily="34" charset="0"/>
                <a:ea typeface="Calibri" pitchFamily="34" charset="-122"/>
                <a:cs typeface="Calibri" pitchFamily="34" charset="-120"/>
              </a:rPr>
              <a:t>Kiri</a:t>
            </a:r>
            <a:endParaRPr lang="en-US" sz="950" dirty="0"/>
          </a:p>
        </p:txBody>
      </p:sp>
      <p:sp>
        <p:nvSpPr>
          <p:cNvPr id="12" name="Shape 9"/>
          <p:cNvSpPr/>
          <p:nvPr/>
        </p:nvSpPr>
        <p:spPr>
          <a:xfrm>
            <a:off x="2185416" y="1517904"/>
            <a:ext cx="713232" cy="713232"/>
          </a:xfrm>
          <a:prstGeom prst="ellipse">
            <a:avLst/>
          </a:prstGeom>
          <a:solidFill>
            <a:srgbClr val="FFFFFF"/>
          </a:solidFill>
          <a:ln w="12700">
            <a:solidFill>
              <a:srgbClr val="B9C4D6"/>
            </a:solidFill>
            <a:prstDash val="solid"/>
          </a:ln>
        </p:spPr>
      </p:sp>
      <p:sp>
        <p:nvSpPr>
          <p:cNvPr id="13" name="Text 10"/>
          <p:cNvSpPr txBox="1"/>
          <p:nvPr/>
        </p:nvSpPr>
        <p:spPr>
          <a:xfrm>
            <a:off x="2093976" y="1517904"/>
            <a:ext cx="896112" cy="713232"/>
          </a:xfrm>
          <a:prstGeom prst="rect">
            <a:avLst/>
          </a:prstGeom>
          <a:noFill/>
          <a:ln/>
        </p:spPr>
        <p:txBody>
          <a:bodyPr wrap="square" lIns="0" tIns="0" rIns="0" bIns="0" rtlCol="0" anchor="ctr"/>
          <a:lstStyle/>
          <a:p>
            <a:pPr algn="ctr" indent="0" marL="0">
              <a:buNone/>
            </a:pPr>
            <a:r>
              <a:rPr lang="en-US" sz="950" b="1" dirty="0">
                <a:solidFill>
                  <a:srgbClr val="5A6880"/>
                </a:solidFill>
                <a:latin typeface="Calibri" pitchFamily="34" charset="0"/>
                <a:ea typeface="Calibri" pitchFamily="34" charset="-122"/>
                <a:cs typeface="Calibri" pitchFamily="34" charset="-120"/>
              </a:rPr>
              <a:t>Kanan</a:t>
            </a:r>
            <a:endParaRPr lang="en-US" sz="950" dirty="0"/>
          </a:p>
        </p:txBody>
      </p:sp>
      <p:sp>
        <p:nvSpPr>
          <p:cNvPr id="14" name="Text 11"/>
          <p:cNvSpPr txBox="1"/>
          <p:nvPr/>
        </p:nvSpPr>
        <p:spPr>
          <a:xfrm>
            <a:off x="411480" y="3246120"/>
            <a:ext cx="2377440" cy="256032"/>
          </a:xfrm>
          <a:prstGeom prst="rect">
            <a:avLst/>
          </a:prstGeom>
          <a:noFill/>
          <a:ln/>
        </p:spPr>
        <p:txBody>
          <a:bodyPr wrap="square" lIns="0" tIns="0" rIns="0" bIns="0" rtlCol="0" anchor="t"/>
          <a:lstStyle/>
          <a:p>
            <a:pPr indent="0" marL="0">
              <a:buNone/>
            </a:pPr>
            <a:r>
              <a:rPr lang="en-US" sz="1100" b="1" spc="200" kern="0" dirty="0">
                <a:solidFill>
                  <a:srgbClr val="5A6880"/>
                </a:solidFill>
                <a:latin typeface="Calibri" pitchFamily="34" charset="0"/>
                <a:ea typeface="Calibri" pitchFamily="34" charset="-122"/>
                <a:cs typeface="Calibri" pitchFamily="34" charset="-120"/>
              </a:rPr>
              <a:t>SERANGAN DARI</a:t>
            </a:r>
            <a:endParaRPr lang="en-US" sz="1100" dirty="0"/>
          </a:p>
        </p:txBody>
      </p:sp>
      <p:sp>
        <p:nvSpPr>
          <p:cNvPr id="15" name="Text 12"/>
          <p:cNvSpPr txBox="1"/>
          <p:nvPr/>
        </p:nvSpPr>
        <p:spPr>
          <a:xfrm>
            <a:off x="411480" y="3474720"/>
            <a:ext cx="2377440" cy="548640"/>
          </a:xfrm>
          <a:prstGeom prst="rect">
            <a:avLst/>
          </a:prstGeom>
          <a:noFill/>
          <a:ln/>
        </p:spPr>
        <p:txBody>
          <a:bodyPr wrap="square" lIns="0" tIns="0" rIns="0" bIns="0" rtlCol="0" anchor="ctr"/>
          <a:lstStyle/>
          <a:p>
            <a:pPr indent="0" marL="0">
              <a:buNone/>
            </a:pPr>
            <a:r>
              <a:rPr lang="en-US" sz="3200" b="1" dirty="0">
                <a:solidFill>
                  <a:srgbClr val="0F1E3D"/>
                </a:solidFill>
                <a:latin typeface="Calibri" pitchFamily="34" charset="0"/>
                <a:ea typeface="Calibri" pitchFamily="34" charset="-122"/>
                <a:cs typeface="Calibri" pitchFamily="34" charset="-120"/>
              </a:rPr>
              <a:t>Belakang</a:t>
            </a:r>
            <a:endParaRPr lang="en-US" sz="3200" dirty="0"/>
          </a:p>
        </p:txBody>
      </p:sp>
      <p:sp>
        <p:nvSpPr>
          <p:cNvPr id="16" name="Text 13"/>
          <p:cNvSpPr txBox="1"/>
          <p:nvPr/>
        </p:nvSpPr>
        <p:spPr>
          <a:xfrm>
            <a:off x="411480" y="4023360"/>
            <a:ext cx="2377440" cy="640080"/>
          </a:xfrm>
          <a:prstGeom prst="rect">
            <a:avLst/>
          </a:prstGeom>
          <a:noFill/>
          <a:ln/>
        </p:spPr>
        <p:txBody>
          <a:bodyPr wrap="square" lIns="0" tIns="0" rIns="0" bIns="0" rtlCol="0" anchor="t"/>
          <a:lstStyle/>
          <a:p>
            <a:pPr indent="0" marL="0">
              <a:buNone/>
            </a:pPr>
            <a:r>
              <a:rPr lang="en-US" sz="1300" dirty="0">
                <a:solidFill>
                  <a:srgbClr val="5A6880"/>
                </a:solidFill>
                <a:latin typeface="Calibri" pitchFamily="34" charset="0"/>
                <a:ea typeface="Calibri" pitchFamily="34" charset="-122"/>
                <a:cs typeface="Calibri" pitchFamily="34" charset="-120"/>
              </a:rPr>
              <a:t>Masa silam dijadikan alasan untuk berputus asa.</a:t>
            </a:r>
            <a:endParaRPr lang="en-US" sz="1300" dirty="0"/>
          </a:p>
        </p:txBody>
      </p:sp>
      <p:sp>
        <p:nvSpPr>
          <p:cNvPr id="17" name="Text 14"/>
          <p:cNvSpPr txBox="1"/>
          <p:nvPr/>
        </p:nvSpPr>
        <p:spPr>
          <a:xfrm>
            <a:off x="3520440" y="411480"/>
            <a:ext cx="5212080" cy="566928"/>
          </a:xfrm>
          <a:prstGeom prst="rect">
            <a:avLst/>
          </a:prstGeom>
          <a:noFill/>
          <a:ln/>
        </p:spPr>
        <p:txBody>
          <a:bodyPr wrap="square" lIns="0" tIns="0" rIns="0" bIns="0" rtlCol="0" anchor="ctr"/>
          <a:lstStyle/>
          <a:p>
            <a:pPr indent="0" marL="0">
              <a:buNone/>
            </a:pPr>
            <a:r>
              <a:rPr lang="en-US" sz="2600" b="1" dirty="0">
                <a:solidFill>
                  <a:srgbClr val="0F1E3D"/>
                </a:solidFill>
                <a:latin typeface="Calibri" pitchFamily="34" charset="0"/>
                <a:ea typeface="Calibri" pitchFamily="34" charset="-122"/>
                <a:cs typeface="Calibri" pitchFamily="34" charset="-120"/>
              </a:rPr>
              <a:t>Diungkit perkara yang lepas</a:t>
            </a:r>
            <a:endParaRPr lang="en-US" sz="2600" dirty="0"/>
          </a:p>
        </p:txBody>
      </p:sp>
      <p:sp>
        <p:nvSpPr>
          <p:cNvPr id="18" name="Shape 15"/>
          <p:cNvSpPr/>
          <p:nvPr/>
        </p:nvSpPr>
        <p:spPr>
          <a:xfrm>
            <a:off x="3520440" y="1234440"/>
            <a:ext cx="2500884" cy="713232"/>
          </a:xfrm>
          <a:prstGeom prst="roundRect">
            <a:avLst>
              <a:gd name="adj" fmla="val 15385"/>
            </a:avLst>
          </a:prstGeom>
          <a:solidFill>
            <a:srgbClr val="FFFFFF"/>
          </a:solidFill>
          <a:ln w="9525">
            <a:solidFill>
              <a:srgbClr val="DCE3EC"/>
            </a:solidFill>
            <a:prstDash val="solid"/>
          </a:ln>
        </p:spPr>
      </p:sp>
      <p:sp>
        <p:nvSpPr>
          <p:cNvPr id="19" name="Text 16"/>
          <p:cNvSpPr txBox="1"/>
          <p:nvPr/>
        </p:nvSpPr>
        <p:spPr>
          <a:xfrm>
            <a:off x="3703320" y="1234440"/>
            <a:ext cx="2226564" cy="713232"/>
          </a:xfrm>
          <a:prstGeom prst="rect">
            <a:avLst/>
          </a:prstGeom>
          <a:noFill/>
          <a:ln/>
        </p:spPr>
        <p:txBody>
          <a:bodyPr wrap="square" lIns="0" tIns="0" rIns="0" bIns="0" rtlCol="0" anchor="ctr"/>
          <a:lstStyle/>
          <a:p>
            <a:pPr indent="0" marL="0">
              <a:buNone/>
            </a:pPr>
            <a:r>
              <a:rPr lang="en-US" sz="1600" b="1" dirty="0">
                <a:solidFill>
                  <a:srgbClr val="0F1E3D"/>
                </a:solidFill>
                <a:latin typeface="Calibri" pitchFamily="34" charset="0"/>
                <a:ea typeface="Calibri" pitchFamily="34" charset="-122"/>
                <a:cs typeface="Calibri" pitchFamily="34" charset="-120"/>
              </a:rPr>
              <a:t>Masa silam</a:t>
            </a:r>
            <a:endParaRPr lang="en-US" sz="1600" dirty="0"/>
          </a:p>
        </p:txBody>
      </p:sp>
      <p:sp>
        <p:nvSpPr>
          <p:cNvPr id="20" name="Shape 17"/>
          <p:cNvSpPr/>
          <p:nvPr/>
        </p:nvSpPr>
        <p:spPr>
          <a:xfrm>
            <a:off x="6185916" y="1234440"/>
            <a:ext cx="2500884" cy="713232"/>
          </a:xfrm>
          <a:prstGeom prst="roundRect">
            <a:avLst>
              <a:gd name="adj" fmla="val 15385"/>
            </a:avLst>
          </a:prstGeom>
          <a:solidFill>
            <a:srgbClr val="FFFFFF"/>
          </a:solidFill>
          <a:ln w="9525">
            <a:solidFill>
              <a:srgbClr val="DCE3EC"/>
            </a:solidFill>
            <a:prstDash val="solid"/>
          </a:ln>
        </p:spPr>
      </p:sp>
      <p:sp>
        <p:nvSpPr>
          <p:cNvPr id="21" name="Text 18"/>
          <p:cNvSpPr txBox="1"/>
          <p:nvPr/>
        </p:nvSpPr>
        <p:spPr>
          <a:xfrm>
            <a:off x="6368796" y="1234440"/>
            <a:ext cx="2226564" cy="713232"/>
          </a:xfrm>
          <a:prstGeom prst="rect">
            <a:avLst/>
          </a:prstGeom>
          <a:noFill/>
          <a:ln/>
        </p:spPr>
        <p:txBody>
          <a:bodyPr wrap="square" lIns="0" tIns="0" rIns="0" bIns="0" rtlCol="0" anchor="ctr"/>
          <a:lstStyle/>
          <a:p>
            <a:pPr indent="0" marL="0">
              <a:buNone/>
            </a:pPr>
            <a:r>
              <a:rPr lang="en-US" sz="1600" b="1" dirty="0">
                <a:solidFill>
                  <a:srgbClr val="0F1E3D"/>
                </a:solidFill>
                <a:latin typeface="Calibri" pitchFamily="34" charset="0"/>
                <a:ea typeface="Calibri" pitchFamily="34" charset="-122"/>
                <a:cs typeface="Calibri" pitchFamily="34" charset="-120"/>
              </a:rPr>
              <a:t>Terbuat silap</a:t>
            </a:r>
            <a:endParaRPr lang="en-US" sz="1600" dirty="0"/>
          </a:p>
        </p:txBody>
      </p:sp>
      <p:sp>
        <p:nvSpPr>
          <p:cNvPr id="22" name="Shape 19"/>
          <p:cNvSpPr/>
          <p:nvPr/>
        </p:nvSpPr>
        <p:spPr>
          <a:xfrm>
            <a:off x="3520440" y="2112264"/>
            <a:ext cx="2500884" cy="713232"/>
          </a:xfrm>
          <a:prstGeom prst="roundRect">
            <a:avLst>
              <a:gd name="adj" fmla="val 15385"/>
            </a:avLst>
          </a:prstGeom>
          <a:solidFill>
            <a:srgbClr val="FFFFFF"/>
          </a:solidFill>
          <a:ln w="9525">
            <a:solidFill>
              <a:srgbClr val="DCE3EC"/>
            </a:solidFill>
            <a:prstDash val="solid"/>
          </a:ln>
        </p:spPr>
      </p:sp>
      <p:sp>
        <p:nvSpPr>
          <p:cNvPr id="23" name="Text 20"/>
          <p:cNvSpPr txBox="1"/>
          <p:nvPr/>
        </p:nvSpPr>
        <p:spPr>
          <a:xfrm>
            <a:off x="3703320" y="2112264"/>
            <a:ext cx="2226564" cy="713232"/>
          </a:xfrm>
          <a:prstGeom prst="rect">
            <a:avLst/>
          </a:prstGeom>
          <a:noFill/>
          <a:ln/>
        </p:spPr>
        <p:txBody>
          <a:bodyPr wrap="square" lIns="0" tIns="0" rIns="0" bIns="0" rtlCol="0" anchor="ctr"/>
          <a:lstStyle/>
          <a:p>
            <a:pPr indent="0" marL="0">
              <a:buNone/>
            </a:pPr>
            <a:r>
              <a:rPr lang="en-US" sz="1600" b="1" dirty="0">
                <a:solidFill>
                  <a:srgbClr val="0F1E3D"/>
                </a:solidFill>
                <a:latin typeface="Calibri" pitchFamily="34" charset="0"/>
                <a:ea typeface="Calibri" pitchFamily="34" charset="-122"/>
                <a:cs typeface="Calibri" pitchFamily="34" charset="-120"/>
              </a:rPr>
              <a:t>Dosa lama</a:t>
            </a:r>
            <a:endParaRPr lang="en-US" sz="1600" dirty="0"/>
          </a:p>
        </p:txBody>
      </p:sp>
      <p:sp>
        <p:nvSpPr>
          <p:cNvPr id="24" name="Shape 21"/>
          <p:cNvSpPr/>
          <p:nvPr/>
        </p:nvSpPr>
        <p:spPr>
          <a:xfrm>
            <a:off x="6185916" y="2112264"/>
            <a:ext cx="2500884" cy="713232"/>
          </a:xfrm>
          <a:prstGeom prst="roundRect">
            <a:avLst>
              <a:gd name="adj" fmla="val 15385"/>
            </a:avLst>
          </a:prstGeom>
          <a:solidFill>
            <a:srgbClr val="FFFFFF"/>
          </a:solidFill>
          <a:ln w="9525">
            <a:solidFill>
              <a:srgbClr val="DCE3EC"/>
            </a:solidFill>
            <a:prstDash val="solid"/>
          </a:ln>
        </p:spPr>
      </p:sp>
      <p:sp>
        <p:nvSpPr>
          <p:cNvPr id="25" name="Text 22"/>
          <p:cNvSpPr txBox="1"/>
          <p:nvPr/>
        </p:nvSpPr>
        <p:spPr>
          <a:xfrm>
            <a:off x="6368796" y="2112264"/>
            <a:ext cx="2226564" cy="713232"/>
          </a:xfrm>
          <a:prstGeom prst="rect">
            <a:avLst/>
          </a:prstGeom>
          <a:noFill/>
          <a:ln/>
        </p:spPr>
        <p:txBody>
          <a:bodyPr wrap="square" lIns="0" tIns="0" rIns="0" bIns="0" rtlCol="0" anchor="ctr"/>
          <a:lstStyle/>
          <a:p>
            <a:pPr indent="0" marL="0">
              <a:buNone/>
            </a:pPr>
            <a:r>
              <a:rPr lang="en-US" sz="1600" b="1" dirty="0">
                <a:solidFill>
                  <a:srgbClr val="0F1E3D"/>
                </a:solidFill>
                <a:latin typeface="Calibri" pitchFamily="34" charset="0"/>
                <a:ea typeface="Calibri" pitchFamily="34" charset="-122"/>
                <a:cs typeface="Calibri" pitchFamily="34" charset="-120"/>
              </a:rPr>
              <a:t>Keturunan bermasalah</a:t>
            </a:r>
            <a:endParaRPr lang="en-US" sz="1600" dirty="0"/>
          </a:p>
        </p:txBody>
      </p:sp>
      <p:sp>
        <p:nvSpPr>
          <p:cNvPr id="26" name="Shape 23"/>
          <p:cNvSpPr/>
          <p:nvPr/>
        </p:nvSpPr>
        <p:spPr>
          <a:xfrm>
            <a:off x="3520440" y="2990088"/>
            <a:ext cx="2500884" cy="713232"/>
          </a:xfrm>
          <a:prstGeom prst="roundRect">
            <a:avLst>
              <a:gd name="adj" fmla="val 15385"/>
            </a:avLst>
          </a:prstGeom>
          <a:solidFill>
            <a:srgbClr val="FFFFFF"/>
          </a:solidFill>
          <a:ln w="9525">
            <a:solidFill>
              <a:srgbClr val="DCE3EC"/>
            </a:solidFill>
            <a:prstDash val="solid"/>
          </a:ln>
        </p:spPr>
      </p:sp>
      <p:sp>
        <p:nvSpPr>
          <p:cNvPr id="27" name="Text 24"/>
          <p:cNvSpPr txBox="1"/>
          <p:nvPr/>
        </p:nvSpPr>
        <p:spPr>
          <a:xfrm>
            <a:off x="3703320" y="2990088"/>
            <a:ext cx="2226564" cy="713232"/>
          </a:xfrm>
          <a:prstGeom prst="rect">
            <a:avLst/>
          </a:prstGeom>
          <a:noFill/>
          <a:ln/>
        </p:spPr>
        <p:txBody>
          <a:bodyPr wrap="square" lIns="0" tIns="0" rIns="0" bIns="0" rtlCol="0" anchor="ctr"/>
          <a:lstStyle/>
          <a:p>
            <a:pPr indent="0" marL="0">
              <a:buNone/>
            </a:pPr>
            <a:r>
              <a:rPr lang="en-US" sz="1600" b="1" dirty="0">
                <a:solidFill>
                  <a:srgbClr val="0F1E3D"/>
                </a:solidFill>
                <a:latin typeface="Calibri" pitchFamily="34" charset="0"/>
                <a:ea typeface="Calibri" pitchFamily="34" charset="-122"/>
                <a:cs typeface="Calibri" pitchFamily="34" charset="-120"/>
              </a:rPr>
              <a:t>Putus asa</a:t>
            </a:r>
            <a:endParaRPr lang="en-US" sz="1600" dirty="0"/>
          </a:p>
        </p:txBody>
      </p:sp>
      <p:sp>
        <p:nvSpPr>
          <p:cNvPr id="28" name="Shape 25"/>
          <p:cNvSpPr/>
          <p:nvPr/>
        </p:nvSpPr>
        <p:spPr>
          <a:xfrm>
            <a:off x="6185916" y="2990088"/>
            <a:ext cx="2500884" cy="713232"/>
          </a:xfrm>
          <a:prstGeom prst="roundRect">
            <a:avLst>
              <a:gd name="adj" fmla="val 15385"/>
            </a:avLst>
          </a:prstGeom>
          <a:solidFill>
            <a:srgbClr val="FFFFFF"/>
          </a:solidFill>
          <a:ln w="9525">
            <a:solidFill>
              <a:srgbClr val="DCE3EC"/>
            </a:solidFill>
            <a:prstDash val="solid"/>
          </a:ln>
        </p:spPr>
      </p:sp>
      <p:sp>
        <p:nvSpPr>
          <p:cNvPr id="29" name="Text 26"/>
          <p:cNvSpPr txBox="1"/>
          <p:nvPr/>
        </p:nvSpPr>
        <p:spPr>
          <a:xfrm>
            <a:off x="6368796" y="2990088"/>
            <a:ext cx="2226564" cy="713232"/>
          </a:xfrm>
          <a:prstGeom prst="rect">
            <a:avLst/>
          </a:prstGeom>
          <a:noFill/>
          <a:ln/>
        </p:spPr>
        <p:txBody>
          <a:bodyPr wrap="square" lIns="0" tIns="0" rIns="0" bIns="0" rtlCol="0" anchor="ctr"/>
          <a:lstStyle/>
          <a:p>
            <a:pPr indent="0" marL="0">
              <a:buNone/>
            </a:pPr>
            <a:r>
              <a:rPr lang="en-US" sz="1600" b="1" dirty="0">
                <a:solidFill>
                  <a:srgbClr val="0F1E3D"/>
                </a:solidFill>
                <a:latin typeface="Calibri" pitchFamily="34" charset="0"/>
                <a:ea typeface="Calibri" pitchFamily="34" charset="-122"/>
                <a:cs typeface="Calibri" pitchFamily="34" charset="-120"/>
              </a:rPr>
              <a:t>Rasa tak layak berdakwah</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108960" cy="5143500"/>
          </a:xfrm>
          <a:prstGeom prst="rect">
            <a:avLst/>
          </a:prstGeom>
          <a:solidFill>
            <a:srgbClr val="F3F6FA"/>
          </a:solidFill>
          <a:ln w="12700">
            <a:solidFill>
              <a:srgbClr val="F3F6FA"/>
            </a:solidFill>
            <a:prstDash val="solid"/>
          </a:ln>
        </p:spPr>
      </p:sp>
      <p:sp>
        <p:nvSpPr>
          <p:cNvPr id="3" name="Shape 1"/>
          <p:cNvSpPr/>
          <p:nvPr/>
        </p:nvSpPr>
        <p:spPr>
          <a:xfrm>
            <a:off x="566928" y="886968"/>
            <a:ext cx="1975104" cy="1975104"/>
          </a:xfrm>
          <a:prstGeom prst="ellipse">
            <a:avLst/>
          </a:prstGeom>
          <a:solidFill>
            <a:srgbClr val="FFFFFF">
              <a:alpha val="0"/>
            </a:srgbClr>
          </a:solidFill>
          <a:ln w="12700">
            <a:solidFill>
              <a:srgbClr val="B9C4D6"/>
            </a:solidFill>
            <a:prstDash val="dash"/>
          </a:ln>
        </p:spPr>
      </p:sp>
      <p:sp>
        <p:nvSpPr>
          <p:cNvPr id="4" name="Shape 2"/>
          <p:cNvSpPr/>
          <p:nvPr/>
        </p:nvSpPr>
        <p:spPr>
          <a:xfrm>
            <a:off x="1188720" y="1508760"/>
            <a:ext cx="731520" cy="731520"/>
          </a:xfrm>
          <a:prstGeom prst="ellipse">
            <a:avLst/>
          </a:prstGeom>
          <a:solidFill>
            <a:srgbClr val="0F1E3D"/>
          </a:solidFill>
          <a:ln w="12700">
            <a:solidFill>
              <a:srgbClr val="0F1E3D"/>
            </a:solidFill>
            <a:prstDash val="solid"/>
          </a:ln>
        </p:spPr>
      </p:sp>
      <p:pic>
        <p:nvPicPr>
          <p:cNvPr id="5" name="Image 0" descr="preencoded.png">    </p:cNvPr>
          <p:cNvPicPr>
            <a:picLocks noChangeAspect="1"/>
          </p:cNvPicPr>
          <p:nvPr/>
        </p:nvPicPr>
        <p:blipFill>
          <a:blip r:embed="rId1"/>
          <a:stretch>
            <a:fillRect/>
          </a:stretch>
        </p:blipFill>
        <p:spPr>
          <a:xfrm>
            <a:off x="1378915" y="1698955"/>
            <a:ext cx="351130" cy="351130"/>
          </a:xfrm>
          <a:prstGeom prst="rect">
            <a:avLst/>
          </a:prstGeom>
        </p:spPr>
      </p:pic>
      <p:sp>
        <p:nvSpPr>
          <p:cNvPr id="6" name="Shape 3"/>
          <p:cNvSpPr/>
          <p:nvPr/>
        </p:nvSpPr>
        <p:spPr>
          <a:xfrm>
            <a:off x="1197864" y="530352"/>
            <a:ext cx="713232" cy="713232"/>
          </a:xfrm>
          <a:prstGeom prst="ellipse">
            <a:avLst/>
          </a:prstGeom>
          <a:solidFill>
            <a:srgbClr val="FFFFFF"/>
          </a:solidFill>
          <a:ln w="12700">
            <a:solidFill>
              <a:srgbClr val="B9C4D6"/>
            </a:solidFill>
            <a:prstDash val="solid"/>
          </a:ln>
        </p:spPr>
      </p:sp>
      <p:sp>
        <p:nvSpPr>
          <p:cNvPr id="7" name="Text 4"/>
          <p:cNvSpPr txBox="1"/>
          <p:nvPr/>
        </p:nvSpPr>
        <p:spPr>
          <a:xfrm>
            <a:off x="1106424" y="530352"/>
            <a:ext cx="896112" cy="713232"/>
          </a:xfrm>
          <a:prstGeom prst="rect">
            <a:avLst/>
          </a:prstGeom>
          <a:noFill/>
          <a:ln/>
        </p:spPr>
        <p:txBody>
          <a:bodyPr wrap="square" lIns="0" tIns="0" rIns="0" bIns="0" rtlCol="0" anchor="ctr"/>
          <a:lstStyle/>
          <a:p>
            <a:pPr algn="ctr" indent="0" marL="0">
              <a:buNone/>
            </a:pPr>
            <a:r>
              <a:rPr lang="en-US" sz="950" b="1" dirty="0">
                <a:solidFill>
                  <a:srgbClr val="5A6880"/>
                </a:solidFill>
                <a:latin typeface="Calibri" pitchFamily="34" charset="0"/>
                <a:ea typeface="Calibri" pitchFamily="34" charset="-122"/>
                <a:cs typeface="Calibri" pitchFamily="34" charset="-120"/>
              </a:rPr>
              <a:t>Hadapan</a:t>
            </a:r>
            <a:endParaRPr lang="en-US" sz="950" dirty="0"/>
          </a:p>
        </p:txBody>
      </p:sp>
      <p:sp>
        <p:nvSpPr>
          <p:cNvPr id="8" name="Shape 5"/>
          <p:cNvSpPr/>
          <p:nvPr/>
        </p:nvSpPr>
        <p:spPr>
          <a:xfrm>
            <a:off x="1197864" y="2505456"/>
            <a:ext cx="713232" cy="713232"/>
          </a:xfrm>
          <a:prstGeom prst="ellipse">
            <a:avLst/>
          </a:prstGeom>
          <a:solidFill>
            <a:srgbClr val="FFFFFF"/>
          </a:solidFill>
          <a:ln w="12700">
            <a:solidFill>
              <a:srgbClr val="B9C4D6"/>
            </a:solidFill>
            <a:prstDash val="solid"/>
          </a:ln>
        </p:spPr>
      </p:sp>
      <p:sp>
        <p:nvSpPr>
          <p:cNvPr id="9" name="Text 6"/>
          <p:cNvSpPr txBox="1"/>
          <p:nvPr/>
        </p:nvSpPr>
        <p:spPr>
          <a:xfrm>
            <a:off x="1106424" y="2505456"/>
            <a:ext cx="896112" cy="713232"/>
          </a:xfrm>
          <a:prstGeom prst="rect">
            <a:avLst/>
          </a:prstGeom>
          <a:noFill/>
          <a:ln/>
        </p:spPr>
        <p:txBody>
          <a:bodyPr wrap="square" lIns="0" tIns="0" rIns="0" bIns="0" rtlCol="0" anchor="ctr"/>
          <a:lstStyle/>
          <a:p>
            <a:pPr algn="ctr" indent="0" marL="0">
              <a:buNone/>
            </a:pPr>
            <a:r>
              <a:rPr lang="en-US" sz="950" b="1" dirty="0">
                <a:solidFill>
                  <a:srgbClr val="5A6880"/>
                </a:solidFill>
                <a:latin typeface="Calibri" pitchFamily="34" charset="0"/>
                <a:ea typeface="Calibri" pitchFamily="34" charset="-122"/>
                <a:cs typeface="Calibri" pitchFamily="34" charset="-120"/>
              </a:rPr>
              <a:t>Belakang</a:t>
            </a:r>
            <a:endParaRPr lang="en-US" sz="950" dirty="0"/>
          </a:p>
        </p:txBody>
      </p:sp>
      <p:sp>
        <p:nvSpPr>
          <p:cNvPr id="10" name="Shape 7"/>
          <p:cNvSpPr/>
          <p:nvPr/>
        </p:nvSpPr>
        <p:spPr>
          <a:xfrm>
            <a:off x="210312" y="1517904"/>
            <a:ext cx="713232" cy="713232"/>
          </a:xfrm>
          <a:prstGeom prst="ellipse">
            <a:avLst/>
          </a:prstGeom>
          <a:solidFill>
            <a:srgbClr val="FFFFFF"/>
          </a:solidFill>
          <a:ln w="12700">
            <a:solidFill>
              <a:srgbClr val="B9C4D6"/>
            </a:solidFill>
            <a:prstDash val="solid"/>
          </a:ln>
        </p:spPr>
      </p:sp>
      <p:sp>
        <p:nvSpPr>
          <p:cNvPr id="11" name="Text 8"/>
          <p:cNvSpPr txBox="1"/>
          <p:nvPr/>
        </p:nvSpPr>
        <p:spPr>
          <a:xfrm>
            <a:off x="118872" y="1517904"/>
            <a:ext cx="896112" cy="713232"/>
          </a:xfrm>
          <a:prstGeom prst="rect">
            <a:avLst/>
          </a:prstGeom>
          <a:noFill/>
          <a:ln/>
        </p:spPr>
        <p:txBody>
          <a:bodyPr wrap="square" lIns="0" tIns="0" rIns="0" bIns="0" rtlCol="0" anchor="ctr"/>
          <a:lstStyle/>
          <a:p>
            <a:pPr algn="ctr" indent="0" marL="0">
              <a:buNone/>
            </a:pPr>
            <a:r>
              <a:rPr lang="en-US" sz="950" b="1" dirty="0">
                <a:solidFill>
                  <a:srgbClr val="5A6880"/>
                </a:solidFill>
                <a:latin typeface="Calibri" pitchFamily="34" charset="0"/>
                <a:ea typeface="Calibri" pitchFamily="34" charset="-122"/>
                <a:cs typeface="Calibri" pitchFamily="34" charset="-120"/>
              </a:rPr>
              <a:t>Kiri</a:t>
            </a:r>
            <a:endParaRPr lang="en-US" sz="950" dirty="0"/>
          </a:p>
        </p:txBody>
      </p:sp>
      <p:sp>
        <p:nvSpPr>
          <p:cNvPr id="12" name="Shape 9"/>
          <p:cNvSpPr/>
          <p:nvPr/>
        </p:nvSpPr>
        <p:spPr>
          <a:xfrm>
            <a:off x="2185416" y="1517904"/>
            <a:ext cx="713232" cy="713232"/>
          </a:xfrm>
          <a:prstGeom prst="ellipse">
            <a:avLst/>
          </a:prstGeom>
          <a:solidFill>
            <a:srgbClr val="D9A93A"/>
          </a:solidFill>
          <a:ln w="12700">
            <a:solidFill>
              <a:srgbClr val="D9A93A"/>
            </a:solidFill>
            <a:prstDash val="solid"/>
          </a:ln>
        </p:spPr>
      </p:sp>
      <p:sp>
        <p:nvSpPr>
          <p:cNvPr id="13" name="Text 10"/>
          <p:cNvSpPr txBox="1"/>
          <p:nvPr/>
        </p:nvSpPr>
        <p:spPr>
          <a:xfrm>
            <a:off x="2093976" y="1517904"/>
            <a:ext cx="896112" cy="713232"/>
          </a:xfrm>
          <a:prstGeom prst="rect">
            <a:avLst/>
          </a:prstGeom>
          <a:noFill/>
          <a:ln/>
        </p:spPr>
        <p:txBody>
          <a:bodyPr wrap="square" lIns="0" tIns="0" rIns="0" bIns="0" rtlCol="0" anchor="ctr"/>
          <a:lstStyle/>
          <a:p>
            <a:pPr algn="ctr" indent="0" marL="0">
              <a:buNone/>
            </a:pPr>
            <a:r>
              <a:rPr lang="en-US" sz="950" b="1" dirty="0">
                <a:solidFill>
                  <a:srgbClr val="0F1E3D"/>
                </a:solidFill>
                <a:latin typeface="Calibri" pitchFamily="34" charset="0"/>
                <a:ea typeface="Calibri" pitchFamily="34" charset="-122"/>
                <a:cs typeface="Calibri" pitchFamily="34" charset="-120"/>
              </a:rPr>
              <a:t>Kanan</a:t>
            </a:r>
            <a:endParaRPr lang="en-US" sz="950" dirty="0"/>
          </a:p>
        </p:txBody>
      </p:sp>
      <p:sp>
        <p:nvSpPr>
          <p:cNvPr id="14" name="Text 11"/>
          <p:cNvSpPr txBox="1"/>
          <p:nvPr/>
        </p:nvSpPr>
        <p:spPr>
          <a:xfrm>
            <a:off x="411480" y="3246120"/>
            <a:ext cx="2377440" cy="256032"/>
          </a:xfrm>
          <a:prstGeom prst="rect">
            <a:avLst/>
          </a:prstGeom>
          <a:noFill/>
          <a:ln/>
        </p:spPr>
        <p:txBody>
          <a:bodyPr wrap="square" lIns="0" tIns="0" rIns="0" bIns="0" rtlCol="0" anchor="t"/>
          <a:lstStyle/>
          <a:p>
            <a:pPr indent="0" marL="0">
              <a:buNone/>
            </a:pPr>
            <a:r>
              <a:rPr lang="en-US" sz="1100" b="1" spc="200" kern="0" dirty="0">
                <a:solidFill>
                  <a:srgbClr val="5A6880"/>
                </a:solidFill>
                <a:latin typeface="Calibri" pitchFamily="34" charset="0"/>
                <a:ea typeface="Calibri" pitchFamily="34" charset="-122"/>
                <a:cs typeface="Calibri" pitchFamily="34" charset="-120"/>
              </a:rPr>
              <a:t>SERANGAN DARI</a:t>
            </a:r>
            <a:endParaRPr lang="en-US" sz="1100" dirty="0"/>
          </a:p>
        </p:txBody>
      </p:sp>
      <p:sp>
        <p:nvSpPr>
          <p:cNvPr id="15" name="Text 12"/>
          <p:cNvSpPr txBox="1"/>
          <p:nvPr/>
        </p:nvSpPr>
        <p:spPr>
          <a:xfrm>
            <a:off x="411480" y="3474720"/>
            <a:ext cx="2377440" cy="548640"/>
          </a:xfrm>
          <a:prstGeom prst="rect">
            <a:avLst/>
          </a:prstGeom>
          <a:noFill/>
          <a:ln/>
        </p:spPr>
        <p:txBody>
          <a:bodyPr wrap="square" lIns="0" tIns="0" rIns="0" bIns="0" rtlCol="0" anchor="ctr"/>
          <a:lstStyle/>
          <a:p>
            <a:pPr indent="0" marL="0">
              <a:buNone/>
            </a:pPr>
            <a:r>
              <a:rPr lang="en-US" sz="3200" b="1" dirty="0">
                <a:solidFill>
                  <a:srgbClr val="0F1E3D"/>
                </a:solidFill>
                <a:latin typeface="Calibri" pitchFamily="34" charset="0"/>
                <a:ea typeface="Calibri" pitchFamily="34" charset="-122"/>
                <a:cs typeface="Calibri" pitchFamily="34" charset="-120"/>
              </a:rPr>
              <a:t>Kanan</a:t>
            </a:r>
            <a:endParaRPr lang="en-US" sz="3200" dirty="0"/>
          </a:p>
        </p:txBody>
      </p:sp>
      <p:sp>
        <p:nvSpPr>
          <p:cNvPr id="16" name="Text 13"/>
          <p:cNvSpPr txBox="1"/>
          <p:nvPr/>
        </p:nvSpPr>
        <p:spPr>
          <a:xfrm>
            <a:off x="411480" y="4023360"/>
            <a:ext cx="2377440" cy="640080"/>
          </a:xfrm>
          <a:prstGeom prst="rect">
            <a:avLst/>
          </a:prstGeom>
          <a:noFill/>
          <a:ln/>
        </p:spPr>
        <p:txBody>
          <a:bodyPr wrap="square" lIns="0" tIns="0" rIns="0" bIns="0" rtlCol="0" anchor="t"/>
          <a:lstStyle/>
          <a:p>
            <a:pPr indent="0" marL="0">
              <a:buNone/>
            </a:pPr>
            <a:r>
              <a:rPr lang="en-US" sz="1300" dirty="0">
                <a:solidFill>
                  <a:srgbClr val="5A6880"/>
                </a:solidFill>
                <a:latin typeface="Calibri" pitchFamily="34" charset="0"/>
                <a:ea typeface="Calibri" pitchFamily="34" charset="-122"/>
                <a:cs typeface="Calibri" pitchFamily="34" charset="-120"/>
              </a:rPr>
              <a:t>Serangan halus yang sukar disedari.</a:t>
            </a:r>
            <a:endParaRPr lang="en-US" sz="1300" dirty="0"/>
          </a:p>
        </p:txBody>
      </p:sp>
      <p:sp>
        <p:nvSpPr>
          <p:cNvPr id="17" name="Text 14"/>
          <p:cNvSpPr txBox="1"/>
          <p:nvPr/>
        </p:nvSpPr>
        <p:spPr>
          <a:xfrm>
            <a:off x="3520440" y="411480"/>
            <a:ext cx="5212080" cy="566928"/>
          </a:xfrm>
          <a:prstGeom prst="rect">
            <a:avLst/>
          </a:prstGeom>
          <a:noFill/>
          <a:ln/>
        </p:spPr>
        <p:txBody>
          <a:bodyPr wrap="square" lIns="0" tIns="0" rIns="0" bIns="0" rtlCol="0" anchor="ctr"/>
          <a:lstStyle/>
          <a:p>
            <a:pPr indent="0" marL="0">
              <a:buNone/>
            </a:pPr>
            <a:r>
              <a:rPr lang="en-US" sz="2600" b="1" dirty="0">
                <a:solidFill>
                  <a:srgbClr val="0F1E3D"/>
                </a:solidFill>
                <a:latin typeface="Calibri" pitchFamily="34" charset="0"/>
                <a:ea typeface="Calibri" pitchFamily="34" charset="-122"/>
                <a:cs typeface="Calibri" pitchFamily="34" charset="-120"/>
              </a:rPr>
              <a:t>Penyakit hati</a:t>
            </a:r>
            <a:endParaRPr lang="en-US" sz="2600" dirty="0"/>
          </a:p>
        </p:txBody>
      </p:sp>
      <p:sp>
        <p:nvSpPr>
          <p:cNvPr id="18" name="Shape 15"/>
          <p:cNvSpPr/>
          <p:nvPr/>
        </p:nvSpPr>
        <p:spPr>
          <a:xfrm>
            <a:off x="3520440" y="1234440"/>
            <a:ext cx="2500884" cy="713232"/>
          </a:xfrm>
          <a:prstGeom prst="roundRect">
            <a:avLst>
              <a:gd name="adj" fmla="val 15385"/>
            </a:avLst>
          </a:prstGeom>
          <a:solidFill>
            <a:srgbClr val="FFFFFF"/>
          </a:solidFill>
          <a:ln w="9525">
            <a:solidFill>
              <a:srgbClr val="DCE3EC"/>
            </a:solidFill>
            <a:prstDash val="solid"/>
          </a:ln>
        </p:spPr>
      </p:sp>
      <p:sp>
        <p:nvSpPr>
          <p:cNvPr id="19" name="Text 16"/>
          <p:cNvSpPr txBox="1"/>
          <p:nvPr/>
        </p:nvSpPr>
        <p:spPr>
          <a:xfrm>
            <a:off x="3703320" y="1234440"/>
            <a:ext cx="2226564" cy="713232"/>
          </a:xfrm>
          <a:prstGeom prst="rect">
            <a:avLst/>
          </a:prstGeom>
          <a:noFill/>
          <a:ln/>
        </p:spPr>
        <p:txBody>
          <a:bodyPr wrap="square" lIns="0" tIns="0" rIns="0" bIns="0" rtlCol="0" anchor="ctr"/>
          <a:lstStyle/>
          <a:p>
            <a:pPr indent="0" marL="0">
              <a:buNone/>
            </a:pPr>
            <a:r>
              <a:rPr lang="en-US" sz="1600" b="1" dirty="0">
                <a:solidFill>
                  <a:srgbClr val="0F1E3D"/>
                </a:solidFill>
                <a:latin typeface="Calibri" pitchFamily="34" charset="0"/>
                <a:ea typeface="Calibri" pitchFamily="34" charset="-122"/>
                <a:cs typeface="Calibri" pitchFamily="34" charset="-120"/>
              </a:rPr>
              <a:t>Riya'</a:t>
            </a:r>
            <a:endParaRPr lang="en-US" sz="1600" dirty="0"/>
          </a:p>
        </p:txBody>
      </p:sp>
      <p:sp>
        <p:nvSpPr>
          <p:cNvPr id="20" name="Shape 17"/>
          <p:cNvSpPr/>
          <p:nvPr/>
        </p:nvSpPr>
        <p:spPr>
          <a:xfrm>
            <a:off x="6185916" y="1234440"/>
            <a:ext cx="2500884" cy="713232"/>
          </a:xfrm>
          <a:prstGeom prst="roundRect">
            <a:avLst>
              <a:gd name="adj" fmla="val 15385"/>
            </a:avLst>
          </a:prstGeom>
          <a:solidFill>
            <a:srgbClr val="FFFFFF"/>
          </a:solidFill>
          <a:ln w="9525">
            <a:solidFill>
              <a:srgbClr val="DCE3EC"/>
            </a:solidFill>
            <a:prstDash val="solid"/>
          </a:ln>
        </p:spPr>
      </p:sp>
      <p:sp>
        <p:nvSpPr>
          <p:cNvPr id="21" name="Text 18"/>
          <p:cNvSpPr txBox="1"/>
          <p:nvPr/>
        </p:nvSpPr>
        <p:spPr>
          <a:xfrm>
            <a:off x="6368796" y="1234440"/>
            <a:ext cx="2226564" cy="713232"/>
          </a:xfrm>
          <a:prstGeom prst="rect">
            <a:avLst/>
          </a:prstGeom>
          <a:noFill/>
          <a:ln/>
        </p:spPr>
        <p:txBody>
          <a:bodyPr wrap="square" lIns="0" tIns="0" rIns="0" bIns="0" rtlCol="0" anchor="ctr"/>
          <a:lstStyle/>
          <a:p>
            <a:pPr indent="0" marL="0">
              <a:buNone/>
            </a:pPr>
            <a:r>
              <a:rPr lang="en-US" sz="1600" b="1" dirty="0">
                <a:solidFill>
                  <a:srgbClr val="0F1E3D"/>
                </a:solidFill>
                <a:latin typeface="Calibri" pitchFamily="34" charset="0"/>
                <a:ea typeface="Calibri" pitchFamily="34" charset="-122"/>
                <a:cs typeface="Calibri" pitchFamily="34" charset="-120"/>
              </a:rPr>
              <a:t>Ujub</a:t>
            </a:r>
            <a:endParaRPr lang="en-US" sz="1600" dirty="0"/>
          </a:p>
        </p:txBody>
      </p:sp>
      <p:sp>
        <p:nvSpPr>
          <p:cNvPr id="22" name="Shape 19"/>
          <p:cNvSpPr/>
          <p:nvPr/>
        </p:nvSpPr>
        <p:spPr>
          <a:xfrm>
            <a:off x="3520440" y="2112264"/>
            <a:ext cx="2500884" cy="713232"/>
          </a:xfrm>
          <a:prstGeom prst="roundRect">
            <a:avLst>
              <a:gd name="adj" fmla="val 15385"/>
            </a:avLst>
          </a:prstGeom>
          <a:solidFill>
            <a:srgbClr val="FFFFFF"/>
          </a:solidFill>
          <a:ln w="9525">
            <a:solidFill>
              <a:srgbClr val="DCE3EC"/>
            </a:solidFill>
            <a:prstDash val="solid"/>
          </a:ln>
        </p:spPr>
      </p:sp>
      <p:sp>
        <p:nvSpPr>
          <p:cNvPr id="23" name="Text 20"/>
          <p:cNvSpPr txBox="1"/>
          <p:nvPr/>
        </p:nvSpPr>
        <p:spPr>
          <a:xfrm>
            <a:off x="3703320" y="2112264"/>
            <a:ext cx="2226564" cy="713232"/>
          </a:xfrm>
          <a:prstGeom prst="rect">
            <a:avLst/>
          </a:prstGeom>
          <a:noFill/>
          <a:ln/>
        </p:spPr>
        <p:txBody>
          <a:bodyPr wrap="square" lIns="0" tIns="0" rIns="0" bIns="0" rtlCol="0" anchor="ctr"/>
          <a:lstStyle/>
          <a:p>
            <a:pPr indent="0" marL="0">
              <a:buNone/>
            </a:pPr>
            <a:r>
              <a:rPr lang="en-US" sz="1600" b="1" dirty="0">
                <a:solidFill>
                  <a:srgbClr val="0F1E3D"/>
                </a:solidFill>
                <a:latin typeface="Calibri" pitchFamily="34" charset="0"/>
                <a:ea typeface="Calibri" pitchFamily="34" charset="-122"/>
                <a:cs typeface="Calibri" pitchFamily="34" charset="-120"/>
              </a:rPr>
              <a:t>Takbur</a:t>
            </a:r>
            <a:endParaRPr lang="en-US" sz="1600" dirty="0"/>
          </a:p>
        </p:txBody>
      </p:sp>
      <p:sp>
        <p:nvSpPr>
          <p:cNvPr id="24" name="Shape 21"/>
          <p:cNvSpPr/>
          <p:nvPr/>
        </p:nvSpPr>
        <p:spPr>
          <a:xfrm>
            <a:off x="6185916" y="2112264"/>
            <a:ext cx="2500884" cy="713232"/>
          </a:xfrm>
          <a:prstGeom prst="roundRect">
            <a:avLst>
              <a:gd name="adj" fmla="val 15385"/>
            </a:avLst>
          </a:prstGeom>
          <a:solidFill>
            <a:srgbClr val="FFFFFF"/>
          </a:solidFill>
          <a:ln w="9525">
            <a:solidFill>
              <a:srgbClr val="DCE3EC"/>
            </a:solidFill>
            <a:prstDash val="solid"/>
          </a:ln>
        </p:spPr>
      </p:sp>
      <p:sp>
        <p:nvSpPr>
          <p:cNvPr id="25" name="Text 22"/>
          <p:cNvSpPr txBox="1"/>
          <p:nvPr/>
        </p:nvSpPr>
        <p:spPr>
          <a:xfrm>
            <a:off x="6368796" y="2112264"/>
            <a:ext cx="2226564" cy="713232"/>
          </a:xfrm>
          <a:prstGeom prst="rect">
            <a:avLst/>
          </a:prstGeom>
          <a:noFill/>
          <a:ln/>
        </p:spPr>
        <p:txBody>
          <a:bodyPr wrap="square" lIns="0" tIns="0" rIns="0" bIns="0" rtlCol="0" anchor="ctr"/>
          <a:lstStyle/>
          <a:p>
            <a:pPr indent="0" marL="0">
              <a:buNone/>
            </a:pPr>
            <a:r>
              <a:rPr lang="en-US" sz="1600" b="1" dirty="0">
                <a:solidFill>
                  <a:srgbClr val="0F1E3D"/>
                </a:solidFill>
                <a:latin typeface="Calibri" pitchFamily="34" charset="0"/>
                <a:ea typeface="Calibri" pitchFamily="34" charset="-122"/>
                <a:cs typeface="Calibri" pitchFamily="34" charset="-120"/>
              </a:rPr>
              <a:t>Dengki</a:t>
            </a:r>
            <a:endParaRPr lang="en-US" sz="1600" dirty="0"/>
          </a:p>
        </p:txBody>
      </p:sp>
      <p:sp>
        <p:nvSpPr>
          <p:cNvPr id="26" name="Shape 23"/>
          <p:cNvSpPr/>
          <p:nvPr/>
        </p:nvSpPr>
        <p:spPr>
          <a:xfrm>
            <a:off x="3520440" y="2990088"/>
            <a:ext cx="2500884" cy="713232"/>
          </a:xfrm>
          <a:prstGeom prst="roundRect">
            <a:avLst>
              <a:gd name="adj" fmla="val 15385"/>
            </a:avLst>
          </a:prstGeom>
          <a:solidFill>
            <a:srgbClr val="FFFFFF"/>
          </a:solidFill>
          <a:ln w="9525">
            <a:solidFill>
              <a:srgbClr val="DCE3EC"/>
            </a:solidFill>
            <a:prstDash val="solid"/>
          </a:ln>
        </p:spPr>
      </p:sp>
      <p:sp>
        <p:nvSpPr>
          <p:cNvPr id="27" name="Text 24"/>
          <p:cNvSpPr txBox="1"/>
          <p:nvPr/>
        </p:nvSpPr>
        <p:spPr>
          <a:xfrm>
            <a:off x="3703320" y="2990088"/>
            <a:ext cx="2226564" cy="713232"/>
          </a:xfrm>
          <a:prstGeom prst="rect">
            <a:avLst/>
          </a:prstGeom>
          <a:noFill/>
          <a:ln/>
        </p:spPr>
        <p:txBody>
          <a:bodyPr wrap="square" lIns="0" tIns="0" rIns="0" bIns="0" rtlCol="0" anchor="ctr"/>
          <a:lstStyle/>
          <a:p>
            <a:pPr indent="0" marL="0">
              <a:buNone/>
            </a:pPr>
            <a:r>
              <a:rPr lang="en-US" sz="1600" b="1" dirty="0">
                <a:solidFill>
                  <a:srgbClr val="0F1E3D"/>
                </a:solidFill>
                <a:latin typeface="Calibri" pitchFamily="34" charset="0"/>
                <a:ea typeface="Calibri" pitchFamily="34" charset="-122"/>
                <a:cs typeface="Calibri" pitchFamily="34" charset="-120"/>
              </a:rPr>
              <a:t>Sombong</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E3D"/>
        </a:solidFill>
      </p:bgPr>
    </p:bg>
    <p:spTree>
      <p:nvGrpSpPr>
        <p:cNvPr id="1" name=""/>
        <p:cNvGrpSpPr/>
        <p:nvPr/>
      </p:nvGrpSpPr>
      <p:grpSpPr>
        <a:xfrm>
          <a:off x="0" y="0"/>
          <a:ext cx="0" cy="0"/>
          <a:chOff x="0" y="0"/>
          <a:chExt cx="0" cy="0"/>
        </a:xfrm>
      </p:grpSpPr>
      <p:pic>
        <p:nvPicPr>
          <p:cNvPr id="2" name="Image 0" descr="/tmp/claude-0/-home-user-Shukery-Azizan/b66663cb-20be-5bd3-935d-65edbae5e3fd/scratchpad/build/assets/pattern.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txBox="1"/>
          <p:nvPr/>
        </p:nvSpPr>
        <p:spPr>
          <a:xfrm>
            <a:off x="731520" y="502920"/>
            <a:ext cx="7680960" cy="256032"/>
          </a:xfrm>
          <a:prstGeom prst="rect">
            <a:avLst/>
          </a:prstGeom>
          <a:noFill/>
          <a:ln/>
        </p:spPr>
        <p:txBody>
          <a:bodyPr wrap="square" lIns="0" tIns="0" rIns="0" bIns="0" rtlCol="0" anchor="t"/>
          <a:lstStyle/>
          <a:p>
            <a:pPr indent="0" marL="0">
              <a:buNone/>
            </a:pPr>
            <a:r>
              <a:rPr lang="en-US" sz="1100" b="1" spc="200" kern="0" dirty="0">
                <a:solidFill>
                  <a:srgbClr val="D9A93A"/>
                </a:solidFill>
                <a:latin typeface="Calibri" pitchFamily="34" charset="0"/>
                <a:ea typeface="Calibri" pitchFamily="34" charset="-122"/>
                <a:cs typeface="Calibri" pitchFamily="34" charset="-120"/>
              </a:rPr>
              <a:t>ANTARA TANDA HATI KERAS</a:t>
            </a:r>
            <a:endParaRPr lang="en-US" sz="1100" dirty="0"/>
          </a:p>
        </p:txBody>
      </p:sp>
      <p:pic>
        <p:nvPicPr>
          <p:cNvPr id="4" name="Image 1" descr="preencoded.png">    </p:cNvPr>
          <p:cNvPicPr>
            <a:picLocks noChangeAspect="1"/>
          </p:cNvPicPr>
          <p:nvPr/>
        </p:nvPicPr>
        <p:blipFill>
          <a:blip r:embed="rId2"/>
          <a:stretch>
            <a:fillRect/>
          </a:stretch>
        </p:blipFill>
        <p:spPr>
          <a:xfrm>
            <a:off x="731520" y="868680"/>
            <a:ext cx="640080" cy="640080"/>
          </a:xfrm>
          <a:prstGeom prst="rect">
            <a:avLst/>
          </a:prstGeom>
        </p:spPr>
      </p:pic>
      <p:pic>
        <p:nvPicPr>
          <p:cNvPr id="5" name="Image 2" descr="/tmp/claude-0/-home-user-Shukery-Azizan/b66663cb-20be-5bd3-935d-65edbae5e3fd/scratchpad/build/assets/a_iq.png">    </p:cNvPr>
          <p:cNvPicPr>
            <a:picLocks noChangeAspect="1"/>
          </p:cNvPicPr>
          <p:nvPr/>
        </p:nvPicPr>
        <p:blipFill>
          <a:blip r:embed="rId3"/>
          <a:stretch>
            <a:fillRect/>
          </a:stretch>
        </p:blipFill>
        <p:spPr>
          <a:xfrm>
            <a:off x="2264712" y="1005840"/>
            <a:ext cx="4614576" cy="1143000"/>
          </a:xfrm>
          <a:prstGeom prst="rect">
            <a:avLst/>
          </a:prstGeom>
        </p:spPr>
      </p:pic>
      <p:sp>
        <p:nvSpPr>
          <p:cNvPr id="6" name="Text 1"/>
          <p:cNvSpPr txBox="1"/>
          <p:nvPr/>
        </p:nvSpPr>
        <p:spPr>
          <a:xfrm>
            <a:off x="1097280" y="2377440"/>
            <a:ext cx="6949440" cy="1188720"/>
          </a:xfrm>
          <a:prstGeom prst="rect">
            <a:avLst/>
          </a:prstGeom>
          <a:noFill/>
          <a:ln/>
        </p:spPr>
        <p:txBody>
          <a:bodyPr wrap="square" lIns="0" tIns="0" rIns="0" bIns="0" rtlCol="0" anchor="ctr"/>
          <a:lstStyle/>
          <a:p>
            <a:pPr algn="ctr" indent="0" marL="0">
              <a:buNone/>
            </a:pPr>
            <a:r>
              <a:rPr lang="en-US" sz="1900" i="1" dirty="0">
                <a:solidFill>
                  <a:srgbClr val="FFFFFF"/>
                </a:solidFill>
                <a:latin typeface="Calibri" pitchFamily="34" charset="0"/>
                <a:ea typeface="Calibri" pitchFamily="34" charset="-122"/>
                <a:cs typeface="Calibri" pitchFamily="34" charset="-120"/>
              </a:rPr>
              <a:t>"Dan bilamana mata sudah kering dari menangis kerana takutkan Allah, ketahuilah bahawa keringnya air mata itu adalah disebabkan kerana hati yang sudah keras."</a:t>
            </a:r>
            <a:endParaRPr lang="en-US" sz="1900" dirty="0"/>
          </a:p>
        </p:txBody>
      </p:sp>
      <p:sp>
        <p:nvSpPr>
          <p:cNvPr id="7" name="Text 2"/>
          <p:cNvSpPr txBox="1"/>
          <p:nvPr/>
        </p:nvSpPr>
        <p:spPr>
          <a:xfrm>
            <a:off x="1097280" y="3703320"/>
            <a:ext cx="6949440" cy="320040"/>
          </a:xfrm>
          <a:prstGeom prst="rect">
            <a:avLst/>
          </a:prstGeom>
          <a:noFill/>
          <a:ln/>
        </p:spPr>
        <p:txBody>
          <a:bodyPr wrap="square" lIns="0" tIns="0" rIns="0" bIns="0" rtlCol="0" anchor="t"/>
          <a:lstStyle/>
          <a:p>
            <a:pPr algn="ctr" indent="0" marL="0">
              <a:buNone/>
            </a:pPr>
            <a:r>
              <a:rPr lang="en-US" sz="1400" b="1" dirty="0">
                <a:solidFill>
                  <a:srgbClr val="D9A93A"/>
                </a:solidFill>
                <a:latin typeface="Calibri" pitchFamily="34" charset="0"/>
                <a:ea typeface="Calibri" pitchFamily="34" charset="-122"/>
                <a:cs typeface="Calibri" pitchFamily="34" charset="-120"/>
              </a:rPr>
              <a:t>— Ibn al-Qayyim, Bada'i al-Fawa'id (3/743)</a:t>
            </a:r>
            <a:endParaRPr lang="en-US" sz="1400" dirty="0"/>
          </a:p>
        </p:txBody>
      </p:sp>
      <p:sp>
        <p:nvSpPr>
          <p:cNvPr id="8" name="Text 3"/>
          <p:cNvSpPr txBox="1"/>
          <p:nvPr/>
        </p:nvSpPr>
        <p:spPr>
          <a:xfrm>
            <a:off x="1097280" y="4434840"/>
            <a:ext cx="6949440" cy="274320"/>
          </a:xfrm>
          <a:prstGeom prst="rect">
            <a:avLst/>
          </a:prstGeom>
          <a:noFill/>
          <a:ln/>
        </p:spPr>
        <p:txBody>
          <a:bodyPr wrap="square" lIns="0" tIns="0" rIns="0" bIns="0" rtlCol="0" anchor="t"/>
          <a:lstStyle/>
          <a:p>
            <a:pPr algn="ctr" indent="0" marL="0">
              <a:buNone/>
            </a:pPr>
            <a:r>
              <a:rPr lang="en-US" sz="1050" dirty="0">
                <a:solidFill>
                  <a:srgbClr val="9AA8C2"/>
                </a:solidFill>
                <a:latin typeface="Calibri" pitchFamily="34" charset="0"/>
                <a:ea typeface="Calibri" pitchFamily="34" charset="-122"/>
                <a:cs typeface="Calibri" pitchFamily="34" charset="-120"/>
              </a:rPr>
              <a:t>Petikan dikongsi oleh Dr. Ahmad Sanusi Azmi (USIM)</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108960" cy="5143500"/>
          </a:xfrm>
          <a:prstGeom prst="rect">
            <a:avLst/>
          </a:prstGeom>
          <a:solidFill>
            <a:srgbClr val="F3F6FA"/>
          </a:solidFill>
          <a:ln w="12700">
            <a:solidFill>
              <a:srgbClr val="F3F6FA"/>
            </a:solidFill>
            <a:prstDash val="solid"/>
          </a:ln>
        </p:spPr>
      </p:sp>
      <p:sp>
        <p:nvSpPr>
          <p:cNvPr id="3" name="Shape 1"/>
          <p:cNvSpPr/>
          <p:nvPr/>
        </p:nvSpPr>
        <p:spPr>
          <a:xfrm>
            <a:off x="566928" y="886968"/>
            <a:ext cx="1975104" cy="1975104"/>
          </a:xfrm>
          <a:prstGeom prst="ellipse">
            <a:avLst/>
          </a:prstGeom>
          <a:solidFill>
            <a:srgbClr val="FFFFFF">
              <a:alpha val="0"/>
            </a:srgbClr>
          </a:solidFill>
          <a:ln w="12700">
            <a:solidFill>
              <a:srgbClr val="B9C4D6"/>
            </a:solidFill>
            <a:prstDash val="dash"/>
          </a:ln>
        </p:spPr>
      </p:sp>
      <p:sp>
        <p:nvSpPr>
          <p:cNvPr id="4" name="Shape 2"/>
          <p:cNvSpPr/>
          <p:nvPr/>
        </p:nvSpPr>
        <p:spPr>
          <a:xfrm>
            <a:off x="1188720" y="1508760"/>
            <a:ext cx="731520" cy="731520"/>
          </a:xfrm>
          <a:prstGeom prst="ellipse">
            <a:avLst/>
          </a:prstGeom>
          <a:solidFill>
            <a:srgbClr val="0F1E3D"/>
          </a:solidFill>
          <a:ln w="12700">
            <a:solidFill>
              <a:srgbClr val="0F1E3D"/>
            </a:solidFill>
            <a:prstDash val="solid"/>
          </a:ln>
        </p:spPr>
      </p:sp>
      <p:pic>
        <p:nvPicPr>
          <p:cNvPr id="5" name="Image 0" descr="preencoded.png">    </p:cNvPr>
          <p:cNvPicPr>
            <a:picLocks noChangeAspect="1"/>
          </p:cNvPicPr>
          <p:nvPr/>
        </p:nvPicPr>
        <p:blipFill>
          <a:blip r:embed="rId1"/>
          <a:stretch>
            <a:fillRect/>
          </a:stretch>
        </p:blipFill>
        <p:spPr>
          <a:xfrm>
            <a:off x="1378915" y="1698955"/>
            <a:ext cx="351130" cy="351130"/>
          </a:xfrm>
          <a:prstGeom prst="rect">
            <a:avLst/>
          </a:prstGeom>
        </p:spPr>
      </p:pic>
      <p:sp>
        <p:nvSpPr>
          <p:cNvPr id="6" name="Shape 3"/>
          <p:cNvSpPr/>
          <p:nvPr/>
        </p:nvSpPr>
        <p:spPr>
          <a:xfrm>
            <a:off x="1197864" y="530352"/>
            <a:ext cx="713232" cy="713232"/>
          </a:xfrm>
          <a:prstGeom prst="ellipse">
            <a:avLst/>
          </a:prstGeom>
          <a:solidFill>
            <a:srgbClr val="FFFFFF"/>
          </a:solidFill>
          <a:ln w="12700">
            <a:solidFill>
              <a:srgbClr val="B9C4D6"/>
            </a:solidFill>
            <a:prstDash val="solid"/>
          </a:ln>
        </p:spPr>
      </p:sp>
      <p:sp>
        <p:nvSpPr>
          <p:cNvPr id="7" name="Text 4"/>
          <p:cNvSpPr txBox="1"/>
          <p:nvPr/>
        </p:nvSpPr>
        <p:spPr>
          <a:xfrm>
            <a:off x="1106424" y="530352"/>
            <a:ext cx="896112" cy="713232"/>
          </a:xfrm>
          <a:prstGeom prst="rect">
            <a:avLst/>
          </a:prstGeom>
          <a:noFill/>
          <a:ln/>
        </p:spPr>
        <p:txBody>
          <a:bodyPr wrap="square" lIns="0" tIns="0" rIns="0" bIns="0" rtlCol="0" anchor="ctr"/>
          <a:lstStyle/>
          <a:p>
            <a:pPr algn="ctr" indent="0" marL="0">
              <a:buNone/>
            </a:pPr>
            <a:r>
              <a:rPr lang="en-US" sz="950" b="1" dirty="0">
                <a:solidFill>
                  <a:srgbClr val="5A6880"/>
                </a:solidFill>
                <a:latin typeface="Calibri" pitchFamily="34" charset="0"/>
                <a:ea typeface="Calibri" pitchFamily="34" charset="-122"/>
                <a:cs typeface="Calibri" pitchFamily="34" charset="-120"/>
              </a:rPr>
              <a:t>Hadapan</a:t>
            </a:r>
            <a:endParaRPr lang="en-US" sz="950" dirty="0"/>
          </a:p>
        </p:txBody>
      </p:sp>
      <p:sp>
        <p:nvSpPr>
          <p:cNvPr id="8" name="Shape 5"/>
          <p:cNvSpPr/>
          <p:nvPr/>
        </p:nvSpPr>
        <p:spPr>
          <a:xfrm>
            <a:off x="1197864" y="2505456"/>
            <a:ext cx="713232" cy="713232"/>
          </a:xfrm>
          <a:prstGeom prst="ellipse">
            <a:avLst/>
          </a:prstGeom>
          <a:solidFill>
            <a:srgbClr val="FFFFFF"/>
          </a:solidFill>
          <a:ln w="12700">
            <a:solidFill>
              <a:srgbClr val="B9C4D6"/>
            </a:solidFill>
            <a:prstDash val="solid"/>
          </a:ln>
        </p:spPr>
      </p:sp>
      <p:sp>
        <p:nvSpPr>
          <p:cNvPr id="9" name="Text 6"/>
          <p:cNvSpPr txBox="1"/>
          <p:nvPr/>
        </p:nvSpPr>
        <p:spPr>
          <a:xfrm>
            <a:off x="1106424" y="2505456"/>
            <a:ext cx="896112" cy="713232"/>
          </a:xfrm>
          <a:prstGeom prst="rect">
            <a:avLst/>
          </a:prstGeom>
          <a:noFill/>
          <a:ln/>
        </p:spPr>
        <p:txBody>
          <a:bodyPr wrap="square" lIns="0" tIns="0" rIns="0" bIns="0" rtlCol="0" anchor="ctr"/>
          <a:lstStyle/>
          <a:p>
            <a:pPr algn="ctr" indent="0" marL="0">
              <a:buNone/>
            </a:pPr>
            <a:r>
              <a:rPr lang="en-US" sz="950" b="1" dirty="0">
                <a:solidFill>
                  <a:srgbClr val="5A6880"/>
                </a:solidFill>
                <a:latin typeface="Calibri" pitchFamily="34" charset="0"/>
                <a:ea typeface="Calibri" pitchFamily="34" charset="-122"/>
                <a:cs typeface="Calibri" pitchFamily="34" charset="-120"/>
              </a:rPr>
              <a:t>Belakang</a:t>
            </a:r>
            <a:endParaRPr lang="en-US" sz="950" dirty="0"/>
          </a:p>
        </p:txBody>
      </p:sp>
      <p:sp>
        <p:nvSpPr>
          <p:cNvPr id="10" name="Shape 7"/>
          <p:cNvSpPr/>
          <p:nvPr/>
        </p:nvSpPr>
        <p:spPr>
          <a:xfrm>
            <a:off x="210312" y="1517904"/>
            <a:ext cx="713232" cy="713232"/>
          </a:xfrm>
          <a:prstGeom prst="ellipse">
            <a:avLst/>
          </a:prstGeom>
          <a:solidFill>
            <a:srgbClr val="D9A93A"/>
          </a:solidFill>
          <a:ln w="12700">
            <a:solidFill>
              <a:srgbClr val="D9A93A"/>
            </a:solidFill>
            <a:prstDash val="solid"/>
          </a:ln>
        </p:spPr>
      </p:sp>
      <p:sp>
        <p:nvSpPr>
          <p:cNvPr id="11" name="Text 8"/>
          <p:cNvSpPr txBox="1"/>
          <p:nvPr/>
        </p:nvSpPr>
        <p:spPr>
          <a:xfrm>
            <a:off x="118872" y="1517904"/>
            <a:ext cx="896112" cy="713232"/>
          </a:xfrm>
          <a:prstGeom prst="rect">
            <a:avLst/>
          </a:prstGeom>
          <a:noFill/>
          <a:ln/>
        </p:spPr>
        <p:txBody>
          <a:bodyPr wrap="square" lIns="0" tIns="0" rIns="0" bIns="0" rtlCol="0" anchor="ctr"/>
          <a:lstStyle/>
          <a:p>
            <a:pPr algn="ctr" indent="0" marL="0">
              <a:buNone/>
            </a:pPr>
            <a:r>
              <a:rPr lang="en-US" sz="950" b="1" dirty="0">
                <a:solidFill>
                  <a:srgbClr val="0F1E3D"/>
                </a:solidFill>
                <a:latin typeface="Calibri" pitchFamily="34" charset="0"/>
                <a:ea typeface="Calibri" pitchFamily="34" charset="-122"/>
                <a:cs typeface="Calibri" pitchFamily="34" charset="-120"/>
              </a:rPr>
              <a:t>Kiri</a:t>
            </a:r>
            <a:endParaRPr lang="en-US" sz="950" dirty="0"/>
          </a:p>
        </p:txBody>
      </p:sp>
      <p:sp>
        <p:nvSpPr>
          <p:cNvPr id="12" name="Shape 9"/>
          <p:cNvSpPr/>
          <p:nvPr/>
        </p:nvSpPr>
        <p:spPr>
          <a:xfrm>
            <a:off x="2185416" y="1517904"/>
            <a:ext cx="713232" cy="713232"/>
          </a:xfrm>
          <a:prstGeom prst="ellipse">
            <a:avLst/>
          </a:prstGeom>
          <a:solidFill>
            <a:srgbClr val="FFFFFF"/>
          </a:solidFill>
          <a:ln w="12700">
            <a:solidFill>
              <a:srgbClr val="B9C4D6"/>
            </a:solidFill>
            <a:prstDash val="solid"/>
          </a:ln>
        </p:spPr>
      </p:sp>
      <p:sp>
        <p:nvSpPr>
          <p:cNvPr id="13" name="Text 10"/>
          <p:cNvSpPr txBox="1"/>
          <p:nvPr/>
        </p:nvSpPr>
        <p:spPr>
          <a:xfrm>
            <a:off x="2093976" y="1517904"/>
            <a:ext cx="896112" cy="713232"/>
          </a:xfrm>
          <a:prstGeom prst="rect">
            <a:avLst/>
          </a:prstGeom>
          <a:noFill/>
          <a:ln/>
        </p:spPr>
        <p:txBody>
          <a:bodyPr wrap="square" lIns="0" tIns="0" rIns="0" bIns="0" rtlCol="0" anchor="ctr"/>
          <a:lstStyle/>
          <a:p>
            <a:pPr algn="ctr" indent="0" marL="0">
              <a:buNone/>
            </a:pPr>
            <a:r>
              <a:rPr lang="en-US" sz="950" b="1" dirty="0">
                <a:solidFill>
                  <a:srgbClr val="5A6880"/>
                </a:solidFill>
                <a:latin typeface="Calibri" pitchFamily="34" charset="0"/>
                <a:ea typeface="Calibri" pitchFamily="34" charset="-122"/>
                <a:cs typeface="Calibri" pitchFamily="34" charset="-120"/>
              </a:rPr>
              <a:t>Kanan</a:t>
            </a:r>
            <a:endParaRPr lang="en-US" sz="950" dirty="0"/>
          </a:p>
        </p:txBody>
      </p:sp>
      <p:sp>
        <p:nvSpPr>
          <p:cNvPr id="14" name="Text 11"/>
          <p:cNvSpPr txBox="1"/>
          <p:nvPr/>
        </p:nvSpPr>
        <p:spPr>
          <a:xfrm>
            <a:off x="411480" y="3246120"/>
            <a:ext cx="2377440" cy="256032"/>
          </a:xfrm>
          <a:prstGeom prst="rect">
            <a:avLst/>
          </a:prstGeom>
          <a:noFill/>
          <a:ln/>
        </p:spPr>
        <p:txBody>
          <a:bodyPr wrap="square" lIns="0" tIns="0" rIns="0" bIns="0" rtlCol="0" anchor="t"/>
          <a:lstStyle/>
          <a:p>
            <a:pPr indent="0" marL="0">
              <a:buNone/>
            </a:pPr>
            <a:r>
              <a:rPr lang="en-US" sz="1100" b="1" spc="200" kern="0" dirty="0">
                <a:solidFill>
                  <a:srgbClr val="5A6880"/>
                </a:solidFill>
                <a:latin typeface="Calibri" pitchFamily="34" charset="0"/>
                <a:ea typeface="Calibri" pitchFamily="34" charset="-122"/>
                <a:cs typeface="Calibri" pitchFamily="34" charset="-120"/>
              </a:rPr>
              <a:t>SERANGAN DARI</a:t>
            </a:r>
            <a:endParaRPr lang="en-US" sz="1100" dirty="0"/>
          </a:p>
        </p:txBody>
      </p:sp>
      <p:sp>
        <p:nvSpPr>
          <p:cNvPr id="15" name="Text 12"/>
          <p:cNvSpPr txBox="1"/>
          <p:nvPr/>
        </p:nvSpPr>
        <p:spPr>
          <a:xfrm>
            <a:off x="411480" y="3474720"/>
            <a:ext cx="2377440" cy="548640"/>
          </a:xfrm>
          <a:prstGeom prst="rect">
            <a:avLst/>
          </a:prstGeom>
          <a:noFill/>
          <a:ln/>
        </p:spPr>
        <p:txBody>
          <a:bodyPr wrap="square" lIns="0" tIns="0" rIns="0" bIns="0" rtlCol="0" anchor="ctr"/>
          <a:lstStyle/>
          <a:p>
            <a:pPr indent="0" marL="0">
              <a:buNone/>
            </a:pPr>
            <a:r>
              <a:rPr lang="en-US" sz="3200" b="1" dirty="0">
                <a:solidFill>
                  <a:srgbClr val="0F1E3D"/>
                </a:solidFill>
                <a:latin typeface="Calibri" pitchFamily="34" charset="0"/>
                <a:ea typeface="Calibri" pitchFamily="34" charset="-122"/>
                <a:cs typeface="Calibri" pitchFamily="34" charset="-120"/>
              </a:rPr>
              <a:t>Kiri</a:t>
            </a:r>
            <a:endParaRPr lang="en-US" sz="3200" dirty="0"/>
          </a:p>
        </p:txBody>
      </p:sp>
      <p:sp>
        <p:nvSpPr>
          <p:cNvPr id="16" name="Text 13"/>
          <p:cNvSpPr txBox="1"/>
          <p:nvPr/>
        </p:nvSpPr>
        <p:spPr>
          <a:xfrm>
            <a:off x="411480" y="4023360"/>
            <a:ext cx="2377440" cy="640080"/>
          </a:xfrm>
          <a:prstGeom prst="rect">
            <a:avLst/>
          </a:prstGeom>
          <a:noFill/>
          <a:ln/>
        </p:spPr>
        <p:txBody>
          <a:bodyPr wrap="square" lIns="0" tIns="0" rIns="0" bIns="0" rtlCol="0" anchor="t"/>
          <a:lstStyle/>
          <a:p>
            <a:pPr indent="0" marL="0">
              <a:buNone/>
            </a:pPr>
            <a:r>
              <a:rPr lang="en-US" sz="1300" dirty="0">
                <a:solidFill>
                  <a:srgbClr val="5A6880"/>
                </a:solidFill>
                <a:latin typeface="Calibri" pitchFamily="34" charset="0"/>
                <a:ea typeface="Calibri" pitchFamily="34" charset="-122"/>
                <a:cs typeface="Calibri" pitchFamily="34" charset="-120"/>
              </a:rPr>
              <a:t>Orang sekeliling dan dorongan dalam diri.</a:t>
            </a:r>
            <a:endParaRPr lang="en-US" sz="1300" dirty="0"/>
          </a:p>
        </p:txBody>
      </p:sp>
      <p:sp>
        <p:nvSpPr>
          <p:cNvPr id="17" name="Text 14"/>
          <p:cNvSpPr txBox="1"/>
          <p:nvPr/>
        </p:nvSpPr>
        <p:spPr>
          <a:xfrm>
            <a:off x="3520440" y="411480"/>
            <a:ext cx="5212080" cy="566928"/>
          </a:xfrm>
          <a:prstGeom prst="rect">
            <a:avLst/>
          </a:prstGeom>
          <a:noFill/>
          <a:ln/>
        </p:spPr>
        <p:txBody>
          <a:bodyPr wrap="square" lIns="0" tIns="0" rIns="0" bIns="0" rtlCol="0" anchor="ctr"/>
          <a:lstStyle/>
          <a:p>
            <a:pPr indent="0" marL="0">
              <a:buNone/>
            </a:pPr>
            <a:r>
              <a:rPr lang="en-US" sz="2600" b="1" dirty="0">
                <a:solidFill>
                  <a:srgbClr val="0F1E3D"/>
                </a:solidFill>
                <a:latin typeface="Calibri" pitchFamily="34" charset="0"/>
                <a:ea typeface="Calibri" pitchFamily="34" charset="-122"/>
                <a:cs typeface="Calibri" pitchFamily="34" charset="-120"/>
              </a:rPr>
              <a:t>Pengaruh luar &amp; nafsu</a:t>
            </a:r>
            <a:endParaRPr lang="en-US" sz="2600" dirty="0"/>
          </a:p>
        </p:txBody>
      </p:sp>
      <p:sp>
        <p:nvSpPr>
          <p:cNvPr id="18" name="Shape 15"/>
          <p:cNvSpPr/>
          <p:nvPr/>
        </p:nvSpPr>
        <p:spPr>
          <a:xfrm>
            <a:off x="3520440" y="1234440"/>
            <a:ext cx="2500884" cy="713232"/>
          </a:xfrm>
          <a:prstGeom prst="roundRect">
            <a:avLst>
              <a:gd name="adj" fmla="val 15385"/>
            </a:avLst>
          </a:prstGeom>
          <a:solidFill>
            <a:srgbClr val="FFFFFF"/>
          </a:solidFill>
          <a:ln w="9525">
            <a:solidFill>
              <a:srgbClr val="DCE3EC"/>
            </a:solidFill>
            <a:prstDash val="solid"/>
          </a:ln>
        </p:spPr>
      </p:sp>
      <p:sp>
        <p:nvSpPr>
          <p:cNvPr id="19" name="Text 16"/>
          <p:cNvSpPr txBox="1"/>
          <p:nvPr/>
        </p:nvSpPr>
        <p:spPr>
          <a:xfrm>
            <a:off x="3703320" y="1234440"/>
            <a:ext cx="2226564" cy="713232"/>
          </a:xfrm>
          <a:prstGeom prst="rect">
            <a:avLst/>
          </a:prstGeom>
          <a:noFill/>
          <a:ln/>
        </p:spPr>
        <p:txBody>
          <a:bodyPr wrap="square" lIns="0" tIns="0" rIns="0" bIns="0" rtlCol="0" anchor="ctr"/>
          <a:lstStyle/>
          <a:p>
            <a:pPr indent="0" marL="0">
              <a:buNone/>
            </a:pPr>
            <a:r>
              <a:rPr lang="en-US" sz="1600" b="1" dirty="0">
                <a:solidFill>
                  <a:srgbClr val="0F1E3D"/>
                </a:solidFill>
                <a:latin typeface="Calibri" pitchFamily="34" charset="0"/>
                <a:ea typeface="Calibri" pitchFamily="34" charset="-122"/>
                <a:cs typeface="Calibri" pitchFamily="34" charset="-120"/>
              </a:rPr>
              <a:t>Kawan jahat</a:t>
            </a:r>
            <a:endParaRPr lang="en-US" sz="1600" dirty="0"/>
          </a:p>
        </p:txBody>
      </p:sp>
      <p:sp>
        <p:nvSpPr>
          <p:cNvPr id="20" name="Shape 17"/>
          <p:cNvSpPr/>
          <p:nvPr/>
        </p:nvSpPr>
        <p:spPr>
          <a:xfrm>
            <a:off x="6185916" y="1234440"/>
            <a:ext cx="2500884" cy="713232"/>
          </a:xfrm>
          <a:prstGeom prst="roundRect">
            <a:avLst>
              <a:gd name="adj" fmla="val 15385"/>
            </a:avLst>
          </a:prstGeom>
          <a:solidFill>
            <a:srgbClr val="FFFFFF"/>
          </a:solidFill>
          <a:ln w="9525">
            <a:solidFill>
              <a:srgbClr val="DCE3EC"/>
            </a:solidFill>
            <a:prstDash val="solid"/>
          </a:ln>
        </p:spPr>
      </p:sp>
      <p:sp>
        <p:nvSpPr>
          <p:cNvPr id="21" name="Text 18"/>
          <p:cNvSpPr txBox="1"/>
          <p:nvPr/>
        </p:nvSpPr>
        <p:spPr>
          <a:xfrm>
            <a:off x="6368796" y="1234440"/>
            <a:ext cx="2226564" cy="713232"/>
          </a:xfrm>
          <a:prstGeom prst="rect">
            <a:avLst/>
          </a:prstGeom>
          <a:noFill/>
          <a:ln/>
        </p:spPr>
        <p:txBody>
          <a:bodyPr wrap="square" lIns="0" tIns="0" rIns="0" bIns="0" rtlCol="0" anchor="ctr"/>
          <a:lstStyle/>
          <a:p>
            <a:pPr indent="0" marL="0">
              <a:buNone/>
            </a:pPr>
            <a:r>
              <a:rPr lang="en-US" sz="1600" b="1" dirty="0">
                <a:solidFill>
                  <a:srgbClr val="0F1E3D"/>
                </a:solidFill>
                <a:latin typeface="Calibri" pitchFamily="34" charset="0"/>
                <a:ea typeface="Calibri" pitchFamily="34" charset="-122"/>
                <a:cs typeface="Calibri" pitchFamily="34" charset="-120"/>
              </a:rPr>
              <a:t>Maksiat</a:t>
            </a:r>
            <a:endParaRPr lang="en-US" sz="1600" dirty="0"/>
          </a:p>
        </p:txBody>
      </p:sp>
      <p:sp>
        <p:nvSpPr>
          <p:cNvPr id="22" name="Shape 19"/>
          <p:cNvSpPr/>
          <p:nvPr/>
        </p:nvSpPr>
        <p:spPr>
          <a:xfrm>
            <a:off x="3520440" y="2112264"/>
            <a:ext cx="2500884" cy="713232"/>
          </a:xfrm>
          <a:prstGeom prst="roundRect">
            <a:avLst>
              <a:gd name="adj" fmla="val 15385"/>
            </a:avLst>
          </a:prstGeom>
          <a:solidFill>
            <a:srgbClr val="FFFFFF"/>
          </a:solidFill>
          <a:ln w="9525">
            <a:solidFill>
              <a:srgbClr val="DCE3EC"/>
            </a:solidFill>
            <a:prstDash val="solid"/>
          </a:ln>
        </p:spPr>
      </p:sp>
      <p:sp>
        <p:nvSpPr>
          <p:cNvPr id="23" name="Text 20"/>
          <p:cNvSpPr txBox="1"/>
          <p:nvPr/>
        </p:nvSpPr>
        <p:spPr>
          <a:xfrm>
            <a:off x="3703320" y="2112264"/>
            <a:ext cx="2226564" cy="713232"/>
          </a:xfrm>
          <a:prstGeom prst="rect">
            <a:avLst/>
          </a:prstGeom>
          <a:noFill/>
          <a:ln/>
        </p:spPr>
        <p:txBody>
          <a:bodyPr wrap="square" lIns="0" tIns="0" rIns="0" bIns="0" rtlCol="0" anchor="ctr"/>
          <a:lstStyle/>
          <a:p>
            <a:pPr indent="0" marL="0">
              <a:buNone/>
            </a:pPr>
            <a:r>
              <a:rPr lang="en-US" sz="1600" b="1" dirty="0">
                <a:solidFill>
                  <a:srgbClr val="0F1E3D"/>
                </a:solidFill>
                <a:latin typeface="Calibri" pitchFamily="34" charset="0"/>
                <a:ea typeface="Calibri" pitchFamily="34" charset="-122"/>
                <a:cs typeface="Calibri" pitchFamily="34" charset="-120"/>
              </a:rPr>
              <a:t>Al-Hawa'</a:t>
            </a:r>
            <a:endParaRPr lang="en-US" sz="1600" dirty="0"/>
          </a:p>
          <a:p>
            <a:pPr indent="0" marL="0">
              <a:buNone/>
            </a:pPr>
            <a:r>
              <a:rPr lang="en-US" sz="1150" dirty="0">
                <a:solidFill>
                  <a:srgbClr val="5A6880"/>
                </a:solidFill>
                <a:latin typeface="Calibri" pitchFamily="34" charset="0"/>
                <a:ea typeface="Calibri" pitchFamily="34" charset="-122"/>
                <a:cs typeface="Calibri" pitchFamily="34" charset="-120"/>
              </a:rPr>
              <a:t>Ikut hawa nafsu</a:t>
            </a:r>
            <a:endParaRPr lang="en-US" sz="1600" dirty="0"/>
          </a:p>
        </p:txBody>
      </p:sp>
      <p:sp>
        <p:nvSpPr>
          <p:cNvPr id="24" name="Shape 21"/>
          <p:cNvSpPr/>
          <p:nvPr/>
        </p:nvSpPr>
        <p:spPr>
          <a:xfrm>
            <a:off x="6185916" y="2112264"/>
            <a:ext cx="2500884" cy="713232"/>
          </a:xfrm>
          <a:prstGeom prst="roundRect">
            <a:avLst>
              <a:gd name="adj" fmla="val 15385"/>
            </a:avLst>
          </a:prstGeom>
          <a:solidFill>
            <a:srgbClr val="FFFFFF"/>
          </a:solidFill>
          <a:ln w="9525">
            <a:solidFill>
              <a:srgbClr val="DCE3EC"/>
            </a:solidFill>
            <a:prstDash val="solid"/>
          </a:ln>
        </p:spPr>
      </p:sp>
      <p:sp>
        <p:nvSpPr>
          <p:cNvPr id="25" name="Text 22"/>
          <p:cNvSpPr txBox="1"/>
          <p:nvPr/>
        </p:nvSpPr>
        <p:spPr>
          <a:xfrm>
            <a:off x="6368796" y="2112264"/>
            <a:ext cx="2226564" cy="713232"/>
          </a:xfrm>
          <a:prstGeom prst="rect">
            <a:avLst/>
          </a:prstGeom>
          <a:noFill/>
          <a:ln/>
        </p:spPr>
        <p:txBody>
          <a:bodyPr wrap="square" lIns="0" tIns="0" rIns="0" bIns="0" rtlCol="0" anchor="ctr"/>
          <a:lstStyle/>
          <a:p>
            <a:pPr indent="0" marL="0">
              <a:buNone/>
            </a:pPr>
            <a:r>
              <a:rPr lang="en-US" sz="1600" b="1" dirty="0">
                <a:solidFill>
                  <a:srgbClr val="0F1E3D"/>
                </a:solidFill>
                <a:latin typeface="Calibri" pitchFamily="34" charset="0"/>
                <a:ea typeface="Calibri" pitchFamily="34" charset="-122"/>
                <a:cs typeface="Calibri" pitchFamily="34" charset="-120"/>
              </a:rPr>
              <a:t>Al-Wahn</a:t>
            </a:r>
            <a:endParaRPr lang="en-US" sz="1600" dirty="0"/>
          </a:p>
          <a:p>
            <a:pPr indent="0" marL="0">
              <a:buNone/>
            </a:pPr>
            <a:r>
              <a:rPr lang="en-US" sz="1150" dirty="0">
                <a:solidFill>
                  <a:srgbClr val="5A6880"/>
                </a:solidFill>
                <a:latin typeface="Calibri" pitchFamily="34" charset="0"/>
                <a:ea typeface="Calibri" pitchFamily="34" charset="-122"/>
                <a:cs typeface="Calibri" pitchFamily="34" charset="-120"/>
              </a:rPr>
              <a:t>Cinta dunia, takut mati</a:t>
            </a:r>
            <a:endParaRPr lang="en-US" sz="1600" dirty="0"/>
          </a:p>
        </p:txBody>
      </p:sp>
      <p:sp>
        <p:nvSpPr>
          <p:cNvPr id="26" name="Shape 23"/>
          <p:cNvSpPr/>
          <p:nvPr/>
        </p:nvSpPr>
        <p:spPr>
          <a:xfrm>
            <a:off x="3520440" y="2990088"/>
            <a:ext cx="2500884" cy="713232"/>
          </a:xfrm>
          <a:prstGeom prst="roundRect">
            <a:avLst>
              <a:gd name="adj" fmla="val 15385"/>
            </a:avLst>
          </a:prstGeom>
          <a:solidFill>
            <a:srgbClr val="FFFFFF"/>
          </a:solidFill>
          <a:ln w="9525">
            <a:solidFill>
              <a:srgbClr val="DCE3EC"/>
            </a:solidFill>
            <a:prstDash val="solid"/>
          </a:ln>
        </p:spPr>
      </p:sp>
      <p:sp>
        <p:nvSpPr>
          <p:cNvPr id="27" name="Text 24"/>
          <p:cNvSpPr txBox="1"/>
          <p:nvPr/>
        </p:nvSpPr>
        <p:spPr>
          <a:xfrm>
            <a:off x="3703320" y="2990088"/>
            <a:ext cx="2226564" cy="713232"/>
          </a:xfrm>
          <a:prstGeom prst="rect">
            <a:avLst/>
          </a:prstGeom>
          <a:noFill/>
          <a:ln/>
        </p:spPr>
        <p:txBody>
          <a:bodyPr wrap="square" lIns="0" tIns="0" rIns="0" bIns="0" rtlCol="0" anchor="ctr"/>
          <a:lstStyle/>
          <a:p>
            <a:pPr indent="0" marL="0">
              <a:buNone/>
            </a:pPr>
            <a:r>
              <a:rPr lang="en-US" sz="1600" b="1" dirty="0">
                <a:solidFill>
                  <a:srgbClr val="0F1E3D"/>
                </a:solidFill>
                <a:latin typeface="Calibri" pitchFamily="34" charset="0"/>
                <a:ea typeface="Calibri" pitchFamily="34" charset="-122"/>
                <a:cs typeface="Calibri" pitchFamily="34" charset="-120"/>
              </a:rPr>
              <a:t>Nafsu yang jahat</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11480"/>
            <a:ext cx="4572000" cy="256032"/>
          </a:xfrm>
          <a:prstGeom prst="rect">
            <a:avLst/>
          </a:prstGeom>
          <a:noFill/>
          <a:ln/>
        </p:spPr>
        <p:txBody>
          <a:bodyPr wrap="square" lIns="0" tIns="0" rIns="0" bIns="0" rtlCol="0" anchor="t"/>
          <a:lstStyle/>
          <a:p>
            <a:pPr indent="0" marL="0">
              <a:buNone/>
            </a:pPr>
            <a:r>
              <a:rPr lang="en-US" sz="1100" b="1" spc="200" kern="0" dirty="0">
                <a:solidFill>
                  <a:srgbClr val="9A6B0F"/>
                </a:solidFill>
                <a:latin typeface="Calibri" pitchFamily="34" charset="0"/>
                <a:ea typeface="Calibri" pitchFamily="34" charset="-122"/>
                <a:cs typeface="Calibri" pitchFamily="34" charset="-120"/>
              </a:rPr>
              <a:t>STRATEGI MEROSAKKAN MANUSIA</a:t>
            </a:r>
            <a:endParaRPr lang="en-US" sz="1100" dirty="0"/>
          </a:p>
        </p:txBody>
      </p:sp>
      <p:sp>
        <p:nvSpPr>
          <p:cNvPr id="3" name="Text 1"/>
          <p:cNvSpPr txBox="1"/>
          <p:nvPr/>
        </p:nvSpPr>
        <p:spPr>
          <a:xfrm>
            <a:off x="457200" y="658368"/>
            <a:ext cx="8229600" cy="566928"/>
          </a:xfrm>
          <a:prstGeom prst="rect">
            <a:avLst/>
          </a:prstGeom>
          <a:noFill/>
          <a:ln/>
        </p:spPr>
        <p:txBody>
          <a:bodyPr wrap="square" lIns="0" tIns="0" rIns="0" bIns="0" rtlCol="0" anchor="ctr"/>
          <a:lstStyle/>
          <a:p>
            <a:pPr indent="0" marL="0">
              <a:buNone/>
            </a:pPr>
            <a:r>
              <a:rPr lang="en-US" sz="2800" b="1" dirty="0">
                <a:solidFill>
                  <a:srgbClr val="0F1E3D"/>
                </a:solidFill>
                <a:latin typeface="Calibri" pitchFamily="34" charset="0"/>
                <a:ea typeface="Calibri" pitchFamily="34" charset="-122"/>
                <a:cs typeface="Calibri" pitchFamily="34" charset="-120"/>
              </a:rPr>
              <a:t>Masuk ke dada, kemudian ke hati</a:t>
            </a:r>
            <a:endParaRPr lang="en-US" sz="2800" dirty="0"/>
          </a:p>
        </p:txBody>
      </p:sp>
      <p:sp>
        <p:nvSpPr>
          <p:cNvPr id="4" name="Text 2"/>
          <p:cNvSpPr txBox="1"/>
          <p:nvPr/>
        </p:nvSpPr>
        <p:spPr>
          <a:xfrm>
            <a:off x="457200" y="1463040"/>
            <a:ext cx="3657600" cy="320040"/>
          </a:xfrm>
          <a:prstGeom prst="rect">
            <a:avLst/>
          </a:prstGeom>
          <a:noFill/>
          <a:ln/>
        </p:spPr>
        <p:txBody>
          <a:bodyPr wrap="square" lIns="0" tIns="0" rIns="0" bIns="0" rtlCol="0" anchor="t"/>
          <a:lstStyle/>
          <a:p>
            <a:pPr indent="0" marL="0">
              <a:buNone/>
            </a:pPr>
            <a:r>
              <a:rPr lang="en-US" sz="1500" dirty="0">
                <a:solidFill>
                  <a:srgbClr val="5A6880"/>
                </a:solidFill>
                <a:latin typeface="Calibri" pitchFamily="34" charset="0"/>
                <a:ea typeface="Calibri" pitchFamily="34" charset="-122"/>
                <a:cs typeface="Calibri" pitchFamily="34" charset="-120"/>
              </a:rPr>
              <a:t>Langkah pertama syaitan:</a:t>
            </a:r>
            <a:endParaRPr lang="en-US" sz="1500" dirty="0"/>
          </a:p>
        </p:txBody>
      </p:sp>
      <p:sp>
        <p:nvSpPr>
          <p:cNvPr id="5" name="Shape 3"/>
          <p:cNvSpPr/>
          <p:nvPr/>
        </p:nvSpPr>
        <p:spPr>
          <a:xfrm>
            <a:off x="457200" y="1920240"/>
            <a:ext cx="1554480" cy="640080"/>
          </a:xfrm>
          <a:prstGeom prst="roundRect">
            <a:avLst>
              <a:gd name="adj" fmla="val 17143"/>
            </a:avLst>
          </a:prstGeom>
          <a:solidFill>
            <a:srgbClr val="0F1E3D"/>
          </a:solidFill>
          <a:ln w="9525">
            <a:solidFill>
              <a:srgbClr val="0F1E3D"/>
            </a:solidFill>
            <a:prstDash val="solid"/>
          </a:ln>
        </p:spPr>
      </p:sp>
      <p:sp>
        <p:nvSpPr>
          <p:cNvPr id="6" name="Text 4"/>
          <p:cNvSpPr txBox="1"/>
          <p:nvPr/>
        </p:nvSpPr>
        <p:spPr>
          <a:xfrm>
            <a:off x="566928" y="1920240"/>
            <a:ext cx="1335024"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DADA</a:t>
            </a:r>
            <a:endParaRPr lang="en-US" sz="1800" dirty="0"/>
          </a:p>
        </p:txBody>
      </p:sp>
      <p:pic>
        <p:nvPicPr>
          <p:cNvPr id="7" name="Image 0" descr="preencoded.png">    </p:cNvPr>
          <p:cNvPicPr>
            <a:picLocks noChangeAspect="1"/>
          </p:cNvPicPr>
          <p:nvPr/>
        </p:nvPicPr>
        <p:blipFill>
          <a:blip r:embed="rId1"/>
          <a:stretch>
            <a:fillRect/>
          </a:stretch>
        </p:blipFill>
        <p:spPr>
          <a:xfrm>
            <a:off x="2148840" y="2075688"/>
            <a:ext cx="329184" cy="329184"/>
          </a:xfrm>
          <a:prstGeom prst="rect">
            <a:avLst/>
          </a:prstGeom>
        </p:spPr>
      </p:pic>
      <p:sp>
        <p:nvSpPr>
          <p:cNvPr id="8" name="Shape 5"/>
          <p:cNvSpPr/>
          <p:nvPr/>
        </p:nvSpPr>
        <p:spPr>
          <a:xfrm>
            <a:off x="2606040" y="1920240"/>
            <a:ext cx="1554480" cy="640080"/>
          </a:xfrm>
          <a:prstGeom prst="roundRect">
            <a:avLst>
              <a:gd name="adj" fmla="val 17143"/>
            </a:avLst>
          </a:prstGeom>
          <a:solidFill>
            <a:srgbClr val="D9A93A"/>
          </a:solidFill>
          <a:ln w="9525">
            <a:solidFill>
              <a:srgbClr val="D9A93A"/>
            </a:solidFill>
            <a:prstDash val="solid"/>
          </a:ln>
        </p:spPr>
      </p:sp>
      <p:sp>
        <p:nvSpPr>
          <p:cNvPr id="9" name="Text 6"/>
          <p:cNvSpPr txBox="1"/>
          <p:nvPr/>
        </p:nvSpPr>
        <p:spPr>
          <a:xfrm>
            <a:off x="2715768" y="1920240"/>
            <a:ext cx="1335024" cy="640080"/>
          </a:xfrm>
          <a:prstGeom prst="rect">
            <a:avLst/>
          </a:prstGeom>
          <a:noFill/>
          <a:ln/>
        </p:spPr>
        <p:txBody>
          <a:bodyPr wrap="square" lIns="0" tIns="0" rIns="0" bIns="0" rtlCol="0" anchor="ctr"/>
          <a:lstStyle/>
          <a:p>
            <a:pPr algn="ctr" indent="0" marL="0">
              <a:buNone/>
            </a:pPr>
            <a:r>
              <a:rPr lang="en-US" sz="1800" b="1" dirty="0">
                <a:solidFill>
                  <a:srgbClr val="0F1E3D"/>
                </a:solidFill>
                <a:latin typeface="Calibri" pitchFamily="34" charset="0"/>
                <a:ea typeface="Calibri" pitchFamily="34" charset="-122"/>
                <a:cs typeface="Calibri" pitchFamily="34" charset="-120"/>
              </a:rPr>
              <a:t>HATI</a:t>
            </a:r>
            <a:endParaRPr lang="en-US" sz="1800" dirty="0"/>
          </a:p>
        </p:txBody>
      </p:sp>
      <p:sp>
        <p:nvSpPr>
          <p:cNvPr id="10" name="Shape 7"/>
          <p:cNvSpPr/>
          <p:nvPr/>
        </p:nvSpPr>
        <p:spPr>
          <a:xfrm>
            <a:off x="457200" y="3063240"/>
            <a:ext cx="3703320" cy="1143000"/>
          </a:xfrm>
          <a:prstGeom prst="roundRect">
            <a:avLst>
              <a:gd name="adj" fmla="val 9600"/>
            </a:avLst>
          </a:prstGeom>
          <a:solidFill>
            <a:srgbClr val="FBF3DF"/>
          </a:solidFill>
          <a:ln w="12700">
            <a:solidFill>
              <a:srgbClr val="FBF3DF"/>
            </a:solidFill>
            <a:prstDash val="solid"/>
          </a:ln>
        </p:spPr>
      </p:sp>
      <p:sp>
        <p:nvSpPr>
          <p:cNvPr id="11" name="Shape 8"/>
          <p:cNvSpPr/>
          <p:nvPr/>
        </p:nvSpPr>
        <p:spPr>
          <a:xfrm>
            <a:off x="640080" y="3291840"/>
            <a:ext cx="685800" cy="685800"/>
          </a:xfrm>
          <a:prstGeom prst="ellipse">
            <a:avLst/>
          </a:prstGeom>
          <a:solidFill>
            <a:srgbClr val="FFFFFF"/>
          </a:solidFill>
          <a:ln w="12700">
            <a:solidFill>
              <a:srgbClr val="FFFFFF"/>
            </a:solidFill>
            <a:prstDash val="solid"/>
          </a:ln>
        </p:spPr>
      </p:sp>
      <p:pic>
        <p:nvPicPr>
          <p:cNvPr id="12" name="Image 1" descr="preencoded.png">    </p:cNvPr>
          <p:cNvPicPr>
            <a:picLocks noChangeAspect="1"/>
          </p:cNvPicPr>
          <p:nvPr/>
        </p:nvPicPr>
        <p:blipFill>
          <a:blip r:embed="rId2"/>
          <a:stretch>
            <a:fillRect/>
          </a:stretch>
        </p:blipFill>
        <p:spPr>
          <a:xfrm>
            <a:off x="818388" y="3470148"/>
            <a:ext cx="329184" cy="329184"/>
          </a:xfrm>
          <a:prstGeom prst="rect">
            <a:avLst/>
          </a:prstGeom>
        </p:spPr>
      </p:pic>
      <p:sp>
        <p:nvSpPr>
          <p:cNvPr id="13" name="Text 9"/>
          <p:cNvSpPr txBox="1"/>
          <p:nvPr/>
        </p:nvSpPr>
        <p:spPr>
          <a:xfrm>
            <a:off x="1463040" y="3063240"/>
            <a:ext cx="2606040" cy="1143000"/>
          </a:xfrm>
          <a:prstGeom prst="rect">
            <a:avLst/>
          </a:prstGeom>
          <a:noFill/>
          <a:ln/>
        </p:spPr>
        <p:txBody>
          <a:bodyPr wrap="square" lIns="0" tIns="0" rIns="0" bIns="0" rtlCol="0" anchor="ctr"/>
          <a:lstStyle/>
          <a:p>
            <a:pPr indent="0" marL="0">
              <a:buNone/>
            </a:pPr>
            <a:r>
              <a:rPr lang="en-US" sz="1800" b="1" dirty="0">
                <a:solidFill>
                  <a:srgbClr val="0F1E3D"/>
                </a:solidFill>
                <a:latin typeface="Calibri" pitchFamily="34" charset="0"/>
                <a:ea typeface="Calibri" pitchFamily="34" charset="-122"/>
                <a:cs typeface="Calibri" pitchFamily="34" charset="-120"/>
              </a:rPr>
              <a:t>Apa beza dada dan hati?</a:t>
            </a:r>
            <a:endParaRPr lang="en-US" sz="1800" dirty="0"/>
          </a:p>
        </p:txBody>
      </p:sp>
      <p:sp>
        <p:nvSpPr>
          <p:cNvPr id="14" name="Shape 10"/>
          <p:cNvSpPr/>
          <p:nvPr/>
        </p:nvSpPr>
        <p:spPr>
          <a:xfrm>
            <a:off x="4572000" y="1463040"/>
            <a:ext cx="4114800" cy="2743200"/>
          </a:xfrm>
          <a:prstGeom prst="roundRect">
            <a:avLst>
              <a:gd name="adj" fmla="val 4000"/>
            </a:avLst>
          </a:prstGeom>
          <a:solidFill>
            <a:srgbClr val="FFFFFF"/>
          </a:solidFill>
          <a:ln w="9525">
            <a:solidFill>
              <a:srgbClr val="DCE3EC"/>
            </a:solidFill>
            <a:prstDash val="solid"/>
          </a:ln>
          <a:effectLst>
            <a:outerShdw sx="100000" sy="100000" kx="0" ky="0" algn="bl" rotWithShape="0" blurRad="101600" dist="25400" dir="5400000">
              <a:srgbClr val="0F1E3D">
                <a:alpha val="12000"/>
              </a:srgbClr>
            </a:outerShdw>
          </a:effectLst>
        </p:spPr>
      </p:sp>
      <p:pic>
        <p:nvPicPr>
          <p:cNvPr id="15" name="Image 2" descr="/tmp/claude-0/-home-user-Shukery-Azizan/b66663cb-20be-5bd3-935d-65edbae5e3fd/scratchpad/build/assets/a_114_5.png">    </p:cNvPr>
          <p:cNvPicPr>
            <a:picLocks noChangeAspect="1"/>
          </p:cNvPicPr>
          <p:nvPr/>
        </p:nvPicPr>
        <p:blipFill>
          <a:blip r:embed="rId3"/>
          <a:stretch>
            <a:fillRect/>
          </a:stretch>
        </p:blipFill>
        <p:spPr>
          <a:xfrm>
            <a:off x="4800600" y="1816599"/>
            <a:ext cx="3657600" cy="573042"/>
          </a:xfrm>
          <a:prstGeom prst="rect">
            <a:avLst/>
          </a:prstGeom>
        </p:spPr>
      </p:pic>
      <p:sp>
        <p:nvSpPr>
          <p:cNvPr id="16" name="Text 11"/>
          <p:cNvSpPr txBox="1"/>
          <p:nvPr/>
        </p:nvSpPr>
        <p:spPr>
          <a:xfrm>
            <a:off x="4800600" y="2499369"/>
            <a:ext cx="3657600" cy="1249671"/>
          </a:xfrm>
          <a:prstGeom prst="rect">
            <a:avLst/>
          </a:prstGeom>
          <a:noFill/>
          <a:ln/>
        </p:spPr>
        <p:txBody>
          <a:bodyPr wrap="square" lIns="0" tIns="0" rIns="0" bIns="0" rtlCol="0" anchor="t"/>
          <a:lstStyle/>
          <a:p>
            <a:pPr indent="0" marL="0">
              <a:spcAft>
                <a:spcPts val="400"/>
              </a:spcAft>
              <a:buNone/>
            </a:pPr>
            <a:r>
              <a:rPr lang="en-US" sz="1800" dirty="0">
                <a:solidFill>
                  <a:srgbClr val="16213A"/>
                </a:solidFill>
                <a:latin typeface="Calibri" pitchFamily="34" charset="0"/>
                <a:ea typeface="Calibri" pitchFamily="34" charset="-122"/>
                <a:cs typeface="Calibri" pitchFamily="34" charset="-120"/>
              </a:rPr>
              <a:t>"Yang membisikkan (kejahatan) ke dalam dada manusia."</a:t>
            </a:r>
            <a:endParaRPr lang="en-US" sz="1800" dirty="0"/>
          </a:p>
        </p:txBody>
      </p:sp>
      <p:sp>
        <p:nvSpPr>
          <p:cNvPr id="17" name="Text 12"/>
          <p:cNvSpPr txBox="1"/>
          <p:nvPr/>
        </p:nvSpPr>
        <p:spPr>
          <a:xfrm>
            <a:off x="4800600" y="3822192"/>
            <a:ext cx="3657600" cy="237744"/>
          </a:xfrm>
          <a:prstGeom prst="rect">
            <a:avLst/>
          </a:prstGeom>
          <a:noFill/>
          <a:ln/>
        </p:spPr>
        <p:txBody>
          <a:bodyPr wrap="square" lIns="0" tIns="0" rIns="0" bIns="0" rtlCol="0" anchor="t"/>
          <a:lstStyle/>
          <a:p>
            <a:pPr algn="r" indent="0" marL="0">
              <a:buNone/>
            </a:pPr>
            <a:r>
              <a:rPr lang="en-US" sz="1150" b="1" dirty="0">
                <a:solidFill>
                  <a:srgbClr val="9A6B0F"/>
                </a:solidFill>
                <a:latin typeface="Calibri" pitchFamily="34" charset="0"/>
                <a:ea typeface="Calibri" pitchFamily="34" charset="-122"/>
                <a:cs typeface="Calibri" pitchFamily="34" charset="-120"/>
              </a:rPr>
              <a:t>Surah An-Nas : 5</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E3D"/>
        </a:solidFill>
      </p:bgPr>
    </p:bg>
    <p:spTree>
      <p:nvGrpSpPr>
        <p:cNvPr id="1" name=""/>
        <p:cNvGrpSpPr/>
        <p:nvPr/>
      </p:nvGrpSpPr>
      <p:grpSpPr>
        <a:xfrm>
          <a:off x="0" y="0"/>
          <a:ext cx="0" cy="0"/>
          <a:chOff x="0" y="0"/>
          <a:chExt cx="0" cy="0"/>
        </a:xfrm>
      </p:grpSpPr>
      <p:pic>
        <p:nvPicPr>
          <p:cNvPr id="2" name="Image 0" descr="/tmp/claude-0/-home-user-Shukery-Azizan/b66663cb-20be-5bd3-935d-65edbae5e3fd/scratchpad/build/assets/pattern.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685800" y="740664"/>
            <a:ext cx="3657600" cy="3657600"/>
          </a:xfrm>
          <a:prstGeom prst="ellipse">
            <a:avLst/>
          </a:prstGeom>
          <a:solidFill>
            <a:srgbClr val="1B2F5A"/>
          </a:solidFill>
          <a:ln w="19050">
            <a:solidFill>
              <a:srgbClr val="2A4374"/>
            </a:solidFill>
            <a:prstDash val="solid"/>
          </a:ln>
        </p:spPr>
      </p:sp>
      <p:sp>
        <p:nvSpPr>
          <p:cNvPr id="4" name="Text 1"/>
          <p:cNvSpPr txBox="1"/>
          <p:nvPr/>
        </p:nvSpPr>
        <p:spPr>
          <a:xfrm>
            <a:off x="1600200" y="969264"/>
            <a:ext cx="1828800" cy="320040"/>
          </a:xfrm>
          <a:prstGeom prst="rect">
            <a:avLst/>
          </a:prstGeom>
          <a:noFill/>
          <a:ln/>
        </p:spPr>
        <p:txBody>
          <a:bodyPr wrap="square" lIns="0" tIns="0" rIns="0" bIns="0" rtlCol="0" anchor="t"/>
          <a:lstStyle/>
          <a:p>
            <a:pPr algn="ctr" indent="0" marL="0">
              <a:buNone/>
            </a:pPr>
            <a:r>
              <a:rPr lang="en-US" sz="1500" b="1" spc="300" kern="0" dirty="0">
                <a:solidFill>
                  <a:srgbClr val="C9D3E6"/>
                </a:solidFill>
                <a:latin typeface="Calibri" pitchFamily="34" charset="0"/>
                <a:ea typeface="Calibri" pitchFamily="34" charset="-122"/>
                <a:cs typeface="Calibri" pitchFamily="34" charset="-120"/>
              </a:rPr>
              <a:t>DADA</a:t>
            </a:r>
            <a:endParaRPr lang="en-US" sz="1500" dirty="0"/>
          </a:p>
        </p:txBody>
      </p:sp>
      <p:sp>
        <p:nvSpPr>
          <p:cNvPr id="5" name="Text 2"/>
          <p:cNvSpPr txBox="1"/>
          <p:nvPr/>
        </p:nvSpPr>
        <p:spPr>
          <a:xfrm>
            <a:off x="1600200" y="1271016"/>
            <a:ext cx="1828800" cy="274320"/>
          </a:xfrm>
          <a:prstGeom prst="rect">
            <a:avLst/>
          </a:prstGeom>
          <a:noFill/>
          <a:ln/>
        </p:spPr>
        <p:txBody>
          <a:bodyPr wrap="square" lIns="0" tIns="0" rIns="0" bIns="0" rtlCol="0" anchor="t"/>
          <a:lstStyle/>
          <a:p>
            <a:pPr algn="ctr" indent="0" marL="0">
              <a:buNone/>
            </a:pPr>
            <a:r>
              <a:rPr lang="en-US" sz="1200" dirty="0">
                <a:solidFill>
                  <a:srgbClr val="9AA8C2"/>
                </a:solidFill>
                <a:latin typeface="Calibri" pitchFamily="34" charset="0"/>
                <a:ea typeface="Calibri" pitchFamily="34" charset="-122"/>
                <a:cs typeface="Calibri" pitchFamily="34" charset="-120"/>
              </a:rPr>
              <a:t>(tempat)</a:t>
            </a:r>
            <a:endParaRPr lang="en-US" sz="1200" dirty="0"/>
          </a:p>
        </p:txBody>
      </p:sp>
      <p:sp>
        <p:nvSpPr>
          <p:cNvPr id="6" name="Shape 3"/>
          <p:cNvSpPr/>
          <p:nvPr/>
        </p:nvSpPr>
        <p:spPr>
          <a:xfrm>
            <a:off x="1600200" y="1837944"/>
            <a:ext cx="1828800" cy="1828800"/>
          </a:xfrm>
          <a:prstGeom prst="ellipse">
            <a:avLst/>
          </a:prstGeom>
          <a:solidFill>
            <a:srgbClr val="D9A93A"/>
          </a:solidFill>
          <a:ln w="12700">
            <a:solidFill>
              <a:srgbClr val="D9A93A"/>
            </a:solidFill>
            <a:prstDash val="solid"/>
          </a:ln>
        </p:spPr>
      </p:sp>
      <p:pic>
        <p:nvPicPr>
          <p:cNvPr id="7" name="Image 1" descr="preencoded.png">    </p:cNvPr>
          <p:cNvPicPr>
            <a:picLocks noChangeAspect="1"/>
          </p:cNvPicPr>
          <p:nvPr/>
        </p:nvPicPr>
        <p:blipFill>
          <a:blip r:embed="rId2"/>
          <a:stretch>
            <a:fillRect/>
          </a:stretch>
        </p:blipFill>
        <p:spPr>
          <a:xfrm>
            <a:off x="2240280" y="2066544"/>
            <a:ext cx="548640" cy="548640"/>
          </a:xfrm>
          <a:prstGeom prst="rect">
            <a:avLst/>
          </a:prstGeom>
        </p:spPr>
      </p:pic>
      <p:sp>
        <p:nvSpPr>
          <p:cNvPr id="8" name="Text 4"/>
          <p:cNvSpPr txBox="1"/>
          <p:nvPr/>
        </p:nvSpPr>
        <p:spPr>
          <a:xfrm>
            <a:off x="1600200" y="2706624"/>
            <a:ext cx="1828800" cy="411480"/>
          </a:xfrm>
          <a:prstGeom prst="rect">
            <a:avLst/>
          </a:prstGeom>
          <a:noFill/>
          <a:ln/>
        </p:spPr>
        <p:txBody>
          <a:bodyPr wrap="square" lIns="0" tIns="0" rIns="0" bIns="0" rtlCol="0" anchor="t"/>
          <a:lstStyle/>
          <a:p>
            <a:pPr algn="ctr" indent="0" marL="0">
              <a:buNone/>
            </a:pPr>
            <a:r>
              <a:rPr lang="en-US" sz="2000" b="1" dirty="0">
                <a:solidFill>
                  <a:srgbClr val="0F1E3D"/>
                </a:solidFill>
                <a:latin typeface="Calibri" pitchFamily="34" charset="0"/>
                <a:ea typeface="Calibri" pitchFamily="34" charset="-122"/>
                <a:cs typeface="Calibri" pitchFamily="34" charset="-120"/>
              </a:rPr>
              <a:t>HATI</a:t>
            </a:r>
            <a:endParaRPr lang="en-US" sz="2000" dirty="0"/>
          </a:p>
        </p:txBody>
      </p:sp>
      <p:sp>
        <p:nvSpPr>
          <p:cNvPr id="9" name="Text 5"/>
          <p:cNvSpPr txBox="1"/>
          <p:nvPr/>
        </p:nvSpPr>
        <p:spPr>
          <a:xfrm>
            <a:off x="4937760" y="1280160"/>
            <a:ext cx="3749040" cy="2560320"/>
          </a:xfrm>
          <a:prstGeom prst="rect">
            <a:avLst/>
          </a:prstGeom>
          <a:noFill/>
          <a:ln/>
        </p:spPr>
        <p:txBody>
          <a:bodyPr wrap="square" lIns="0" tIns="0" rIns="0" bIns="0" rtlCol="0" anchor="ctr"/>
          <a:lstStyle/>
          <a:p>
            <a:pPr indent="0" marL="0">
              <a:buNone/>
            </a:pPr>
            <a:r>
              <a:rPr lang="en-US" sz="2400" dirty="0">
                <a:solidFill>
                  <a:srgbClr val="FFFFFF"/>
                </a:solidFill>
                <a:latin typeface="Calibri" pitchFamily="34" charset="0"/>
                <a:ea typeface="Calibri" pitchFamily="34" charset="-122"/>
                <a:cs typeface="Calibri" pitchFamily="34" charset="-120"/>
              </a:rPr>
              <a:t>Dada adalah tempat,</a:t>
            </a:r>
            <a:endParaRPr lang="en-US" sz="2400" dirty="0"/>
          </a:p>
          <a:p>
            <a:pPr indent="0" marL="0">
              <a:buNone/>
            </a:pPr>
            <a:r>
              <a:rPr lang="en-US" sz="2400" dirty="0">
                <a:solidFill>
                  <a:srgbClr val="FFFFFF"/>
                </a:solidFill>
                <a:latin typeface="Calibri" pitchFamily="34" charset="0"/>
                <a:ea typeface="Calibri" pitchFamily="34" charset="-122"/>
                <a:cs typeface="Calibri" pitchFamily="34" charset="-120"/>
              </a:rPr>
              <a:t>dan di dalam tempat itu terkandung satu perkara yang sangat berharga — iaitu </a:t>
            </a:r>
            <a:pPr indent="0" marL="0">
              <a:buNone/>
            </a:pPr>
            <a:r>
              <a:rPr lang="en-US" sz="2400" b="1" dirty="0">
                <a:solidFill>
                  <a:srgbClr val="D9A93A"/>
                </a:solidFill>
                <a:latin typeface="Calibri" pitchFamily="34" charset="0"/>
                <a:ea typeface="Calibri" pitchFamily="34" charset="-122"/>
                <a:cs typeface="Calibri" pitchFamily="34" charset="-120"/>
              </a:rPr>
              <a:t>HATI.</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4572000" cy="256032"/>
          </a:xfrm>
          <a:prstGeom prst="rect">
            <a:avLst/>
          </a:prstGeom>
          <a:noFill/>
          <a:ln/>
        </p:spPr>
        <p:txBody>
          <a:bodyPr wrap="square" lIns="0" tIns="0" rIns="0" bIns="0" rtlCol="0" anchor="t"/>
          <a:lstStyle/>
          <a:p>
            <a:pPr indent="0" marL="0">
              <a:buNone/>
            </a:pPr>
            <a:r>
              <a:rPr lang="en-US" sz="1100" b="1" spc="200" kern="0" dirty="0">
                <a:solidFill>
                  <a:srgbClr val="9A6B0F"/>
                </a:solidFill>
                <a:latin typeface="Calibri" pitchFamily="34" charset="0"/>
                <a:ea typeface="Calibri" pitchFamily="34" charset="-122"/>
                <a:cs typeface="Calibri" pitchFamily="34" charset="-120"/>
              </a:rPr>
              <a:t>ANALOGI MUDAH</a:t>
            </a:r>
            <a:endParaRPr lang="en-US" sz="1100" dirty="0"/>
          </a:p>
        </p:txBody>
      </p:sp>
      <p:sp>
        <p:nvSpPr>
          <p:cNvPr id="3" name="Text 1"/>
          <p:cNvSpPr txBox="1"/>
          <p:nvPr/>
        </p:nvSpPr>
        <p:spPr>
          <a:xfrm>
            <a:off x="457200" y="603504"/>
            <a:ext cx="8229600" cy="566928"/>
          </a:xfrm>
          <a:prstGeom prst="rect">
            <a:avLst/>
          </a:prstGeom>
          <a:noFill/>
          <a:ln/>
        </p:spPr>
        <p:txBody>
          <a:bodyPr wrap="square" lIns="0" tIns="0" rIns="0" bIns="0" rtlCol="0" anchor="ctr"/>
          <a:lstStyle/>
          <a:p>
            <a:pPr indent="0" marL="0">
              <a:buNone/>
            </a:pPr>
            <a:r>
              <a:rPr lang="en-US" sz="2800" b="1" dirty="0">
                <a:solidFill>
                  <a:srgbClr val="0F1E3D"/>
                </a:solidFill>
                <a:latin typeface="Calibri" pitchFamily="34" charset="0"/>
                <a:ea typeface="Calibri" pitchFamily="34" charset="-122"/>
                <a:cs typeface="Calibri" pitchFamily="34" charset="-120"/>
              </a:rPr>
              <a:t>Rumah yang Ada Pagar</a:t>
            </a:r>
            <a:endParaRPr lang="en-US" sz="2800" dirty="0"/>
          </a:p>
        </p:txBody>
      </p:sp>
      <p:sp>
        <p:nvSpPr>
          <p:cNvPr id="4" name="Text 2"/>
          <p:cNvSpPr txBox="1"/>
          <p:nvPr/>
        </p:nvSpPr>
        <p:spPr>
          <a:xfrm>
            <a:off x="457200" y="1170432"/>
            <a:ext cx="8229600" cy="320040"/>
          </a:xfrm>
          <a:prstGeom prst="rect">
            <a:avLst/>
          </a:prstGeom>
          <a:noFill/>
          <a:ln/>
        </p:spPr>
        <p:txBody>
          <a:bodyPr wrap="square" lIns="0" tIns="0" rIns="0" bIns="0" rtlCol="0" anchor="t"/>
          <a:lstStyle/>
          <a:p>
            <a:pPr indent="0" marL="0">
              <a:buNone/>
            </a:pPr>
            <a:r>
              <a:rPr lang="en-US" sz="1400" dirty="0">
                <a:solidFill>
                  <a:srgbClr val="5A6880"/>
                </a:solidFill>
                <a:latin typeface="Calibri" pitchFamily="34" charset="0"/>
                <a:ea typeface="Calibri" pitchFamily="34" charset="-122"/>
                <a:cs typeface="Calibri" pitchFamily="34" charset="-120"/>
              </a:rPr>
              <a:t>Syaitan tak boleh masuk ke dalam hati kita, tetapi dia boleh masuk ke dalam dada.</a:t>
            </a:r>
            <a:endParaRPr lang="en-US" sz="1400" dirty="0"/>
          </a:p>
        </p:txBody>
      </p:sp>
      <p:sp>
        <p:nvSpPr>
          <p:cNvPr id="5" name="Shape 3"/>
          <p:cNvSpPr/>
          <p:nvPr/>
        </p:nvSpPr>
        <p:spPr>
          <a:xfrm>
            <a:off x="457200" y="1691640"/>
            <a:ext cx="1828800" cy="1371600"/>
          </a:xfrm>
          <a:prstGeom prst="roundRect">
            <a:avLst>
              <a:gd name="adj" fmla="val 8000"/>
            </a:avLst>
          </a:prstGeom>
          <a:solidFill>
            <a:srgbClr val="FFFFFF"/>
          </a:solidFill>
          <a:ln w="9525">
            <a:solidFill>
              <a:srgbClr val="DCE3EC"/>
            </a:solidFill>
            <a:prstDash val="solid"/>
          </a:ln>
          <a:effectLst>
            <a:outerShdw sx="100000" sy="100000" kx="0" ky="0" algn="bl" rotWithShape="0" blurRad="101600" dist="25400" dir="5400000">
              <a:srgbClr val="0F1E3D">
                <a:alpha val="12000"/>
              </a:srgbClr>
            </a:outerShdw>
          </a:effectLst>
        </p:spPr>
      </p:sp>
      <p:sp>
        <p:nvSpPr>
          <p:cNvPr id="6" name="Shape 4"/>
          <p:cNvSpPr/>
          <p:nvPr/>
        </p:nvSpPr>
        <p:spPr>
          <a:xfrm>
            <a:off x="1097280" y="1810512"/>
            <a:ext cx="548640" cy="548640"/>
          </a:xfrm>
          <a:prstGeom prst="ellipse">
            <a:avLst/>
          </a:prstGeom>
          <a:solidFill>
            <a:srgbClr val="FBE9E6"/>
          </a:solidFill>
          <a:ln w="12700">
            <a:solidFill>
              <a:srgbClr val="FBE9E6"/>
            </a:solidFill>
            <a:prstDash val="solid"/>
          </a:ln>
        </p:spPr>
      </p:sp>
      <p:pic>
        <p:nvPicPr>
          <p:cNvPr id="7" name="Image 0" descr="preencoded.png">    </p:cNvPr>
          <p:cNvPicPr>
            <a:picLocks noChangeAspect="1"/>
          </p:cNvPicPr>
          <p:nvPr/>
        </p:nvPicPr>
        <p:blipFill>
          <a:blip r:embed="rId1"/>
          <a:stretch>
            <a:fillRect/>
          </a:stretch>
        </p:blipFill>
        <p:spPr>
          <a:xfrm>
            <a:off x="1239926" y="1953158"/>
            <a:ext cx="263347" cy="263347"/>
          </a:xfrm>
          <a:prstGeom prst="rect">
            <a:avLst/>
          </a:prstGeom>
        </p:spPr>
      </p:pic>
      <p:sp>
        <p:nvSpPr>
          <p:cNvPr id="8" name="Text 5"/>
          <p:cNvSpPr txBox="1"/>
          <p:nvPr/>
        </p:nvSpPr>
        <p:spPr>
          <a:xfrm>
            <a:off x="548640" y="2395728"/>
            <a:ext cx="1645920" cy="292608"/>
          </a:xfrm>
          <a:prstGeom prst="rect">
            <a:avLst/>
          </a:prstGeom>
          <a:noFill/>
          <a:ln/>
        </p:spPr>
        <p:txBody>
          <a:bodyPr wrap="square" lIns="0" tIns="0" rIns="0" bIns="0" rtlCol="0" anchor="t"/>
          <a:lstStyle/>
          <a:p>
            <a:pPr algn="ctr" indent="0" marL="0">
              <a:buNone/>
            </a:pPr>
            <a:r>
              <a:rPr lang="en-US" sz="1500" b="1" dirty="0">
                <a:solidFill>
                  <a:srgbClr val="0F1E3D"/>
                </a:solidFill>
                <a:latin typeface="Calibri" pitchFamily="34" charset="0"/>
                <a:ea typeface="Calibri" pitchFamily="34" charset="-122"/>
                <a:cs typeface="Calibri" pitchFamily="34" charset="-120"/>
              </a:rPr>
              <a:t>Syaitan</a:t>
            </a:r>
            <a:endParaRPr lang="en-US" sz="1500" dirty="0"/>
          </a:p>
        </p:txBody>
      </p:sp>
      <p:sp>
        <p:nvSpPr>
          <p:cNvPr id="9" name="Text 6"/>
          <p:cNvSpPr txBox="1"/>
          <p:nvPr/>
        </p:nvSpPr>
        <p:spPr>
          <a:xfrm>
            <a:off x="548640" y="2688336"/>
            <a:ext cx="1645920" cy="274320"/>
          </a:xfrm>
          <a:prstGeom prst="rect">
            <a:avLst/>
          </a:prstGeom>
          <a:noFill/>
          <a:ln/>
        </p:spPr>
        <p:txBody>
          <a:bodyPr wrap="square" lIns="0" tIns="0" rIns="0" bIns="0" rtlCol="0" anchor="t"/>
          <a:lstStyle/>
          <a:p>
            <a:pPr algn="ctr" indent="0" marL="0">
              <a:buNone/>
            </a:pPr>
            <a:r>
              <a:rPr lang="en-US" sz="1150" dirty="0">
                <a:solidFill>
                  <a:srgbClr val="5A6880"/>
                </a:solidFill>
                <a:latin typeface="Calibri" pitchFamily="34" charset="0"/>
                <a:ea typeface="Calibri" pitchFamily="34" charset="-122"/>
                <a:cs typeface="Calibri" pitchFamily="34" charset="-120"/>
              </a:rPr>
              <a:t>datang menggoda</a:t>
            </a:r>
            <a:endParaRPr lang="en-US" sz="1150" dirty="0"/>
          </a:p>
        </p:txBody>
      </p:sp>
      <p:pic>
        <p:nvPicPr>
          <p:cNvPr id="10" name="Image 1" descr="preencoded.png">    </p:cNvPr>
          <p:cNvPicPr>
            <a:picLocks noChangeAspect="1"/>
          </p:cNvPicPr>
          <p:nvPr/>
        </p:nvPicPr>
        <p:blipFill>
          <a:blip r:embed="rId2"/>
          <a:stretch>
            <a:fillRect/>
          </a:stretch>
        </p:blipFill>
        <p:spPr>
          <a:xfrm>
            <a:off x="2340864" y="2258568"/>
            <a:ext cx="219456" cy="219456"/>
          </a:xfrm>
          <a:prstGeom prst="rect">
            <a:avLst/>
          </a:prstGeom>
        </p:spPr>
      </p:pic>
      <p:sp>
        <p:nvSpPr>
          <p:cNvPr id="11" name="Shape 7"/>
          <p:cNvSpPr/>
          <p:nvPr/>
        </p:nvSpPr>
        <p:spPr>
          <a:xfrm>
            <a:off x="2606040" y="1691640"/>
            <a:ext cx="1828800" cy="1371600"/>
          </a:xfrm>
          <a:prstGeom prst="roundRect">
            <a:avLst>
              <a:gd name="adj" fmla="val 8000"/>
            </a:avLst>
          </a:prstGeom>
          <a:solidFill>
            <a:srgbClr val="FFFFFF"/>
          </a:solidFill>
          <a:ln w="9525">
            <a:solidFill>
              <a:srgbClr val="DCE3EC"/>
            </a:solidFill>
            <a:prstDash val="solid"/>
          </a:ln>
          <a:effectLst>
            <a:outerShdw sx="100000" sy="100000" kx="0" ky="0" algn="bl" rotWithShape="0" blurRad="101600" dist="25400" dir="5400000">
              <a:srgbClr val="0F1E3D">
                <a:alpha val="12000"/>
              </a:srgbClr>
            </a:outerShdw>
          </a:effectLst>
        </p:spPr>
      </p:sp>
      <p:sp>
        <p:nvSpPr>
          <p:cNvPr id="12" name="Shape 8"/>
          <p:cNvSpPr/>
          <p:nvPr/>
        </p:nvSpPr>
        <p:spPr>
          <a:xfrm>
            <a:off x="3246120" y="1810512"/>
            <a:ext cx="548640" cy="548640"/>
          </a:xfrm>
          <a:prstGeom prst="ellipse">
            <a:avLst/>
          </a:prstGeom>
          <a:solidFill>
            <a:srgbClr val="F3F6FA"/>
          </a:solidFill>
          <a:ln w="12700">
            <a:solidFill>
              <a:srgbClr val="F3F6FA"/>
            </a:solidFill>
            <a:prstDash val="solid"/>
          </a:ln>
        </p:spPr>
      </p:sp>
      <p:pic>
        <p:nvPicPr>
          <p:cNvPr id="13" name="Image 2" descr="preencoded.png">    </p:cNvPr>
          <p:cNvPicPr>
            <a:picLocks noChangeAspect="1"/>
          </p:cNvPicPr>
          <p:nvPr/>
        </p:nvPicPr>
        <p:blipFill>
          <a:blip r:embed="rId3"/>
          <a:stretch>
            <a:fillRect/>
          </a:stretch>
        </p:blipFill>
        <p:spPr>
          <a:xfrm>
            <a:off x="3388766" y="1953158"/>
            <a:ext cx="263347" cy="263347"/>
          </a:xfrm>
          <a:prstGeom prst="rect">
            <a:avLst/>
          </a:prstGeom>
        </p:spPr>
      </p:pic>
      <p:sp>
        <p:nvSpPr>
          <p:cNvPr id="14" name="Text 9"/>
          <p:cNvSpPr txBox="1"/>
          <p:nvPr/>
        </p:nvSpPr>
        <p:spPr>
          <a:xfrm>
            <a:off x="2697480" y="2395728"/>
            <a:ext cx="1645920" cy="292608"/>
          </a:xfrm>
          <a:prstGeom prst="rect">
            <a:avLst/>
          </a:prstGeom>
          <a:noFill/>
          <a:ln/>
        </p:spPr>
        <p:txBody>
          <a:bodyPr wrap="square" lIns="0" tIns="0" rIns="0" bIns="0" rtlCol="0" anchor="t"/>
          <a:lstStyle/>
          <a:p>
            <a:pPr algn="ctr" indent="0" marL="0">
              <a:buNone/>
            </a:pPr>
            <a:r>
              <a:rPr lang="en-US" sz="1500" b="1" dirty="0">
                <a:solidFill>
                  <a:srgbClr val="0F1E3D"/>
                </a:solidFill>
                <a:latin typeface="Calibri" pitchFamily="34" charset="0"/>
                <a:ea typeface="Calibri" pitchFamily="34" charset="-122"/>
                <a:cs typeface="Calibri" pitchFamily="34" charset="-120"/>
              </a:rPr>
              <a:t>Pagar</a:t>
            </a:r>
            <a:endParaRPr lang="en-US" sz="1500" dirty="0"/>
          </a:p>
        </p:txBody>
      </p:sp>
      <p:sp>
        <p:nvSpPr>
          <p:cNvPr id="15" name="Text 10"/>
          <p:cNvSpPr txBox="1"/>
          <p:nvPr/>
        </p:nvSpPr>
        <p:spPr>
          <a:xfrm>
            <a:off x="2697480" y="2688336"/>
            <a:ext cx="1645920" cy="274320"/>
          </a:xfrm>
          <a:prstGeom prst="rect">
            <a:avLst/>
          </a:prstGeom>
          <a:noFill/>
          <a:ln/>
        </p:spPr>
        <p:txBody>
          <a:bodyPr wrap="square" lIns="0" tIns="0" rIns="0" bIns="0" rtlCol="0" anchor="t"/>
          <a:lstStyle/>
          <a:p>
            <a:pPr algn="ctr" indent="0" marL="0">
              <a:buNone/>
            </a:pPr>
            <a:r>
              <a:rPr lang="en-US" sz="1150" dirty="0">
                <a:solidFill>
                  <a:srgbClr val="5A6880"/>
                </a:solidFill>
                <a:latin typeface="Calibri" pitchFamily="34" charset="0"/>
                <a:ea typeface="Calibri" pitchFamily="34" charset="-122"/>
                <a:cs typeface="Calibri" pitchFamily="34" charset="-120"/>
              </a:rPr>
              <a:t>= DADA</a:t>
            </a:r>
            <a:endParaRPr lang="en-US" sz="1150" dirty="0"/>
          </a:p>
        </p:txBody>
      </p:sp>
      <p:pic>
        <p:nvPicPr>
          <p:cNvPr id="16" name="Image 3" descr="preencoded.png">    </p:cNvPr>
          <p:cNvPicPr>
            <a:picLocks noChangeAspect="1"/>
          </p:cNvPicPr>
          <p:nvPr/>
        </p:nvPicPr>
        <p:blipFill>
          <a:blip r:embed="rId4"/>
          <a:stretch>
            <a:fillRect/>
          </a:stretch>
        </p:blipFill>
        <p:spPr>
          <a:xfrm>
            <a:off x="4489704" y="2258568"/>
            <a:ext cx="219456" cy="219456"/>
          </a:xfrm>
          <a:prstGeom prst="rect">
            <a:avLst/>
          </a:prstGeom>
        </p:spPr>
      </p:pic>
      <p:sp>
        <p:nvSpPr>
          <p:cNvPr id="17" name="Shape 11"/>
          <p:cNvSpPr/>
          <p:nvPr/>
        </p:nvSpPr>
        <p:spPr>
          <a:xfrm>
            <a:off x="4754880" y="1691640"/>
            <a:ext cx="1828800" cy="1371600"/>
          </a:xfrm>
          <a:prstGeom prst="roundRect">
            <a:avLst>
              <a:gd name="adj" fmla="val 8000"/>
            </a:avLst>
          </a:prstGeom>
          <a:solidFill>
            <a:srgbClr val="FFFFFF"/>
          </a:solidFill>
          <a:ln w="9525">
            <a:solidFill>
              <a:srgbClr val="DCE3EC"/>
            </a:solidFill>
            <a:prstDash val="solid"/>
          </a:ln>
          <a:effectLst>
            <a:outerShdw sx="100000" sy="100000" kx="0" ky="0" algn="bl" rotWithShape="0" blurRad="101600" dist="25400" dir="5400000">
              <a:srgbClr val="0F1E3D">
                <a:alpha val="12000"/>
              </a:srgbClr>
            </a:outerShdw>
          </a:effectLst>
        </p:spPr>
      </p:sp>
      <p:sp>
        <p:nvSpPr>
          <p:cNvPr id="18" name="Shape 12"/>
          <p:cNvSpPr/>
          <p:nvPr/>
        </p:nvSpPr>
        <p:spPr>
          <a:xfrm>
            <a:off x="5394960" y="1810512"/>
            <a:ext cx="548640" cy="548640"/>
          </a:xfrm>
          <a:prstGeom prst="ellipse">
            <a:avLst/>
          </a:prstGeom>
          <a:solidFill>
            <a:srgbClr val="F3F6FA"/>
          </a:solidFill>
          <a:ln w="12700">
            <a:solidFill>
              <a:srgbClr val="F3F6FA"/>
            </a:solidFill>
            <a:prstDash val="solid"/>
          </a:ln>
        </p:spPr>
      </p:sp>
      <p:pic>
        <p:nvPicPr>
          <p:cNvPr id="19" name="Image 4" descr="preencoded.png">    </p:cNvPr>
          <p:cNvPicPr>
            <a:picLocks noChangeAspect="1"/>
          </p:cNvPicPr>
          <p:nvPr/>
        </p:nvPicPr>
        <p:blipFill>
          <a:blip r:embed="rId5"/>
          <a:stretch>
            <a:fillRect/>
          </a:stretch>
        </p:blipFill>
        <p:spPr>
          <a:xfrm>
            <a:off x="5537606" y="1953158"/>
            <a:ext cx="263347" cy="263347"/>
          </a:xfrm>
          <a:prstGeom prst="rect">
            <a:avLst/>
          </a:prstGeom>
        </p:spPr>
      </p:pic>
      <p:sp>
        <p:nvSpPr>
          <p:cNvPr id="20" name="Text 13"/>
          <p:cNvSpPr txBox="1"/>
          <p:nvPr/>
        </p:nvSpPr>
        <p:spPr>
          <a:xfrm>
            <a:off x="4846320" y="2395728"/>
            <a:ext cx="1645920" cy="292608"/>
          </a:xfrm>
          <a:prstGeom prst="rect">
            <a:avLst/>
          </a:prstGeom>
          <a:noFill/>
          <a:ln/>
        </p:spPr>
        <p:txBody>
          <a:bodyPr wrap="square" lIns="0" tIns="0" rIns="0" bIns="0" rtlCol="0" anchor="t"/>
          <a:lstStyle/>
          <a:p>
            <a:pPr algn="ctr" indent="0" marL="0">
              <a:buNone/>
            </a:pPr>
            <a:r>
              <a:rPr lang="en-US" sz="1500" b="1" dirty="0">
                <a:solidFill>
                  <a:srgbClr val="0F1E3D"/>
                </a:solidFill>
                <a:latin typeface="Calibri" pitchFamily="34" charset="0"/>
                <a:ea typeface="Calibri" pitchFamily="34" charset="-122"/>
                <a:cs typeface="Calibri" pitchFamily="34" charset="-120"/>
              </a:rPr>
              <a:t>Pintu</a:t>
            </a:r>
            <a:endParaRPr lang="en-US" sz="1500" dirty="0"/>
          </a:p>
        </p:txBody>
      </p:sp>
      <p:sp>
        <p:nvSpPr>
          <p:cNvPr id="21" name="Text 14"/>
          <p:cNvSpPr txBox="1"/>
          <p:nvPr/>
        </p:nvSpPr>
        <p:spPr>
          <a:xfrm>
            <a:off x="4846320" y="2688336"/>
            <a:ext cx="1645920" cy="274320"/>
          </a:xfrm>
          <a:prstGeom prst="rect">
            <a:avLst/>
          </a:prstGeom>
          <a:noFill/>
          <a:ln/>
        </p:spPr>
        <p:txBody>
          <a:bodyPr wrap="square" lIns="0" tIns="0" rIns="0" bIns="0" rtlCol="0" anchor="t"/>
          <a:lstStyle/>
          <a:p>
            <a:pPr algn="ctr" indent="0" marL="0">
              <a:buNone/>
            </a:pPr>
            <a:r>
              <a:rPr lang="en-US" sz="1150" dirty="0">
                <a:solidFill>
                  <a:srgbClr val="5A6880"/>
                </a:solidFill>
                <a:latin typeface="Calibri" pitchFamily="34" charset="0"/>
                <a:ea typeface="Calibri" pitchFamily="34" charset="-122"/>
                <a:cs typeface="Calibri" pitchFamily="34" charset="-120"/>
              </a:rPr>
              <a:t>diketuk, kita dengar</a:t>
            </a:r>
            <a:endParaRPr lang="en-US" sz="1150" dirty="0"/>
          </a:p>
        </p:txBody>
      </p:sp>
      <p:pic>
        <p:nvPicPr>
          <p:cNvPr id="22" name="Image 5" descr="preencoded.png">    </p:cNvPr>
          <p:cNvPicPr>
            <a:picLocks noChangeAspect="1"/>
          </p:cNvPicPr>
          <p:nvPr/>
        </p:nvPicPr>
        <p:blipFill>
          <a:blip r:embed="rId6"/>
          <a:stretch>
            <a:fillRect/>
          </a:stretch>
        </p:blipFill>
        <p:spPr>
          <a:xfrm>
            <a:off x="6638544" y="2258568"/>
            <a:ext cx="219456" cy="219456"/>
          </a:xfrm>
          <a:prstGeom prst="rect">
            <a:avLst/>
          </a:prstGeom>
        </p:spPr>
      </p:pic>
      <p:sp>
        <p:nvSpPr>
          <p:cNvPr id="23" name="Shape 15"/>
          <p:cNvSpPr/>
          <p:nvPr/>
        </p:nvSpPr>
        <p:spPr>
          <a:xfrm>
            <a:off x="6903720" y="1691640"/>
            <a:ext cx="1828800" cy="1371600"/>
          </a:xfrm>
          <a:prstGeom prst="roundRect">
            <a:avLst>
              <a:gd name="adj" fmla="val 8000"/>
            </a:avLst>
          </a:prstGeom>
          <a:solidFill>
            <a:srgbClr val="FFFFFF"/>
          </a:solidFill>
          <a:ln w="9525">
            <a:solidFill>
              <a:srgbClr val="DCE3EC"/>
            </a:solidFill>
            <a:prstDash val="solid"/>
          </a:ln>
          <a:effectLst>
            <a:outerShdw sx="100000" sy="100000" kx="0" ky="0" algn="bl" rotWithShape="0" blurRad="101600" dist="25400" dir="5400000">
              <a:srgbClr val="0F1E3D">
                <a:alpha val="12000"/>
              </a:srgbClr>
            </a:outerShdw>
          </a:effectLst>
        </p:spPr>
      </p:sp>
      <p:sp>
        <p:nvSpPr>
          <p:cNvPr id="24" name="Shape 16"/>
          <p:cNvSpPr/>
          <p:nvPr/>
        </p:nvSpPr>
        <p:spPr>
          <a:xfrm>
            <a:off x="7543800" y="1810512"/>
            <a:ext cx="548640" cy="548640"/>
          </a:xfrm>
          <a:prstGeom prst="ellipse">
            <a:avLst/>
          </a:prstGeom>
          <a:solidFill>
            <a:srgbClr val="FBF3DF"/>
          </a:solidFill>
          <a:ln w="12700">
            <a:solidFill>
              <a:srgbClr val="FBF3DF"/>
            </a:solidFill>
            <a:prstDash val="solid"/>
          </a:ln>
        </p:spPr>
      </p:sp>
      <p:pic>
        <p:nvPicPr>
          <p:cNvPr id="25" name="Image 6" descr="preencoded.png">    </p:cNvPr>
          <p:cNvPicPr>
            <a:picLocks noChangeAspect="1"/>
          </p:cNvPicPr>
          <p:nvPr/>
        </p:nvPicPr>
        <p:blipFill>
          <a:blip r:embed="rId7"/>
          <a:stretch>
            <a:fillRect/>
          </a:stretch>
        </p:blipFill>
        <p:spPr>
          <a:xfrm>
            <a:off x="7686446" y="1953158"/>
            <a:ext cx="263347" cy="263347"/>
          </a:xfrm>
          <a:prstGeom prst="rect">
            <a:avLst/>
          </a:prstGeom>
        </p:spPr>
      </p:pic>
      <p:sp>
        <p:nvSpPr>
          <p:cNvPr id="26" name="Text 17"/>
          <p:cNvSpPr txBox="1"/>
          <p:nvPr/>
        </p:nvSpPr>
        <p:spPr>
          <a:xfrm>
            <a:off x="6995160" y="2395728"/>
            <a:ext cx="1645920" cy="292608"/>
          </a:xfrm>
          <a:prstGeom prst="rect">
            <a:avLst/>
          </a:prstGeom>
          <a:noFill/>
          <a:ln/>
        </p:spPr>
        <p:txBody>
          <a:bodyPr wrap="square" lIns="0" tIns="0" rIns="0" bIns="0" rtlCol="0" anchor="t"/>
          <a:lstStyle/>
          <a:p>
            <a:pPr algn="ctr" indent="0" marL="0">
              <a:buNone/>
            </a:pPr>
            <a:r>
              <a:rPr lang="en-US" sz="1500" b="1" dirty="0">
                <a:solidFill>
                  <a:srgbClr val="0F1E3D"/>
                </a:solidFill>
                <a:latin typeface="Calibri" pitchFamily="34" charset="0"/>
                <a:ea typeface="Calibri" pitchFamily="34" charset="-122"/>
                <a:cs typeface="Calibri" pitchFamily="34" charset="-120"/>
              </a:rPr>
              <a:t>Rumah</a:t>
            </a:r>
            <a:endParaRPr lang="en-US" sz="1500" dirty="0"/>
          </a:p>
        </p:txBody>
      </p:sp>
      <p:sp>
        <p:nvSpPr>
          <p:cNvPr id="27" name="Text 18"/>
          <p:cNvSpPr txBox="1"/>
          <p:nvPr/>
        </p:nvSpPr>
        <p:spPr>
          <a:xfrm>
            <a:off x="6995160" y="2688336"/>
            <a:ext cx="1645920" cy="274320"/>
          </a:xfrm>
          <a:prstGeom prst="rect">
            <a:avLst/>
          </a:prstGeom>
          <a:noFill/>
          <a:ln/>
        </p:spPr>
        <p:txBody>
          <a:bodyPr wrap="square" lIns="0" tIns="0" rIns="0" bIns="0" rtlCol="0" anchor="t"/>
          <a:lstStyle/>
          <a:p>
            <a:pPr algn="ctr" indent="0" marL="0">
              <a:buNone/>
            </a:pPr>
            <a:r>
              <a:rPr lang="en-US" sz="1150" dirty="0">
                <a:solidFill>
                  <a:srgbClr val="5A6880"/>
                </a:solidFill>
                <a:latin typeface="Calibri" pitchFamily="34" charset="0"/>
                <a:ea typeface="Calibri" pitchFamily="34" charset="-122"/>
                <a:cs typeface="Calibri" pitchFamily="34" charset="-120"/>
              </a:rPr>
              <a:t>= HATI</a:t>
            </a:r>
            <a:endParaRPr lang="en-US" sz="1150" dirty="0"/>
          </a:p>
        </p:txBody>
      </p:sp>
      <p:sp>
        <p:nvSpPr>
          <p:cNvPr id="28" name="Text 19"/>
          <p:cNvSpPr txBox="1"/>
          <p:nvPr/>
        </p:nvSpPr>
        <p:spPr>
          <a:xfrm>
            <a:off x="457200" y="3246120"/>
            <a:ext cx="8229600" cy="320040"/>
          </a:xfrm>
          <a:prstGeom prst="rect">
            <a:avLst/>
          </a:prstGeom>
          <a:noFill/>
          <a:ln/>
        </p:spPr>
        <p:txBody>
          <a:bodyPr wrap="square" lIns="0" tIns="0" rIns="0" bIns="0" rtlCol="0" anchor="t"/>
          <a:lstStyle/>
          <a:p>
            <a:pPr indent="0" marL="0">
              <a:buNone/>
            </a:pPr>
            <a:r>
              <a:rPr lang="en-US" sz="1500" b="1" dirty="0">
                <a:solidFill>
                  <a:srgbClr val="0F1E3D"/>
                </a:solidFill>
                <a:latin typeface="Calibri" pitchFamily="34" charset="0"/>
                <a:ea typeface="Calibri" pitchFamily="34" charset="-122"/>
                <a:cs typeface="Calibri" pitchFamily="34" charset="-120"/>
              </a:rPr>
              <a:t>Apa reaksi kita? Kita boleh pilih…</a:t>
            </a:r>
            <a:endParaRPr lang="en-US" sz="1500" dirty="0"/>
          </a:p>
        </p:txBody>
      </p:sp>
      <p:sp>
        <p:nvSpPr>
          <p:cNvPr id="29" name="Shape 20"/>
          <p:cNvSpPr/>
          <p:nvPr/>
        </p:nvSpPr>
        <p:spPr>
          <a:xfrm>
            <a:off x="457200" y="3657600"/>
            <a:ext cx="3977640" cy="1005840"/>
          </a:xfrm>
          <a:prstGeom prst="roundRect">
            <a:avLst>
              <a:gd name="adj" fmla="val 10909"/>
            </a:avLst>
          </a:prstGeom>
          <a:solidFill>
            <a:srgbClr val="E3F2F2"/>
          </a:solidFill>
          <a:ln w="12700">
            <a:solidFill>
              <a:srgbClr val="E3F2F2"/>
            </a:solidFill>
            <a:prstDash val="solid"/>
          </a:ln>
        </p:spPr>
      </p:sp>
      <p:sp>
        <p:nvSpPr>
          <p:cNvPr id="30" name="Shape 21"/>
          <p:cNvSpPr/>
          <p:nvPr/>
        </p:nvSpPr>
        <p:spPr>
          <a:xfrm>
            <a:off x="640080" y="3840480"/>
            <a:ext cx="640080" cy="640080"/>
          </a:xfrm>
          <a:prstGeom prst="ellipse">
            <a:avLst/>
          </a:prstGeom>
          <a:solidFill>
            <a:srgbClr val="FFFFFF"/>
          </a:solidFill>
          <a:ln w="12700">
            <a:solidFill>
              <a:srgbClr val="FFFFFF"/>
            </a:solidFill>
            <a:prstDash val="solid"/>
          </a:ln>
        </p:spPr>
      </p:sp>
      <p:pic>
        <p:nvPicPr>
          <p:cNvPr id="31" name="Image 7" descr="preencoded.png">    </p:cNvPr>
          <p:cNvPicPr>
            <a:picLocks noChangeAspect="1"/>
          </p:cNvPicPr>
          <p:nvPr/>
        </p:nvPicPr>
        <p:blipFill>
          <a:blip r:embed="rId8"/>
          <a:stretch>
            <a:fillRect/>
          </a:stretch>
        </p:blipFill>
        <p:spPr>
          <a:xfrm>
            <a:off x="806501" y="4006901"/>
            <a:ext cx="307238" cy="307238"/>
          </a:xfrm>
          <a:prstGeom prst="rect">
            <a:avLst/>
          </a:prstGeom>
        </p:spPr>
      </p:pic>
      <p:sp>
        <p:nvSpPr>
          <p:cNvPr id="32" name="Text 22"/>
          <p:cNvSpPr txBox="1"/>
          <p:nvPr/>
        </p:nvSpPr>
        <p:spPr>
          <a:xfrm>
            <a:off x="1463040" y="3657600"/>
            <a:ext cx="2834640" cy="1005840"/>
          </a:xfrm>
          <a:prstGeom prst="rect">
            <a:avLst/>
          </a:prstGeom>
          <a:noFill/>
          <a:ln/>
        </p:spPr>
        <p:txBody>
          <a:bodyPr wrap="square" lIns="0" tIns="0" rIns="0" bIns="0" rtlCol="0" anchor="ctr"/>
          <a:lstStyle/>
          <a:p>
            <a:pPr indent="0" marL="0">
              <a:buNone/>
            </a:pPr>
            <a:r>
              <a:rPr lang="en-US" sz="1800" b="1" dirty="0">
                <a:solidFill>
                  <a:srgbClr val="127C83"/>
                </a:solidFill>
                <a:latin typeface="Calibri" pitchFamily="34" charset="0"/>
                <a:ea typeface="Calibri" pitchFamily="34" charset="-122"/>
                <a:cs typeface="Calibri" pitchFamily="34" charset="-120"/>
              </a:rPr>
              <a:t>Abaikan</a:t>
            </a:r>
            <a:endParaRPr lang="en-US" sz="1800" dirty="0"/>
          </a:p>
          <a:p>
            <a:pPr indent="0" marL="0">
              <a:buNone/>
            </a:pPr>
            <a:r>
              <a:rPr lang="en-US" sz="1250" dirty="0">
                <a:solidFill>
                  <a:srgbClr val="16213A"/>
                </a:solidFill>
                <a:latin typeface="Calibri" pitchFamily="34" charset="0"/>
                <a:ea typeface="Calibri" pitchFamily="34" charset="-122"/>
                <a:cs typeface="Calibri" pitchFamily="34" charset="-120"/>
              </a:rPr>
              <a:t>Pintu kekal tertutup, hati selamat.</a:t>
            </a:r>
            <a:endParaRPr lang="en-US" sz="1800" dirty="0"/>
          </a:p>
        </p:txBody>
      </p:sp>
      <p:sp>
        <p:nvSpPr>
          <p:cNvPr id="33" name="Shape 23"/>
          <p:cNvSpPr/>
          <p:nvPr/>
        </p:nvSpPr>
        <p:spPr>
          <a:xfrm>
            <a:off x="4709160" y="3657600"/>
            <a:ext cx="3977640" cy="1005840"/>
          </a:xfrm>
          <a:prstGeom prst="roundRect">
            <a:avLst>
              <a:gd name="adj" fmla="val 10909"/>
            </a:avLst>
          </a:prstGeom>
          <a:solidFill>
            <a:srgbClr val="FBE9E6"/>
          </a:solidFill>
          <a:ln w="12700">
            <a:solidFill>
              <a:srgbClr val="FBE9E6"/>
            </a:solidFill>
            <a:prstDash val="solid"/>
          </a:ln>
        </p:spPr>
      </p:sp>
      <p:sp>
        <p:nvSpPr>
          <p:cNvPr id="34" name="Shape 24"/>
          <p:cNvSpPr/>
          <p:nvPr/>
        </p:nvSpPr>
        <p:spPr>
          <a:xfrm>
            <a:off x="4892040" y="3840480"/>
            <a:ext cx="640080" cy="640080"/>
          </a:xfrm>
          <a:prstGeom prst="ellipse">
            <a:avLst/>
          </a:prstGeom>
          <a:solidFill>
            <a:srgbClr val="FFFFFF"/>
          </a:solidFill>
          <a:ln w="12700">
            <a:solidFill>
              <a:srgbClr val="FFFFFF"/>
            </a:solidFill>
            <a:prstDash val="solid"/>
          </a:ln>
        </p:spPr>
      </p:sp>
      <p:pic>
        <p:nvPicPr>
          <p:cNvPr id="35" name="Image 8" descr="preencoded.png">    </p:cNvPr>
          <p:cNvPicPr>
            <a:picLocks noChangeAspect="1"/>
          </p:cNvPicPr>
          <p:nvPr/>
        </p:nvPicPr>
        <p:blipFill>
          <a:blip r:embed="rId9"/>
          <a:stretch>
            <a:fillRect/>
          </a:stretch>
        </p:blipFill>
        <p:spPr>
          <a:xfrm>
            <a:off x="5058461" y="4006901"/>
            <a:ext cx="307238" cy="307238"/>
          </a:xfrm>
          <a:prstGeom prst="rect">
            <a:avLst/>
          </a:prstGeom>
        </p:spPr>
      </p:pic>
      <p:sp>
        <p:nvSpPr>
          <p:cNvPr id="36" name="Text 25"/>
          <p:cNvSpPr txBox="1"/>
          <p:nvPr/>
        </p:nvSpPr>
        <p:spPr>
          <a:xfrm>
            <a:off x="5715000" y="3657600"/>
            <a:ext cx="2834640" cy="1005840"/>
          </a:xfrm>
          <a:prstGeom prst="rect">
            <a:avLst/>
          </a:prstGeom>
          <a:noFill/>
          <a:ln/>
        </p:spPr>
        <p:txBody>
          <a:bodyPr wrap="square" lIns="0" tIns="0" rIns="0" bIns="0" rtlCol="0" anchor="ctr"/>
          <a:lstStyle/>
          <a:p>
            <a:pPr indent="0" marL="0">
              <a:buNone/>
            </a:pPr>
            <a:r>
              <a:rPr lang="en-US" sz="1800" b="1" dirty="0">
                <a:solidFill>
                  <a:srgbClr val="C4473A"/>
                </a:solidFill>
                <a:latin typeface="Calibri" pitchFamily="34" charset="0"/>
                <a:ea typeface="Calibri" pitchFamily="34" charset="-122"/>
                <a:cs typeface="Calibri" pitchFamily="34" charset="-120"/>
              </a:rPr>
              <a:t>Buka pintu</a:t>
            </a:r>
            <a:endParaRPr lang="en-US" sz="1800" dirty="0"/>
          </a:p>
          <a:p>
            <a:pPr indent="0" marL="0">
              <a:buNone/>
            </a:pPr>
            <a:r>
              <a:rPr lang="en-US" sz="1250" dirty="0">
                <a:solidFill>
                  <a:srgbClr val="16213A"/>
                </a:solidFill>
                <a:latin typeface="Calibri" pitchFamily="34" charset="0"/>
                <a:ea typeface="Calibri" pitchFamily="34" charset="-122"/>
                <a:cs typeface="Calibri" pitchFamily="34" charset="-120"/>
              </a:rPr>
              <a:t>Syaitan mula masuk ke dalam hati.</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0F1E3D"/>
          </a:solidFill>
          <a:ln w="12700">
            <a:solidFill>
              <a:srgbClr val="0F1E3D"/>
            </a:solidFill>
            <a:prstDash val="solid"/>
          </a:ln>
        </p:spPr>
      </p:sp>
      <p:pic>
        <p:nvPicPr>
          <p:cNvPr id="3" name="Image 0" descr="/tmp/claude-0/-home-user-Shukery-Azizan/b66663cb-20be-5bd3-935d-65edbae5e3fd/scratchpad/build/assets/pattern_panel.png">    </p:cNvPr>
          <p:cNvPicPr>
            <a:picLocks noChangeAspect="1"/>
          </p:cNvPicPr>
          <p:nvPr/>
        </p:nvPicPr>
        <p:blipFill>
          <a:blip r:embed="rId1"/>
          <a:stretch>
            <a:fillRect/>
          </a:stretch>
        </p:blipFill>
        <p:spPr>
          <a:xfrm>
            <a:off x="0" y="0"/>
            <a:ext cx="3200400" cy="5143500"/>
          </a:xfrm>
          <a:prstGeom prst="rect">
            <a:avLst/>
          </a:prstGeom>
        </p:spPr>
      </p:pic>
      <p:sp>
        <p:nvSpPr>
          <p:cNvPr id="4" name="Shape 1"/>
          <p:cNvSpPr/>
          <p:nvPr/>
        </p:nvSpPr>
        <p:spPr>
          <a:xfrm>
            <a:off x="457200" y="822960"/>
            <a:ext cx="1005840" cy="1005840"/>
          </a:xfrm>
          <a:prstGeom prst="ellipse">
            <a:avLst/>
          </a:prstGeom>
          <a:solidFill>
            <a:srgbClr val="C4473A"/>
          </a:solidFill>
          <a:ln w="12700">
            <a:solidFill>
              <a:srgbClr val="C4473A"/>
            </a:solidFill>
            <a:prstDash val="solid"/>
          </a:ln>
        </p:spPr>
      </p:sp>
      <p:pic>
        <p:nvPicPr>
          <p:cNvPr id="5" name="Image 1" descr="preencoded.png">    </p:cNvPr>
          <p:cNvPicPr>
            <a:picLocks noChangeAspect="1"/>
          </p:cNvPicPr>
          <p:nvPr/>
        </p:nvPicPr>
        <p:blipFill>
          <a:blip r:embed="rId2"/>
          <a:stretch>
            <a:fillRect/>
          </a:stretch>
        </p:blipFill>
        <p:spPr>
          <a:xfrm>
            <a:off x="718718" y="1084478"/>
            <a:ext cx="482803" cy="482803"/>
          </a:xfrm>
          <a:prstGeom prst="rect">
            <a:avLst/>
          </a:prstGeom>
        </p:spPr>
      </p:pic>
      <p:sp>
        <p:nvSpPr>
          <p:cNvPr id="6" name="Text 2"/>
          <p:cNvSpPr txBox="1"/>
          <p:nvPr/>
        </p:nvSpPr>
        <p:spPr>
          <a:xfrm>
            <a:off x="457200" y="2057400"/>
            <a:ext cx="2468880" cy="128016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Apabila buka pintu…</a:t>
            </a:r>
            <a:endParaRPr lang="en-US" sz="3000" dirty="0"/>
          </a:p>
        </p:txBody>
      </p:sp>
      <p:sp>
        <p:nvSpPr>
          <p:cNvPr id="7" name="Text 3"/>
          <p:cNvSpPr txBox="1"/>
          <p:nvPr/>
        </p:nvSpPr>
        <p:spPr>
          <a:xfrm>
            <a:off x="3611880" y="502920"/>
            <a:ext cx="548640" cy="822960"/>
          </a:xfrm>
          <a:prstGeom prst="rect">
            <a:avLst/>
          </a:prstGeom>
          <a:noFill/>
          <a:ln/>
        </p:spPr>
        <p:txBody>
          <a:bodyPr wrap="square" lIns="0" tIns="0" rIns="0" bIns="0" rtlCol="0" anchor="ctr"/>
          <a:lstStyle/>
          <a:p>
            <a:pPr indent="0" marL="0">
              <a:buNone/>
            </a:pPr>
            <a:r>
              <a:rPr lang="en-US" sz="3400" b="1" dirty="0">
                <a:solidFill>
                  <a:srgbClr val="D9A93A"/>
                </a:solidFill>
                <a:latin typeface="Calibri" pitchFamily="34" charset="0"/>
                <a:ea typeface="Calibri" pitchFamily="34" charset="-122"/>
                <a:cs typeface="Calibri" pitchFamily="34" charset="-120"/>
              </a:rPr>
              <a:t>1</a:t>
            </a:r>
            <a:endParaRPr lang="en-US" sz="3400" dirty="0"/>
          </a:p>
        </p:txBody>
      </p:sp>
      <p:sp>
        <p:nvSpPr>
          <p:cNvPr id="8" name="Text 4"/>
          <p:cNvSpPr txBox="1"/>
          <p:nvPr/>
        </p:nvSpPr>
        <p:spPr>
          <a:xfrm>
            <a:off x="4206240" y="502920"/>
            <a:ext cx="4480560" cy="822960"/>
          </a:xfrm>
          <a:prstGeom prst="rect">
            <a:avLst/>
          </a:prstGeom>
          <a:noFill/>
          <a:ln/>
        </p:spPr>
        <p:txBody>
          <a:bodyPr wrap="square" lIns="0" tIns="0" rIns="0" bIns="0" rtlCol="0" anchor="ctr"/>
          <a:lstStyle/>
          <a:p>
            <a:pPr indent="0" marL="0">
              <a:buNone/>
            </a:pPr>
            <a:r>
              <a:rPr lang="en-US" sz="1700" b="1" dirty="0">
                <a:solidFill>
                  <a:srgbClr val="0F1E3D"/>
                </a:solidFill>
                <a:latin typeface="Calibri" pitchFamily="34" charset="0"/>
                <a:ea typeface="Calibri" pitchFamily="34" charset="-122"/>
                <a:cs typeface="Calibri" pitchFamily="34" charset="-120"/>
              </a:rPr>
              <a:t>Syaitan mula masuk</a:t>
            </a:r>
            <a:endParaRPr lang="en-US" sz="1700" dirty="0"/>
          </a:p>
          <a:p>
            <a:pPr indent="0" marL="0">
              <a:buNone/>
            </a:pPr>
            <a:r>
              <a:rPr lang="en-US" sz="1350" dirty="0">
                <a:solidFill>
                  <a:srgbClr val="5A6880"/>
                </a:solidFill>
                <a:latin typeface="Calibri" pitchFamily="34" charset="0"/>
                <a:ea typeface="Calibri" pitchFamily="34" charset="-122"/>
                <a:cs typeface="Calibri" pitchFamily="34" charset="-120"/>
              </a:rPr>
              <a:t>dan mengubah apa yang ada di dalam rumah (hati) itu.</a:t>
            </a:r>
            <a:endParaRPr lang="en-US" sz="1700" dirty="0"/>
          </a:p>
        </p:txBody>
      </p:sp>
      <p:sp>
        <p:nvSpPr>
          <p:cNvPr id="9" name="Text 5"/>
          <p:cNvSpPr txBox="1"/>
          <p:nvPr/>
        </p:nvSpPr>
        <p:spPr>
          <a:xfrm>
            <a:off x="3611880" y="1527048"/>
            <a:ext cx="548640" cy="822960"/>
          </a:xfrm>
          <a:prstGeom prst="rect">
            <a:avLst/>
          </a:prstGeom>
          <a:noFill/>
          <a:ln/>
        </p:spPr>
        <p:txBody>
          <a:bodyPr wrap="square" lIns="0" tIns="0" rIns="0" bIns="0" rtlCol="0" anchor="ctr"/>
          <a:lstStyle/>
          <a:p>
            <a:pPr indent="0" marL="0">
              <a:buNone/>
            </a:pPr>
            <a:r>
              <a:rPr lang="en-US" sz="3400" b="1" dirty="0">
                <a:solidFill>
                  <a:srgbClr val="D9A93A"/>
                </a:solidFill>
                <a:latin typeface="Calibri" pitchFamily="34" charset="0"/>
                <a:ea typeface="Calibri" pitchFamily="34" charset="-122"/>
                <a:cs typeface="Calibri" pitchFamily="34" charset="-120"/>
              </a:rPr>
              <a:t>2</a:t>
            </a:r>
            <a:endParaRPr lang="en-US" sz="3400" dirty="0"/>
          </a:p>
        </p:txBody>
      </p:sp>
      <p:sp>
        <p:nvSpPr>
          <p:cNvPr id="10" name="Text 6"/>
          <p:cNvSpPr txBox="1"/>
          <p:nvPr/>
        </p:nvSpPr>
        <p:spPr>
          <a:xfrm>
            <a:off x="4206240" y="1527048"/>
            <a:ext cx="4480560" cy="822960"/>
          </a:xfrm>
          <a:prstGeom prst="rect">
            <a:avLst/>
          </a:prstGeom>
          <a:noFill/>
          <a:ln/>
        </p:spPr>
        <p:txBody>
          <a:bodyPr wrap="square" lIns="0" tIns="0" rIns="0" bIns="0" rtlCol="0" anchor="ctr"/>
          <a:lstStyle/>
          <a:p>
            <a:pPr indent="0" marL="0">
              <a:buNone/>
            </a:pPr>
            <a:r>
              <a:rPr lang="en-US" sz="1700" b="1" dirty="0">
                <a:solidFill>
                  <a:srgbClr val="0F1E3D"/>
                </a:solidFill>
                <a:latin typeface="Calibri" pitchFamily="34" charset="0"/>
                <a:ea typeface="Calibri" pitchFamily="34" charset="-122"/>
                <a:cs typeface="Calibri" pitchFamily="34" charset="-120"/>
              </a:rPr>
              <a:t>Pandangan jadi terbalik</a:t>
            </a:r>
            <a:endParaRPr lang="en-US" sz="1700" dirty="0"/>
          </a:p>
          <a:p>
            <a:pPr indent="0" marL="0">
              <a:buNone/>
            </a:pPr>
            <a:r>
              <a:rPr lang="en-US" sz="1350" dirty="0">
                <a:solidFill>
                  <a:srgbClr val="5A6880"/>
                </a:solidFill>
                <a:latin typeface="Calibri" pitchFamily="34" charset="0"/>
                <a:ea typeface="Calibri" pitchFamily="34" charset="-122"/>
                <a:cs typeface="Calibri" pitchFamily="34" charset="-120"/>
              </a:rPr>
              <a:t>yang buruk nampak cantik, yang cantik nampak buruk.</a:t>
            </a:r>
            <a:endParaRPr lang="en-US" sz="1700" dirty="0"/>
          </a:p>
        </p:txBody>
      </p:sp>
      <p:sp>
        <p:nvSpPr>
          <p:cNvPr id="11" name="Text 7"/>
          <p:cNvSpPr txBox="1"/>
          <p:nvPr/>
        </p:nvSpPr>
        <p:spPr>
          <a:xfrm>
            <a:off x="3611880" y="2551176"/>
            <a:ext cx="548640" cy="822960"/>
          </a:xfrm>
          <a:prstGeom prst="rect">
            <a:avLst/>
          </a:prstGeom>
          <a:noFill/>
          <a:ln/>
        </p:spPr>
        <p:txBody>
          <a:bodyPr wrap="square" lIns="0" tIns="0" rIns="0" bIns="0" rtlCol="0" anchor="ctr"/>
          <a:lstStyle/>
          <a:p>
            <a:pPr indent="0" marL="0">
              <a:buNone/>
            </a:pPr>
            <a:r>
              <a:rPr lang="en-US" sz="3400" b="1" dirty="0">
                <a:solidFill>
                  <a:srgbClr val="D9A93A"/>
                </a:solidFill>
                <a:latin typeface="Calibri" pitchFamily="34" charset="0"/>
                <a:ea typeface="Calibri" pitchFamily="34" charset="-122"/>
                <a:cs typeface="Calibri" pitchFamily="34" charset="-120"/>
              </a:rPr>
              <a:t>3</a:t>
            </a:r>
            <a:endParaRPr lang="en-US" sz="3400" dirty="0"/>
          </a:p>
        </p:txBody>
      </p:sp>
      <p:sp>
        <p:nvSpPr>
          <p:cNvPr id="12" name="Text 8"/>
          <p:cNvSpPr txBox="1"/>
          <p:nvPr/>
        </p:nvSpPr>
        <p:spPr>
          <a:xfrm>
            <a:off x="4206240" y="2551176"/>
            <a:ext cx="4480560" cy="822960"/>
          </a:xfrm>
          <a:prstGeom prst="rect">
            <a:avLst/>
          </a:prstGeom>
          <a:noFill/>
          <a:ln/>
        </p:spPr>
        <p:txBody>
          <a:bodyPr wrap="square" lIns="0" tIns="0" rIns="0" bIns="0" rtlCol="0" anchor="ctr"/>
          <a:lstStyle/>
          <a:p>
            <a:pPr indent="0" marL="0">
              <a:buNone/>
            </a:pPr>
            <a:r>
              <a:rPr lang="en-US" sz="1700" b="1" dirty="0">
                <a:solidFill>
                  <a:srgbClr val="0F1E3D"/>
                </a:solidFill>
                <a:latin typeface="Calibri" pitchFamily="34" charset="0"/>
                <a:ea typeface="Calibri" pitchFamily="34" charset="-122"/>
                <a:cs typeface="Calibri" pitchFamily="34" charset="-120"/>
              </a:rPr>
              <a:t>Hati mula berpenyakit</a:t>
            </a:r>
            <a:endParaRPr lang="en-US" sz="1700" dirty="0"/>
          </a:p>
          <a:p>
            <a:pPr indent="0" marL="0">
              <a:buNone/>
            </a:pPr>
            <a:r>
              <a:rPr lang="en-US" sz="1350" dirty="0">
                <a:solidFill>
                  <a:srgbClr val="5A6880"/>
                </a:solidFill>
                <a:latin typeface="Calibri" pitchFamily="34" charset="0"/>
                <a:ea typeface="Calibri" pitchFamily="34" charset="-122"/>
                <a:cs typeface="Calibri" pitchFamily="34" charset="-120"/>
              </a:rPr>
              <a:t>semuanya disebabkan syaitan (al-Baqarah : 10).</a:t>
            </a:r>
            <a:endParaRPr lang="en-US" sz="1700" dirty="0"/>
          </a:p>
        </p:txBody>
      </p:sp>
      <p:sp>
        <p:nvSpPr>
          <p:cNvPr id="13" name="Shape 9"/>
          <p:cNvSpPr/>
          <p:nvPr/>
        </p:nvSpPr>
        <p:spPr>
          <a:xfrm>
            <a:off x="3611880" y="3703320"/>
            <a:ext cx="5074920" cy="914400"/>
          </a:xfrm>
          <a:prstGeom prst="roundRect">
            <a:avLst>
              <a:gd name="adj" fmla="val 12000"/>
            </a:avLst>
          </a:prstGeom>
          <a:solidFill>
            <a:srgbClr val="FBF3DF"/>
          </a:solidFill>
          <a:ln w="12700">
            <a:solidFill>
              <a:srgbClr val="FBF3DF"/>
            </a:solidFill>
            <a:prstDash val="solid"/>
          </a:ln>
        </p:spPr>
      </p:sp>
      <p:sp>
        <p:nvSpPr>
          <p:cNvPr id="14" name="Text 10"/>
          <p:cNvSpPr txBox="1"/>
          <p:nvPr/>
        </p:nvSpPr>
        <p:spPr>
          <a:xfrm>
            <a:off x="3840480" y="3703320"/>
            <a:ext cx="4663440" cy="914400"/>
          </a:xfrm>
          <a:prstGeom prst="rect">
            <a:avLst/>
          </a:prstGeom>
          <a:noFill/>
          <a:ln/>
        </p:spPr>
        <p:txBody>
          <a:bodyPr wrap="square" lIns="0" tIns="0" rIns="0" bIns="0" rtlCol="0" anchor="ctr"/>
          <a:lstStyle/>
          <a:p>
            <a:pPr indent="0" marL="0">
              <a:buNone/>
            </a:pPr>
            <a:r>
              <a:rPr lang="en-US" sz="2000" b="1" dirty="0">
                <a:solidFill>
                  <a:srgbClr val="0F1E3D"/>
                </a:solidFill>
                <a:latin typeface="Calibri" pitchFamily="34" charset="0"/>
                <a:ea typeface="Calibri" pitchFamily="34" charset="-122"/>
                <a:cs typeface="Calibri" pitchFamily="34" charset="-120"/>
              </a:rPr>
              <a:t>Berpunca daripada siapa?  </a:t>
            </a:r>
            <a:pPr indent="0" marL="0">
              <a:buNone/>
            </a:pPr>
            <a:r>
              <a:rPr lang="en-US" sz="2000" b="1" dirty="0">
                <a:solidFill>
                  <a:srgbClr val="9A6B0F"/>
                </a:solidFill>
                <a:latin typeface="Calibri" pitchFamily="34" charset="0"/>
                <a:ea typeface="Calibri" pitchFamily="34" charset="-122"/>
                <a:cs typeface="Calibri" pitchFamily="34" charset="-120"/>
              </a:rPr>
              <a:t>Kita sendiri.</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4572000" cy="256032"/>
          </a:xfrm>
          <a:prstGeom prst="rect">
            <a:avLst/>
          </a:prstGeom>
          <a:noFill/>
          <a:ln/>
        </p:spPr>
        <p:txBody>
          <a:bodyPr wrap="square" lIns="0" tIns="0" rIns="0" bIns="0" rtlCol="0" anchor="t"/>
          <a:lstStyle/>
          <a:p>
            <a:pPr indent="0" marL="0">
              <a:buNone/>
            </a:pPr>
            <a:r>
              <a:rPr lang="en-US" sz="1100" b="1" spc="200" kern="0" dirty="0">
                <a:solidFill>
                  <a:srgbClr val="9A6B0F"/>
                </a:solidFill>
                <a:latin typeface="Calibri" pitchFamily="34" charset="0"/>
                <a:ea typeface="Calibri" pitchFamily="34" charset="-122"/>
                <a:cs typeface="Calibri" pitchFamily="34" charset="-120"/>
              </a:rPr>
              <a:t>DALIL</a:t>
            </a:r>
            <a:endParaRPr lang="en-US" sz="1100" dirty="0"/>
          </a:p>
        </p:txBody>
      </p:sp>
      <p:sp>
        <p:nvSpPr>
          <p:cNvPr id="3" name="Text 1"/>
          <p:cNvSpPr txBox="1"/>
          <p:nvPr/>
        </p:nvSpPr>
        <p:spPr>
          <a:xfrm>
            <a:off x="457200" y="603504"/>
            <a:ext cx="8229600" cy="566928"/>
          </a:xfrm>
          <a:prstGeom prst="rect">
            <a:avLst/>
          </a:prstGeom>
          <a:noFill/>
          <a:ln/>
        </p:spPr>
        <p:txBody>
          <a:bodyPr wrap="square" lIns="0" tIns="0" rIns="0" bIns="0" rtlCol="0" anchor="ctr"/>
          <a:lstStyle/>
          <a:p>
            <a:pPr indent="0" marL="0">
              <a:buNone/>
            </a:pPr>
            <a:r>
              <a:rPr lang="en-US" sz="2600" b="1" dirty="0">
                <a:solidFill>
                  <a:srgbClr val="0F1E3D"/>
                </a:solidFill>
                <a:latin typeface="Calibri" pitchFamily="34" charset="0"/>
                <a:ea typeface="Calibri" pitchFamily="34" charset="-122"/>
                <a:cs typeface="Calibri" pitchFamily="34" charset="-120"/>
              </a:rPr>
              <a:t>Syaitan memperelokkan amalan buruk</a:t>
            </a:r>
            <a:endParaRPr lang="en-US" sz="2600" dirty="0"/>
          </a:p>
        </p:txBody>
      </p:sp>
      <p:sp>
        <p:nvSpPr>
          <p:cNvPr id="4" name="Shape 2"/>
          <p:cNvSpPr/>
          <p:nvPr/>
        </p:nvSpPr>
        <p:spPr>
          <a:xfrm>
            <a:off x="457200" y="1325880"/>
            <a:ext cx="5394960" cy="3337560"/>
          </a:xfrm>
          <a:prstGeom prst="roundRect">
            <a:avLst>
              <a:gd name="adj" fmla="val 3288"/>
            </a:avLst>
          </a:prstGeom>
          <a:solidFill>
            <a:srgbClr val="FFFFFF"/>
          </a:solidFill>
          <a:ln w="9525">
            <a:solidFill>
              <a:srgbClr val="DCE3EC"/>
            </a:solidFill>
            <a:prstDash val="solid"/>
          </a:ln>
          <a:effectLst>
            <a:outerShdw sx="100000" sy="100000" kx="0" ky="0" algn="bl" rotWithShape="0" blurRad="101600" dist="25400" dir="5400000">
              <a:srgbClr val="0F1E3D">
                <a:alpha val="12000"/>
              </a:srgbClr>
            </a:outerShdw>
          </a:effectLst>
        </p:spPr>
      </p:sp>
      <p:pic>
        <p:nvPicPr>
          <p:cNvPr id="5" name="Image 0" descr="/tmp/claude-0/-home-user-Shukery-Azizan/b66663cb-20be-5bd3-935d-65edbae5e3fd/scratchpad/build/assets/a_29_38.png">    </p:cNvPr>
          <p:cNvPicPr>
            <a:picLocks noChangeAspect="1"/>
          </p:cNvPicPr>
          <p:nvPr/>
        </p:nvPicPr>
        <p:blipFill>
          <a:blip r:embed="rId1"/>
          <a:stretch>
            <a:fillRect/>
          </a:stretch>
        </p:blipFill>
        <p:spPr>
          <a:xfrm>
            <a:off x="685800" y="1640525"/>
            <a:ext cx="4937760" cy="1062350"/>
          </a:xfrm>
          <a:prstGeom prst="rect">
            <a:avLst/>
          </a:prstGeom>
        </p:spPr>
      </p:pic>
      <p:sp>
        <p:nvSpPr>
          <p:cNvPr id="6" name="Text 3"/>
          <p:cNvSpPr txBox="1"/>
          <p:nvPr/>
        </p:nvSpPr>
        <p:spPr>
          <a:xfrm>
            <a:off x="685800" y="2812603"/>
            <a:ext cx="4937760" cy="1393637"/>
          </a:xfrm>
          <a:prstGeom prst="rect">
            <a:avLst/>
          </a:prstGeom>
          <a:noFill/>
          <a:ln/>
        </p:spPr>
        <p:txBody>
          <a:bodyPr wrap="square" lIns="0" tIns="0" rIns="0" bIns="0" rtlCol="0" anchor="t"/>
          <a:lstStyle/>
          <a:p>
            <a:pPr indent="0" marL="0">
              <a:spcAft>
                <a:spcPts val="400"/>
              </a:spcAft>
              <a:buNone/>
            </a:pPr>
            <a:r>
              <a:rPr lang="en-US" sz="1450" dirty="0">
                <a:solidFill>
                  <a:srgbClr val="16213A"/>
                </a:solidFill>
                <a:latin typeface="Calibri" pitchFamily="34" charset="0"/>
                <a:ea typeface="Calibri" pitchFamily="34" charset="-122"/>
                <a:cs typeface="Calibri" pitchFamily="34" charset="-120"/>
              </a:rPr>
              <a:t>…dan (kebinasaan mereka ialah disebabkan) </a:t>
            </a:r>
            <a:pPr indent="0" marL="0">
              <a:spcAft>
                <a:spcPts val="400"/>
              </a:spcAft>
              <a:buNone/>
            </a:pPr>
            <a:r>
              <a:rPr lang="en-US" sz="1450" b="1" dirty="0">
                <a:solidFill>
                  <a:srgbClr val="0F1E3D"/>
                </a:solidFill>
                <a:latin typeface="Calibri" pitchFamily="34" charset="0"/>
                <a:ea typeface="Calibri" pitchFamily="34" charset="-122"/>
                <a:cs typeface="Calibri" pitchFamily="34" charset="-120"/>
              </a:rPr>
              <a:t>Syaitan memperelokkan pada pandangan mereka amal-amal mereka (yang jahat itu), lalu ia menghalangi mereka dari jalan Allah</a:t>
            </a:r>
            <a:pPr indent="0" marL="0">
              <a:spcAft>
                <a:spcPts val="400"/>
              </a:spcAft>
              <a:buNone/>
            </a:pPr>
            <a:r>
              <a:rPr lang="en-US" sz="1450" dirty="0">
                <a:solidFill>
                  <a:srgbClr val="16213A"/>
                </a:solidFill>
                <a:latin typeface="Calibri" pitchFamily="34" charset="0"/>
                <a:ea typeface="Calibri" pitchFamily="34" charset="-122"/>
                <a:cs typeface="Calibri" pitchFamily="34" charset="-120"/>
              </a:rPr>
              <a:t>; padahal mereka orang-orang yang bijak pandai dan berakal.</a:t>
            </a:r>
            <a:endParaRPr lang="en-US" sz="1450" dirty="0"/>
          </a:p>
        </p:txBody>
      </p:sp>
      <p:sp>
        <p:nvSpPr>
          <p:cNvPr id="7" name="Text 4"/>
          <p:cNvSpPr txBox="1"/>
          <p:nvPr/>
        </p:nvSpPr>
        <p:spPr>
          <a:xfrm>
            <a:off x="685800" y="4279392"/>
            <a:ext cx="4937760" cy="237744"/>
          </a:xfrm>
          <a:prstGeom prst="rect">
            <a:avLst/>
          </a:prstGeom>
          <a:noFill/>
          <a:ln/>
        </p:spPr>
        <p:txBody>
          <a:bodyPr wrap="square" lIns="0" tIns="0" rIns="0" bIns="0" rtlCol="0" anchor="t"/>
          <a:lstStyle/>
          <a:p>
            <a:pPr algn="r" indent="0" marL="0">
              <a:buNone/>
            </a:pPr>
            <a:r>
              <a:rPr lang="en-US" sz="1150" b="1" dirty="0">
                <a:solidFill>
                  <a:srgbClr val="9A6B0F"/>
                </a:solidFill>
                <a:latin typeface="Calibri" pitchFamily="34" charset="0"/>
                <a:ea typeface="Calibri" pitchFamily="34" charset="-122"/>
                <a:cs typeface="Calibri" pitchFamily="34" charset="-120"/>
              </a:rPr>
              <a:t>Surah al-'Ankabut : 38</a:t>
            </a:r>
            <a:endParaRPr lang="en-US" sz="1150" dirty="0"/>
          </a:p>
        </p:txBody>
      </p:sp>
      <p:sp>
        <p:nvSpPr>
          <p:cNvPr id="8" name="Shape 5"/>
          <p:cNvSpPr/>
          <p:nvPr/>
        </p:nvSpPr>
        <p:spPr>
          <a:xfrm>
            <a:off x="6080760" y="1325880"/>
            <a:ext cx="2606040" cy="3337560"/>
          </a:xfrm>
          <a:prstGeom prst="roundRect">
            <a:avLst>
              <a:gd name="adj" fmla="val 4211"/>
            </a:avLst>
          </a:prstGeom>
          <a:solidFill>
            <a:srgbClr val="FFFFFF"/>
          </a:solidFill>
          <a:ln w="9525">
            <a:solidFill>
              <a:srgbClr val="DCE3EC"/>
            </a:solidFill>
            <a:prstDash val="solid"/>
          </a:ln>
          <a:effectLst>
            <a:outerShdw sx="100000" sy="100000" kx="0" ky="0" algn="bl" rotWithShape="0" blurRad="101600" dist="25400" dir="5400000">
              <a:srgbClr val="0F1E3D">
                <a:alpha val="12000"/>
              </a:srgbClr>
            </a:outerShdw>
          </a:effectLst>
        </p:spPr>
      </p:sp>
      <p:pic>
        <p:nvPicPr>
          <p:cNvPr id="9" name="Image 1" descr="/tmp/claude-0/-home-user-Shukery-Azizan/b66663cb-20be-5bd3-935d-65edbae5e3fd/scratchpad/build/assets/a_2_10.png">    </p:cNvPr>
          <p:cNvPicPr>
            <a:picLocks noChangeAspect="1"/>
          </p:cNvPicPr>
          <p:nvPr/>
        </p:nvPicPr>
        <p:blipFill>
          <a:blip r:embed="rId2"/>
          <a:stretch>
            <a:fillRect/>
          </a:stretch>
        </p:blipFill>
        <p:spPr>
          <a:xfrm>
            <a:off x="6309360" y="1568036"/>
            <a:ext cx="2148840" cy="750129"/>
          </a:xfrm>
          <a:prstGeom prst="rect">
            <a:avLst/>
          </a:prstGeom>
        </p:spPr>
      </p:pic>
      <p:sp>
        <p:nvSpPr>
          <p:cNvPr id="10" name="Text 6"/>
          <p:cNvSpPr txBox="1"/>
          <p:nvPr/>
        </p:nvSpPr>
        <p:spPr>
          <a:xfrm>
            <a:off x="6309360" y="2427892"/>
            <a:ext cx="2148840" cy="1778348"/>
          </a:xfrm>
          <a:prstGeom prst="rect">
            <a:avLst/>
          </a:prstGeom>
          <a:noFill/>
          <a:ln/>
        </p:spPr>
        <p:txBody>
          <a:bodyPr wrap="square" lIns="0" tIns="0" rIns="0" bIns="0" rtlCol="0" anchor="t"/>
          <a:lstStyle/>
          <a:p>
            <a:pPr indent="0" marL="0">
              <a:spcAft>
                <a:spcPts val="400"/>
              </a:spcAft>
              <a:buNone/>
            </a:pPr>
            <a:r>
              <a:rPr lang="en-US" sz="1700" dirty="0">
                <a:solidFill>
                  <a:srgbClr val="16213A"/>
                </a:solidFill>
                <a:latin typeface="Calibri" pitchFamily="34" charset="0"/>
                <a:ea typeface="Calibri" pitchFamily="34" charset="-122"/>
                <a:cs typeface="Calibri" pitchFamily="34" charset="-120"/>
              </a:rPr>
              <a:t>"Dalam hati mereka ada penyakit…"</a:t>
            </a:r>
            <a:endParaRPr lang="en-US" sz="1700" dirty="0"/>
          </a:p>
        </p:txBody>
      </p:sp>
      <p:sp>
        <p:nvSpPr>
          <p:cNvPr id="11" name="Text 7"/>
          <p:cNvSpPr txBox="1"/>
          <p:nvPr/>
        </p:nvSpPr>
        <p:spPr>
          <a:xfrm>
            <a:off x="6309360" y="4279392"/>
            <a:ext cx="2148840" cy="237744"/>
          </a:xfrm>
          <a:prstGeom prst="rect">
            <a:avLst/>
          </a:prstGeom>
          <a:noFill/>
          <a:ln/>
        </p:spPr>
        <p:txBody>
          <a:bodyPr wrap="square" lIns="0" tIns="0" rIns="0" bIns="0" rtlCol="0" anchor="t"/>
          <a:lstStyle/>
          <a:p>
            <a:pPr algn="r" indent="0" marL="0">
              <a:buNone/>
            </a:pPr>
            <a:r>
              <a:rPr lang="en-US" sz="1150" b="1" dirty="0">
                <a:solidFill>
                  <a:srgbClr val="9A6B0F"/>
                </a:solidFill>
                <a:latin typeface="Calibri" pitchFamily="34" charset="0"/>
                <a:ea typeface="Calibri" pitchFamily="34" charset="-122"/>
                <a:cs typeface="Calibri" pitchFamily="34" charset="-120"/>
              </a:rPr>
              <a:t>Surah al-Baqarah : 10</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4572000" cy="256032"/>
          </a:xfrm>
          <a:prstGeom prst="rect">
            <a:avLst/>
          </a:prstGeom>
          <a:noFill/>
          <a:ln/>
        </p:spPr>
        <p:txBody>
          <a:bodyPr wrap="square" lIns="0" tIns="0" rIns="0" bIns="0" rtlCol="0" anchor="t"/>
          <a:lstStyle/>
          <a:p>
            <a:pPr indent="0" marL="0">
              <a:buNone/>
            </a:pPr>
            <a:r>
              <a:rPr lang="en-US" sz="1100" b="1" spc="200" kern="0" dirty="0">
                <a:solidFill>
                  <a:srgbClr val="9A6B0F"/>
                </a:solidFill>
                <a:latin typeface="Calibri" pitchFamily="34" charset="0"/>
                <a:ea typeface="Calibri" pitchFamily="34" charset="-122"/>
                <a:cs typeface="Calibri" pitchFamily="34" charset="-120"/>
              </a:rPr>
              <a:t>REALITI HARI INI</a:t>
            </a:r>
            <a:endParaRPr lang="en-US" sz="1100" dirty="0"/>
          </a:p>
        </p:txBody>
      </p:sp>
      <p:sp>
        <p:nvSpPr>
          <p:cNvPr id="3" name="Text 1"/>
          <p:cNvSpPr txBox="1"/>
          <p:nvPr/>
        </p:nvSpPr>
        <p:spPr>
          <a:xfrm>
            <a:off x="457200" y="603504"/>
            <a:ext cx="8229600" cy="566928"/>
          </a:xfrm>
          <a:prstGeom prst="rect">
            <a:avLst/>
          </a:prstGeom>
          <a:noFill/>
          <a:ln/>
        </p:spPr>
        <p:txBody>
          <a:bodyPr wrap="square" lIns="0" tIns="0" rIns="0" bIns="0" rtlCol="0" anchor="ctr"/>
          <a:lstStyle/>
          <a:p>
            <a:pPr indent="0" marL="0">
              <a:buNone/>
            </a:pPr>
            <a:r>
              <a:rPr lang="en-US" sz="2600" b="1" dirty="0">
                <a:solidFill>
                  <a:srgbClr val="0F1E3D"/>
                </a:solidFill>
                <a:latin typeface="Calibri" pitchFamily="34" charset="0"/>
                <a:ea typeface="Calibri" pitchFamily="34" charset="-122"/>
                <a:cs typeface="Calibri" pitchFamily="34" charset="-120"/>
              </a:rPr>
              <a:t>Kesan Syaitan Masuk ke Dalam Hati</a:t>
            </a:r>
            <a:endParaRPr lang="en-US" sz="2600" dirty="0"/>
          </a:p>
        </p:txBody>
      </p:sp>
      <p:sp>
        <p:nvSpPr>
          <p:cNvPr id="4" name="Shape 2"/>
          <p:cNvSpPr/>
          <p:nvPr/>
        </p:nvSpPr>
        <p:spPr>
          <a:xfrm>
            <a:off x="457200" y="1325880"/>
            <a:ext cx="4023360" cy="3383280"/>
          </a:xfrm>
          <a:prstGeom prst="roundRect">
            <a:avLst>
              <a:gd name="adj" fmla="val 3243"/>
            </a:avLst>
          </a:prstGeom>
          <a:solidFill>
            <a:srgbClr val="FFFFFF"/>
          </a:solidFill>
          <a:ln w="9525">
            <a:solidFill>
              <a:srgbClr val="DCE3EC"/>
            </a:solidFill>
            <a:prstDash val="solid"/>
          </a:ln>
          <a:effectLst>
            <a:outerShdw sx="100000" sy="100000" kx="0" ky="0" algn="bl" rotWithShape="0" blurRad="101600" dist="25400" dir="5400000">
              <a:srgbClr val="0F1E3D">
                <a:alpha val="12000"/>
              </a:srgbClr>
            </a:outerShdw>
          </a:effectLst>
        </p:spPr>
      </p:sp>
      <p:sp>
        <p:nvSpPr>
          <p:cNvPr id="5" name="Shape 3"/>
          <p:cNvSpPr/>
          <p:nvPr/>
        </p:nvSpPr>
        <p:spPr>
          <a:xfrm>
            <a:off x="457200" y="1325880"/>
            <a:ext cx="4023360" cy="640080"/>
          </a:xfrm>
          <a:prstGeom prst="roundRect">
            <a:avLst>
              <a:gd name="adj" fmla="val 17143"/>
            </a:avLst>
          </a:prstGeom>
          <a:solidFill>
            <a:srgbClr val="127C83"/>
          </a:solidFill>
          <a:ln w="12700">
            <a:solidFill>
              <a:srgbClr val="127C83"/>
            </a:solidFill>
            <a:prstDash val="solid"/>
          </a:ln>
        </p:spPr>
      </p:sp>
      <p:sp>
        <p:nvSpPr>
          <p:cNvPr id="6" name="Shape 4"/>
          <p:cNvSpPr/>
          <p:nvPr/>
        </p:nvSpPr>
        <p:spPr>
          <a:xfrm>
            <a:off x="457200" y="1783080"/>
            <a:ext cx="4023360" cy="182880"/>
          </a:xfrm>
          <a:prstGeom prst="rect">
            <a:avLst/>
          </a:prstGeom>
          <a:solidFill>
            <a:srgbClr val="127C83"/>
          </a:solidFill>
          <a:ln w="12700">
            <a:solidFill>
              <a:srgbClr val="127C83"/>
            </a:solidFill>
            <a:prstDash val="solid"/>
          </a:ln>
        </p:spPr>
      </p:sp>
      <p:pic>
        <p:nvPicPr>
          <p:cNvPr id="7" name="Image 0" descr="preencoded.png">    </p:cNvPr>
          <p:cNvPicPr>
            <a:picLocks noChangeAspect="1"/>
          </p:cNvPicPr>
          <p:nvPr/>
        </p:nvPicPr>
        <p:blipFill>
          <a:blip r:embed="rId1"/>
          <a:stretch>
            <a:fillRect/>
          </a:stretch>
        </p:blipFill>
        <p:spPr>
          <a:xfrm>
            <a:off x="685800" y="1463040"/>
            <a:ext cx="365760" cy="365760"/>
          </a:xfrm>
          <a:prstGeom prst="rect">
            <a:avLst/>
          </a:prstGeom>
        </p:spPr>
      </p:pic>
      <p:sp>
        <p:nvSpPr>
          <p:cNvPr id="8" name="Text 5"/>
          <p:cNvSpPr txBox="1"/>
          <p:nvPr/>
        </p:nvSpPr>
        <p:spPr>
          <a:xfrm>
            <a:off x="1188720" y="1325880"/>
            <a:ext cx="3108960" cy="6400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Lelaki</a:t>
            </a:r>
            <a:endParaRPr lang="en-US" sz="1800" dirty="0"/>
          </a:p>
        </p:txBody>
      </p:sp>
      <p:sp>
        <p:nvSpPr>
          <p:cNvPr id="9" name="Text 6"/>
          <p:cNvSpPr txBox="1"/>
          <p:nvPr/>
        </p:nvSpPr>
        <p:spPr>
          <a:xfrm>
            <a:off x="731520" y="2103120"/>
            <a:ext cx="3566160" cy="251460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rgbClr val="16213A"/>
                </a:solidFill>
                <a:latin typeface="Calibri" pitchFamily="34" charset="0"/>
                <a:ea typeface="Calibri" pitchFamily="34" charset="-122"/>
                <a:cs typeface="Calibri" pitchFamily="34" charset="-120"/>
              </a:rPr>
              <a:t>Lemah dengan perempuan</a:t>
            </a:r>
            <a:endParaRPr lang="en-US" sz="1350" dirty="0"/>
          </a:p>
          <a:p>
            <a:pPr marL="342900" indent="-342900">
              <a:spcAft>
                <a:spcPts val="300"/>
              </a:spcAft>
              <a:buSzPct val="100000"/>
              <a:buChar char="◆"/>
            </a:pPr>
            <a:r>
              <a:rPr lang="en-US" sz="1350" dirty="0">
                <a:solidFill>
                  <a:srgbClr val="16213A"/>
                </a:solidFill>
                <a:latin typeface="Calibri" pitchFamily="34" charset="0"/>
                <a:ea typeface="Calibri" pitchFamily="34" charset="-122"/>
                <a:cs typeface="Calibri" pitchFamily="34" charset="-120"/>
              </a:rPr>
              <a:t>Lemah dengan sesama lelaki</a:t>
            </a:r>
            <a:endParaRPr lang="en-US" sz="1350" dirty="0"/>
          </a:p>
          <a:p>
            <a:pPr marL="342900" indent="-342900">
              <a:spcAft>
                <a:spcPts val="300"/>
              </a:spcAft>
              <a:buSzPct val="100000"/>
              <a:buChar char="◆"/>
            </a:pPr>
            <a:r>
              <a:rPr lang="en-US" sz="1350" dirty="0">
                <a:solidFill>
                  <a:srgbClr val="16213A"/>
                </a:solidFill>
                <a:latin typeface="Calibri" pitchFamily="34" charset="0"/>
                <a:ea typeface="Calibri" pitchFamily="34" charset="-122"/>
                <a:cs typeface="Calibri" pitchFamily="34" charset="-120"/>
              </a:rPr>
              <a:t>Ketagih games</a:t>
            </a:r>
            <a:endParaRPr lang="en-US" sz="1350" dirty="0"/>
          </a:p>
          <a:p>
            <a:pPr marL="342900" indent="-342900">
              <a:spcAft>
                <a:spcPts val="300"/>
              </a:spcAft>
              <a:buSzPct val="100000"/>
              <a:buChar char="◆"/>
            </a:pPr>
            <a:r>
              <a:rPr lang="en-US" sz="1350" dirty="0">
                <a:solidFill>
                  <a:srgbClr val="16213A"/>
                </a:solidFill>
                <a:latin typeface="Calibri" pitchFamily="34" charset="0"/>
                <a:ea typeface="Calibri" pitchFamily="34" charset="-122"/>
                <a:cs typeface="Calibri" pitchFamily="34" charset="-120"/>
              </a:rPr>
              <a:t>Ketagih kandungan tidak senonoh</a:t>
            </a:r>
            <a:endParaRPr lang="en-US" sz="1350" dirty="0"/>
          </a:p>
          <a:p>
            <a:pPr marL="342900" indent="-342900">
              <a:spcAft>
                <a:spcPts val="300"/>
              </a:spcAft>
              <a:buSzPct val="100000"/>
              <a:buChar char="◆"/>
            </a:pPr>
            <a:r>
              <a:rPr lang="en-US" sz="1350" dirty="0">
                <a:solidFill>
                  <a:srgbClr val="16213A"/>
                </a:solidFill>
                <a:latin typeface="Calibri" pitchFamily="34" charset="0"/>
                <a:ea typeface="Calibri" pitchFamily="34" charset="-122"/>
                <a:cs typeface="Calibri" pitchFamily="34" charset="-120"/>
              </a:rPr>
              <a:t>Ketagih anime dan movie</a:t>
            </a:r>
            <a:endParaRPr lang="en-US" sz="1350" dirty="0"/>
          </a:p>
          <a:p>
            <a:pPr marL="342900" indent="-342900">
              <a:spcAft>
                <a:spcPts val="300"/>
              </a:spcAft>
              <a:buSzPct val="100000"/>
              <a:buChar char="◆"/>
            </a:pPr>
            <a:r>
              <a:rPr lang="en-US" sz="1350" dirty="0">
                <a:solidFill>
                  <a:srgbClr val="16213A"/>
                </a:solidFill>
                <a:latin typeface="Calibri" pitchFamily="34" charset="0"/>
                <a:ea typeface="Calibri" pitchFamily="34" charset="-122"/>
                <a:cs typeface="Calibri" pitchFamily="34" charset="-120"/>
              </a:rPr>
              <a:t>Malas belajar</a:t>
            </a:r>
            <a:endParaRPr lang="en-US" sz="1350" dirty="0"/>
          </a:p>
          <a:p>
            <a:pPr marL="342900" indent="-342900">
              <a:spcAft>
                <a:spcPts val="300"/>
              </a:spcAft>
              <a:buSzPct val="100000"/>
              <a:buChar char="◆"/>
            </a:pPr>
            <a:r>
              <a:rPr lang="en-US" sz="1350" dirty="0">
                <a:solidFill>
                  <a:srgbClr val="16213A"/>
                </a:solidFill>
                <a:latin typeface="Calibri" pitchFamily="34" charset="0"/>
                <a:ea typeface="Calibri" pitchFamily="34" charset="-122"/>
                <a:cs typeface="Calibri" pitchFamily="34" charset="-120"/>
              </a:rPr>
              <a:t>Rokok &amp; vape</a:t>
            </a:r>
            <a:endParaRPr lang="en-US" sz="1350" dirty="0"/>
          </a:p>
          <a:p>
            <a:pPr marL="342900" indent="-342900">
              <a:spcAft>
                <a:spcPts val="300"/>
              </a:spcAft>
              <a:buSzPct val="100000"/>
              <a:buChar char="◆"/>
            </a:pPr>
            <a:r>
              <a:rPr lang="en-US" sz="1350" dirty="0">
                <a:solidFill>
                  <a:srgbClr val="16213A"/>
                </a:solidFill>
                <a:latin typeface="Calibri" pitchFamily="34" charset="0"/>
                <a:ea typeface="Calibri" pitchFamily="34" charset="-122"/>
                <a:cs typeface="Calibri" pitchFamily="34" charset="-120"/>
              </a:rPr>
              <a:t>Tiada common sense</a:t>
            </a:r>
            <a:endParaRPr lang="en-US" sz="1350" dirty="0"/>
          </a:p>
        </p:txBody>
      </p:sp>
      <p:sp>
        <p:nvSpPr>
          <p:cNvPr id="10" name="Shape 7"/>
          <p:cNvSpPr/>
          <p:nvPr/>
        </p:nvSpPr>
        <p:spPr>
          <a:xfrm>
            <a:off x="4663440" y="1325880"/>
            <a:ext cx="4023360" cy="3383280"/>
          </a:xfrm>
          <a:prstGeom prst="roundRect">
            <a:avLst>
              <a:gd name="adj" fmla="val 3243"/>
            </a:avLst>
          </a:prstGeom>
          <a:solidFill>
            <a:srgbClr val="FFFFFF"/>
          </a:solidFill>
          <a:ln w="9525">
            <a:solidFill>
              <a:srgbClr val="DCE3EC"/>
            </a:solidFill>
            <a:prstDash val="solid"/>
          </a:ln>
          <a:effectLst>
            <a:outerShdw sx="100000" sy="100000" kx="0" ky="0" algn="bl" rotWithShape="0" blurRad="101600" dist="25400" dir="5400000">
              <a:srgbClr val="0F1E3D">
                <a:alpha val="12000"/>
              </a:srgbClr>
            </a:outerShdw>
          </a:effectLst>
        </p:spPr>
      </p:sp>
      <p:sp>
        <p:nvSpPr>
          <p:cNvPr id="11" name="Shape 8"/>
          <p:cNvSpPr/>
          <p:nvPr/>
        </p:nvSpPr>
        <p:spPr>
          <a:xfrm>
            <a:off x="4663440" y="1325880"/>
            <a:ext cx="4023360" cy="640080"/>
          </a:xfrm>
          <a:prstGeom prst="roundRect">
            <a:avLst>
              <a:gd name="adj" fmla="val 17143"/>
            </a:avLst>
          </a:prstGeom>
          <a:solidFill>
            <a:srgbClr val="D9A93A"/>
          </a:solidFill>
          <a:ln w="12700">
            <a:solidFill>
              <a:srgbClr val="D9A93A"/>
            </a:solidFill>
            <a:prstDash val="solid"/>
          </a:ln>
        </p:spPr>
      </p:sp>
      <p:sp>
        <p:nvSpPr>
          <p:cNvPr id="12" name="Shape 9"/>
          <p:cNvSpPr/>
          <p:nvPr/>
        </p:nvSpPr>
        <p:spPr>
          <a:xfrm>
            <a:off x="4663440" y="1783080"/>
            <a:ext cx="4023360" cy="182880"/>
          </a:xfrm>
          <a:prstGeom prst="rect">
            <a:avLst/>
          </a:prstGeom>
          <a:solidFill>
            <a:srgbClr val="D9A93A"/>
          </a:solidFill>
          <a:ln w="12700">
            <a:solidFill>
              <a:srgbClr val="D9A93A"/>
            </a:solidFill>
            <a:prstDash val="solid"/>
          </a:ln>
        </p:spPr>
      </p:sp>
      <p:pic>
        <p:nvPicPr>
          <p:cNvPr id="13" name="Image 1" descr="preencoded.png">    </p:cNvPr>
          <p:cNvPicPr>
            <a:picLocks noChangeAspect="1"/>
          </p:cNvPicPr>
          <p:nvPr/>
        </p:nvPicPr>
        <p:blipFill>
          <a:blip r:embed="rId2"/>
          <a:stretch>
            <a:fillRect/>
          </a:stretch>
        </p:blipFill>
        <p:spPr>
          <a:xfrm>
            <a:off x="4892040" y="1463040"/>
            <a:ext cx="365760" cy="365760"/>
          </a:xfrm>
          <a:prstGeom prst="rect">
            <a:avLst/>
          </a:prstGeom>
        </p:spPr>
      </p:pic>
      <p:sp>
        <p:nvSpPr>
          <p:cNvPr id="14" name="Text 10"/>
          <p:cNvSpPr txBox="1"/>
          <p:nvPr/>
        </p:nvSpPr>
        <p:spPr>
          <a:xfrm>
            <a:off x="5394960" y="1325880"/>
            <a:ext cx="3108960" cy="640080"/>
          </a:xfrm>
          <a:prstGeom prst="rect">
            <a:avLst/>
          </a:prstGeom>
          <a:noFill/>
          <a:ln/>
        </p:spPr>
        <p:txBody>
          <a:bodyPr wrap="square" lIns="0" tIns="0" rIns="0" bIns="0" rtlCol="0" anchor="ctr"/>
          <a:lstStyle/>
          <a:p>
            <a:pPr indent="0" marL="0">
              <a:buNone/>
            </a:pPr>
            <a:r>
              <a:rPr lang="en-US" sz="1800" b="1" dirty="0">
                <a:solidFill>
                  <a:srgbClr val="0F1E3D"/>
                </a:solidFill>
                <a:latin typeface="Calibri" pitchFamily="34" charset="0"/>
                <a:ea typeface="Calibri" pitchFamily="34" charset="-122"/>
                <a:cs typeface="Calibri" pitchFamily="34" charset="-120"/>
              </a:rPr>
              <a:t>Wanita</a:t>
            </a:r>
            <a:endParaRPr lang="en-US" sz="1800" dirty="0"/>
          </a:p>
        </p:txBody>
      </p:sp>
      <p:sp>
        <p:nvSpPr>
          <p:cNvPr id="15" name="Text 11"/>
          <p:cNvSpPr txBox="1"/>
          <p:nvPr/>
        </p:nvSpPr>
        <p:spPr>
          <a:xfrm>
            <a:off x="4937760" y="2103120"/>
            <a:ext cx="3566160" cy="251460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rgbClr val="16213A"/>
                </a:solidFill>
                <a:latin typeface="Calibri" pitchFamily="34" charset="0"/>
                <a:ea typeface="Calibri" pitchFamily="34" charset="-122"/>
                <a:cs typeface="Calibri" pitchFamily="34" charset="-120"/>
              </a:rPr>
              <a:t>Lemah dengan lelaki</a:t>
            </a:r>
            <a:endParaRPr lang="en-US" sz="1350" dirty="0"/>
          </a:p>
          <a:p>
            <a:pPr marL="342900" indent="-342900">
              <a:spcAft>
                <a:spcPts val="300"/>
              </a:spcAft>
              <a:buSzPct val="100000"/>
              <a:buChar char="◆"/>
            </a:pPr>
            <a:r>
              <a:rPr lang="en-US" sz="1350" dirty="0">
                <a:solidFill>
                  <a:srgbClr val="16213A"/>
                </a:solidFill>
                <a:latin typeface="Calibri" pitchFamily="34" charset="0"/>
                <a:ea typeface="Calibri" pitchFamily="34" charset="-122"/>
                <a:cs typeface="Calibri" pitchFamily="34" charset="-120"/>
              </a:rPr>
              <a:t>Lemah dengan sesama wanita</a:t>
            </a:r>
            <a:endParaRPr lang="en-US" sz="1350" dirty="0"/>
          </a:p>
          <a:p>
            <a:pPr marL="342900" indent="-342900">
              <a:spcAft>
                <a:spcPts val="300"/>
              </a:spcAft>
              <a:buSzPct val="100000"/>
              <a:buChar char="◆"/>
            </a:pPr>
            <a:r>
              <a:rPr lang="en-US" sz="1350" dirty="0">
                <a:solidFill>
                  <a:srgbClr val="16213A"/>
                </a:solidFill>
                <a:latin typeface="Calibri" pitchFamily="34" charset="0"/>
                <a:ea typeface="Calibri" pitchFamily="34" charset="-122"/>
                <a:cs typeface="Calibri" pitchFamily="34" charset="-120"/>
              </a:rPr>
              <a:t>Ketagih selfie dan tayang diri</a:t>
            </a:r>
            <a:endParaRPr lang="en-US" sz="1350" dirty="0"/>
          </a:p>
          <a:p>
            <a:pPr marL="342900" indent="-342900">
              <a:spcAft>
                <a:spcPts val="300"/>
              </a:spcAft>
              <a:buSzPct val="100000"/>
              <a:buChar char="◆"/>
            </a:pPr>
            <a:r>
              <a:rPr lang="en-US" sz="1350" dirty="0">
                <a:solidFill>
                  <a:srgbClr val="16213A"/>
                </a:solidFill>
                <a:latin typeface="Calibri" pitchFamily="34" charset="0"/>
                <a:ea typeface="Calibri" pitchFamily="34" charset="-122"/>
                <a:cs typeface="Calibri" pitchFamily="34" charset="-120"/>
              </a:rPr>
              <a:t>Ketagih drama atau novel</a:t>
            </a:r>
            <a:endParaRPr lang="en-US" sz="1350" dirty="0"/>
          </a:p>
          <a:p>
            <a:pPr marL="342900" indent="-342900">
              <a:spcAft>
                <a:spcPts val="300"/>
              </a:spcAft>
              <a:buSzPct val="100000"/>
              <a:buChar char="◆"/>
            </a:pPr>
            <a:r>
              <a:rPr lang="en-US" sz="1350" dirty="0">
                <a:solidFill>
                  <a:srgbClr val="16213A"/>
                </a:solidFill>
                <a:latin typeface="Calibri" pitchFamily="34" charset="0"/>
                <a:ea typeface="Calibri" pitchFamily="34" charset="-122"/>
                <a:cs typeface="Calibri" pitchFamily="34" charset="-120"/>
              </a:rPr>
              <a:t>Ketagih / obses make-up</a:t>
            </a:r>
            <a:endParaRPr lang="en-US" sz="1350" dirty="0"/>
          </a:p>
          <a:p>
            <a:pPr marL="342900" indent="-342900">
              <a:spcAft>
                <a:spcPts val="300"/>
              </a:spcAft>
              <a:buSzPct val="100000"/>
              <a:buChar char="◆"/>
            </a:pPr>
            <a:r>
              <a:rPr lang="en-US" sz="1350" dirty="0">
                <a:solidFill>
                  <a:srgbClr val="16213A"/>
                </a:solidFill>
                <a:latin typeface="Calibri" pitchFamily="34" charset="0"/>
                <a:ea typeface="Calibri" pitchFamily="34" charset="-122"/>
                <a:cs typeface="Calibri" pitchFamily="34" charset="-120"/>
              </a:rPr>
              <a:t>Obses dengan artis</a:t>
            </a:r>
            <a:endParaRPr lang="en-US" sz="1350" dirty="0"/>
          </a:p>
          <a:p>
            <a:pPr marL="342900" indent="-342900">
              <a:spcAft>
                <a:spcPts val="300"/>
              </a:spcAft>
              <a:buSzPct val="100000"/>
              <a:buChar char="◆"/>
            </a:pPr>
            <a:r>
              <a:rPr lang="en-US" sz="1350" dirty="0">
                <a:solidFill>
                  <a:srgbClr val="16213A"/>
                </a:solidFill>
                <a:latin typeface="Calibri" pitchFamily="34" charset="0"/>
                <a:ea typeface="Calibri" pitchFamily="34" charset="-122"/>
                <a:cs typeface="Calibri" pitchFamily="34" charset="-120"/>
              </a:rPr>
              <a:t>Dan lain-lain</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1E3D"/>
        </a:solidFill>
      </p:bgPr>
    </p:bg>
    <p:spTree>
      <p:nvGrpSpPr>
        <p:cNvPr id="1" name=""/>
        <p:cNvGrpSpPr/>
        <p:nvPr/>
      </p:nvGrpSpPr>
      <p:grpSpPr>
        <a:xfrm>
          <a:off x="0" y="0"/>
          <a:ext cx="0" cy="0"/>
          <a:chOff x="0" y="0"/>
          <a:chExt cx="0" cy="0"/>
        </a:xfrm>
      </p:grpSpPr>
      <p:pic>
        <p:nvPicPr>
          <p:cNvPr id="2" name="Image 0" descr="/tmp/claude-0/-home-user-Shukery-Azizan/b66663cb-20be-5bd3-935d-65edbae5e3fd/scratchpad/build/assets/pattern.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5806440" y="1143000"/>
            <a:ext cx="2377440" cy="2377440"/>
          </a:xfrm>
          <a:prstGeom prst="ellipse">
            <a:avLst/>
          </a:prstGeom>
          <a:solidFill>
            <a:srgbClr val="FFFFFF"/>
          </a:solidFill>
          <a:ln w="38100">
            <a:solidFill>
              <a:srgbClr val="D9A93A"/>
            </a:solidFill>
            <a:prstDash val="solid"/>
          </a:ln>
        </p:spPr>
      </p:sp>
      <p:pic>
        <p:nvPicPr>
          <p:cNvPr id="4" name="Image 1" descr="/tmp/claude-0/-home-user-Shukery-Azizan/b66663cb-20be-5bd3-935d-65edbae5e3fd/scratchpad/build/assets/im-033.png">    </p:cNvPr>
          <p:cNvPicPr>
            <a:picLocks noChangeAspect="1"/>
          </p:cNvPicPr>
          <p:nvPr/>
        </p:nvPicPr>
        <p:blipFill>
          <a:blip r:embed="rId2"/>
          <a:stretch>
            <a:fillRect/>
          </a:stretch>
        </p:blipFill>
        <p:spPr>
          <a:xfrm>
            <a:off x="6217920" y="1717700"/>
            <a:ext cx="1554480" cy="1228039"/>
          </a:xfrm>
          <a:prstGeom prst="rect">
            <a:avLst/>
          </a:prstGeom>
        </p:spPr>
      </p:pic>
      <p:sp>
        <p:nvSpPr>
          <p:cNvPr id="5" name="Text 1"/>
          <p:cNvSpPr txBox="1"/>
          <p:nvPr/>
        </p:nvSpPr>
        <p:spPr>
          <a:xfrm>
            <a:off x="731520" y="1371600"/>
            <a:ext cx="4754880" cy="91440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Ada soalan?</a:t>
            </a:r>
            <a:endParaRPr lang="en-US" sz="4800" dirty="0"/>
          </a:p>
        </p:txBody>
      </p:sp>
      <p:sp>
        <p:nvSpPr>
          <p:cNvPr id="6" name="Text 2"/>
          <p:cNvSpPr txBox="1"/>
          <p:nvPr/>
        </p:nvSpPr>
        <p:spPr>
          <a:xfrm>
            <a:off x="731520" y="2377440"/>
            <a:ext cx="4572000" cy="822960"/>
          </a:xfrm>
          <a:prstGeom prst="rect">
            <a:avLst/>
          </a:prstGeom>
          <a:noFill/>
          <a:ln/>
        </p:spPr>
        <p:txBody>
          <a:bodyPr wrap="square" lIns="0" tIns="0" rIns="0" bIns="0" rtlCol="0" anchor="t"/>
          <a:lstStyle/>
          <a:p>
            <a:pPr indent="0" marL="0">
              <a:buNone/>
            </a:pPr>
            <a:r>
              <a:rPr lang="en-US" sz="2000" dirty="0">
                <a:solidFill>
                  <a:srgbClr val="D9A93A"/>
                </a:solidFill>
                <a:latin typeface="Calibri" pitchFamily="34" charset="0"/>
                <a:ea typeface="Calibri" pitchFamily="34" charset="-122"/>
                <a:cs typeface="Calibri" pitchFamily="34" charset="-120"/>
              </a:rPr>
              <a:t>Kalau segan, tulis di kertas dan pasing ke hadapan.</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1E3D"/>
        </a:solidFill>
      </p:bgPr>
    </p:bg>
    <p:spTree>
      <p:nvGrpSpPr>
        <p:cNvPr id="1" name=""/>
        <p:cNvGrpSpPr/>
        <p:nvPr/>
      </p:nvGrpSpPr>
      <p:grpSpPr>
        <a:xfrm>
          <a:off x="0" y="0"/>
          <a:ext cx="0" cy="0"/>
          <a:chOff x="0" y="0"/>
          <a:chExt cx="0" cy="0"/>
        </a:xfrm>
      </p:grpSpPr>
      <p:pic>
        <p:nvPicPr>
          <p:cNvPr id="2" name="Image 0" descr="/tmp/claude-0/-home-user-Shukery-Azizan/b66663cb-20be-5bd3-935d-65edbae5e3fd/scratchpad/build/assets/pattern.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txBox="1"/>
          <p:nvPr/>
        </p:nvSpPr>
        <p:spPr>
          <a:xfrm>
            <a:off x="640080" y="1097280"/>
            <a:ext cx="2926080" cy="2011680"/>
          </a:xfrm>
          <a:prstGeom prst="rect">
            <a:avLst/>
          </a:prstGeom>
          <a:noFill/>
          <a:ln/>
        </p:spPr>
        <p:txBody>
          <a:bodyPr wrap="square" lIns="0" tIns="0" rIns="0" bIns="0" rtlCol="0" anchor="ctr"/>
          <a:lstStyle/>
          <a:p>
            <a:pPr indent="0" marL="0">
              <a:buNone/>
            </a:pPr>
            <a:r>
              <a:rPr lang="en-US" sz="15000" b="1" dirty="0">
                <a:solidFill>
                  <a:srgbClr val="D9A93A"/>
                </a:solidFill>
                <a:latin typeface="Calibri" pitchFamily="34" charset="0"/>
                <a:ea typeface="Calibri" pitchFamily="34" charset="-122"/>
                <a:cs typeface="Calibri" pitchFamily="34" charset="-120"/>
              </a:rPr>
              <a:t>04</a:t>
            </a:r>
            <a:endParaRPr lang="en-US" sz="15000" dirty="0"/>
          </a:p>
        </p:txBody>
      </p:sp>
      <p:sp>
        <p:nvSpPr>
          <p:cNvPr id="4" name="Text 1"/>
          <p:cNvSpPr txBox="1"/>
          <p:nvPr/>
        </p:nvSpPr>
        <p:spPr>
          <a:xfrm>
            <a:off x="3611880" y="1600200"/>
            <a:ext cx="4572000" cy="256032"/>
          </a:xfrm>
          <a:prstGeom prst="rect">
            <a:avLst/>
          </a:prstGeom>
          <a:noFill/>
          <a:ln/>
        </p:spPr>
        <p:txBody>
          <a:bodyPr wrap="square" lIns="0" tIns="0" rIns="0" bIns="0" rtlCol="0" anchor="t"/>
          <a:lstStyle/>
          <a:p>
            <a:pPr indent="0" marL="0">
              <a:buNone/>
            </a:pPr>
            <a:r>
              <a:rPr lang="en-US" sz="1100" b="1" spc="200" kern="0" dirty="0">
                <a:solidFill>
                  <a:srgbClr val="D9A93A"/>
                </a:solidFill>
                <a:latin typeface="Calibri" pitchFamily="34" charset="0"/>
                <a:ea typeface="Calibri" pitchFamily="34" charset="-122"/>
                <a:cs typeface="Calibri" pitchFamily="34" charset="-120"/>
              </a:rPr>
              <a:t>BAHAGIAN 4</a:t>
            </a:r>
            <a:endParaRPr lang="en-US" sz="1100" dirty="0"/>
          </a:p>
        </p:txBody>
      </p:sp>
      <p:sp>
        <p:nvSpPr>
          <p:cNvPr id="5" name="Text 2"/>
          <p:cNvSpPr txBox="1"/>
          <p:nvPr/>
        </p:nvSpPr>
        <p:spPr>
          <a:xfrm>
            <a:off x="3611880" y="1874520"/>
            <a:ext cx="4937760" cy="685800"/>
          </a:xfrm>
          <a:prstGeom prst="rect">
            <a:avLst/>
          </a:prstGeom>
          <a:noFill/>
          <a:ln/>
        </p:spPr>
        <p:txBody>
          <a:bodyPr wrap="square" lIns="0" tIns="0" rIns="0" bIns="0" rtlCol="0" anchor="t"/>
          <a:lstStyle/>
          <a:p>
            <a:pPr indent="0" marL="0">
              <a:lnSpc>
                <a:spcPct val="95000"/>
              </a:lnSpc>
              <a:buNone/>
            </a:pPr>
            <a:r>
              <a:rPr lang="en-US" sz="3800" b="1" dirty="0">
                <a:solidFill>
                  <a:srgbClr val="FFFFFF"/>
                </a:solidFill>
                <a:latin typeface="Calibri" pitchFamily="34" charset="0"/>
                <a:ea typeface="Calibri" pitchFamily="34" charset="-122"/>
                <a:cs typeface="Calibri" pitchFamily="34" charset="-120"/>
              </a:rPr>
              <a:t>Solusi</a:t>
            </a:r>
            <a:endParaRPr lang="en-US" sz="3800" dirty="0"/>
          </a:p>
        </p:txBody>
      </p:sp>
      <p:sp>
        <p:nvSpPr>
          <p:cNvPr id="6" name="Text 3"/>
          <p:cNvSpPr txBox="1"/>
          <p:nvPr/>
        </p:nvSpPr>
        <p:spPr>
          <a:xfrm>
            <a:off x="3611880" y="2697480"/>
            <a:ext cx="4937760" cy="457200"/>
          </a:xfrm>
          <a:prstGeom prst="rect">
            <a:avLst/>
          </a:prstGeom>
          <a:noFill/>
          <a:ln/>
        </p:spPr>
        <p:txBody>
          <a:bodyPr wrap="square" lIns="0" tIns="0" rIns="0" bIns="0" rtlCol="0" anchor="t"/>
          <a:lstStyle/>
          <a:p>
            <a:pPr indent="0" marL="0">
              <a:buNone/>
            </a:pPr>
            <a:r>
              <a:rPr lang="en-US" sz="1700" dirty="0">
                <a:solidFill>
                  <a:srgbClr val="C9D3E6"/>
                </a:solidFill>
                <a:latin typeface="Calibri" pitchFamily="34" charset="0"/>
                <a:ea typeface="Calibri" pitchFamily="34" charset="-122"/>
                <a:cs typeface="Calibri" pitchFamily="34" charset="-120"/>
              </a:rPr>
              <a:t>5 langkah membina benteng hati</a:t>
            </a:r>
            <a:endParaRPr lang="en-US" sz="1700" dirty="0"/>
          </a:p>
        </p:txBody>
      </p:sp>
      <p:sp>
        <p:nvSpPr>
          <p:cNvPr id="7" name="Shape 4"/>
          <p:cNvSpPr/>
          <p:nvPr/>
        </p:nvSpPr>
        <p:spPr>
          <a:xfrm>
            <a:off x="7818120" y="3977640"/>
            <a:ext cx="731520" cy="731520"/>
          </a:xfrm>
          <a:prstGeom prst="ellipse">
            <a:avLst/>
          </a:prstGeom>
          <a:solidFill>
            <a:srgbClr val="1B2F5A"/>
          </a:solidFill>
          <a:ln w="12700">
            <a:solidFill>
              <a:srgbClr val="1B2F5A"/>
            </a:solidFill>
            <a:prstDash val="solid"/>
          </a:ln>
        </p:spPr>
      </p:sp>
      <p:pic>
        <p:nvPicPr>
          <p:cNvPr id="8" name="Image 1" descr="preencoded.png">    </p:cNvPr>
          <p:cNvPicPr>
            <a:picLocks noChangeAspect="1"/>
          </p:cNvPicPr>
          <p:nvPr/>
        </p:nvPicPr>
        <p:blipFill>
          <a:blip r:embed="rId2"/>
          <a:stretch>
            <a:fillRect/>
          </a:stretch>
        </p:blipFill>
        <p:spPr>
          <a:xfrm>
            <a:off x="8008315" y="4167835"/>
            <a:ext cx="351130" cy="35113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4572000" cy="256032"/>
          </a:xfrm>
          <a:prstGeom prst="rect">
            <a:avLst/>
          </a:prstGeom>
          <a:noFill/>
          <a:ln/>
        </p:spPr>
        <p:txBody>
          <a:bodyPr wrap="square" lIns="0" tIns="0" rIns="0" bIns="0" rtlCol="0" anchor="t"/>
          <a:lstStyle/>
          <a:p>
            <a:pPr indent="0" marL="0">
              <a:buNone/>
            </a:pPr>
            <a:r>
              <a:rPr lang="en-US" sz="1100" b="1" spc="200" kern="0" dirty="0">
                <a:solidFill>
                  <a:srgbClr val="9A6B0F"/>
                </a:solidFill>
                <a:latin typeface="Calibri" pitchFamily="34" charset="0"/>
                <a:ea typeface="Calibri" pitchFamily="34" charset="-122"/>
                <a:cs typeface="Calibri" pitchFamily="34" charset="-120"/>
              </a:rPr>
              <a:t>PELAN TINDAKAN</a:t>
            </a:r>
            <a:endParaRPr lang="en-US" sz="1100" dirty="0"/>
          </a:p>
        </p:txBody>
      </p:sp>
      <p:sp>
        <p:nvSpPr>
          <p:cNvPr id="3" name="Text 1"/>
          <p:cNvSpPr txBox="1"/>
          <p:nvPr/>
        </p:nvSpPr>
        <p:spPr>
          <a:xfrm>
            <a:off x="457200" y="603504"/>
            <a:ext cx="8229600" cy="566928"/>
          </a:xfrm>
          <a:prstGeom prst="rect">
            <a:avLst/>
          </a:prstGeom>
          <a:noFill/>
          <a:ln/>
        </p:spPr>
        <p:txBody>
          <a:bodyPr wrap="square" lIns="0" tIns="0" rIns="0" bIns="0" rtlCol="0" anchor="ctr"/>
          <a:lstStyle/>
          <a:p>
            <a:pPr indent="0" marL="0">
              <a:buNone/>
            </a:pPr>
            <a:r>
              <a:rPr lang="en-US" sz="2600" b="1" dirty="0">
                <a:solidFill>
                  <a:srgbClr val="0F1E3D"/>
                </a:solidFill>
                <a:latin typeface="Calibri" pitchFamily="34" charset="0"/>
                <a:ea typeface="Calibri" pitchFamily="34" charset="-122"/>
                <a:cs typeface="Calibri" pitchFamily="34" charset="-120"/>
              </a:rPr>
              <a:t>5 Langkah Membina Benteng Diri</a:t>
            </a:r>
            <a:endParaRPr lang="en-US" sz="2600" dirty="0"/>
          </a:p>
        </p:txBody>
      </p:sp>
      <p:sp>
        <p:nvSpPr>
          <p:cNvPr id="4" name="Shape 2"/>
          <p:cNvSpPr/>
          <p:nvPr/>
        </p:nvSpPr>
        <p:spPr>
          <a:xfrm>
            <a:off x="457200" y="3063240"/>
            <a:ext cx="1517904" cy="1645920"/>
          </a:xfrm>
          <a:prstGeom prst="roundRect">
            <a:avLst>
              <a:gd name="adj" fmla="val 6024"/>
            </a:avLst>
          </a:prstGeom>
          <a:solidFill>
            <a:srgbClr val="0F1E3D"/>
          </a:solidFill>
          <a:ln w="12700">
            <a:solidFill>
              <a:srgbClr val="0F1E3D"/>
            </a:solidFill>
            <a:prstDash val="solid"/>
          </a:ln>
        </p:spPr>
      </p:sp>
      <p:sp>
        <p:nvSpPr>
          <p:cNvPr id="5" name="Text 3"/>
          <p:cNvSpPr txBox="1"/>
          <p:nvPr/>
        </p:nvSpPr>
        <p:spPr>
          <a:xfrm>
            <a:off x="594360" y="3154680"/>
            <a:ext cx="548640" cy="502920"/>
          </a:xfrm>
          <a:prstGeom prst="rect">
            <a:avLst/>
          </a:prstGeom>
          <a:noFill/>
          <a:ln/>
        </p:spPr>
        <p:txBody>
          <a:bodyPr wrap="square" lIns="0" tIns="0" rIns="0" bIns="0" rtlCol="0" anchor="t"/>
          <a:lstStyle/>
          <a:p>
            <a:pPr indent="0" marL="0">
              <a:buNone/>
            </a:pPr>
            <a:r>
              <a:rPr lang="en-US" sz="2800" b="1" dirty="0">
                <a:solidFill>
                  <a:srgbClr val="D9A93A"/>
                </a:solidFill>
                <a:latin typeface="Calibri" pitchFamily="34" charset="0"/>
                <a:ea typeface="Calibri" pitchFamily="34" charset="-122"/>
                <a:cs typeface="Calibri" pitchFamily="34" charset="-120"/>
              </a:rPr>
              <a:t>1</a:t>
            </a:r>
            <a:endParaRPr lang="en-US" sz="2800" dirty="0"/>
          </a:p>
        </p:txBody>
      </p:sp>
      <p:sp>
        <p:nvSpPr>
          <p:cNvPr id="6" name="Text 4"/>
          <p:cNvSpPr txBox="1"/>
          <p:nvPr/>
        </p:nvSpPr>
        <p:spPr>
          <a:xfrm>
            <a:off x="594360" y="3685032"/>
            <a:ext cx="1243584" cy="68580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Perbaiki akidah</a:t>
            </a:r>
            <a:endParaRPr lang="en-US" sz="1400" dirty="0"/>
          </a:p>
        </p:txBody>
      </p:sp>
      <p:sp>
        <p:nvSpPr>
          <p:cNvPr id="7" name="Shape 5"/>
          <p:cNvSpPr/>
          <p:nvPr/>
        </p:nvSpPr>
        <p:spPr>
          <a:xfrm>
            <a:off x="932688" y="2350008"/>
            <a:ext cx="566928" cy="566928"/>
          </a:xfrm>
          <a:prstGeom prst="ellipse">
            <a:avLst/>
          </a:prstGeom>
          <a:solidFill>
            <a:srgbClr val="F3F6FA"/>
          </a:solidFill>
          <a:ln w="12700">
            <a:solidFill>
              <a:srgbClr val="F3F6FA"/>
            </a:solidFill>
            <a:prstDash val="solid"/>
          </a:ln>
        </p:spPr>
      </p:sp>
      <p:pic>
        <p:nvPicPr>
          <p:cNvPr id="8" name="Image 0" descr="preencoded.png">    </p:cNvPr>
          <p:cNvPicPr>
            <a:picLocks noChangeAspect="1"/>
          </p:cNvPicPr>
          <p:nvPr/>
        </p:nvPicPr>
        <p:blipFill>
          <a:blip r:embed="rId1"/>
          <a:stretch>
            <a:fillRect/>
          </a:stretch>
        </p:blipFill>
        <p:spPr>
          <a:xfrm>
            <a:off x="1080089" y="2497409"/>
            <a:ext cx="272125" cy="272125"/>
          </a:xfrm>
          <a:prstGeom prst="rect">
            <a:avLst/>
          </a:prstGeom>
        </p:spPr>
      </p:pic>
      <p:sp>
        <p:nvSpPr>
          <p:cNvPr id="9" name="Shape 6"/>
          <p:cNvSpPr/>
          <p:nvPr/>
        </p:nvSpPr>
        <p:spPr>
          <a:xfrm>
            <a:off x="2130552" y="2679192"/>
            <a:ext cx="1517904" cy="2029968"/>
          </a:xfrm>
          <a:prstGeom prst="roundRect">
            <a:avLst>
              <a:gd name="adj" fmla="val 6024"/>
            </a:avLst>
          </a:prstGeom>
          <a:solidFill>
            <a:srgbClr val="1B2F5A"/>
          </a:solidFill>
          <a:ln w="12700">
            <a:solidFill>
              <a:srgbClr val="1B2F5A"/>
            </a:solidFill>
            <a:prstDash val="solid"/>
          </a:ln>
        </p:spPr>
      </p:sp>
      <p:sp>
        <p:nvSpPr>
          <p:cNvPr id="10" name="Text 7"/>
          <p:cNvSpPr txBox="1"/>
          <p:nvPr/>
        </p:nvSpPr>
        <p:spPr>
          <a:xfrm>
            <a:off x="2267712" y="2770632"/>
            <a:ext cx="548640" cy="502920"/>
          </a:xfrm>
          <a:prstGeom prst="rect">
            <a:avLst/>
          </a:prstGeom>
          <a:noFill/>
          <a:ln/>
        </p:spPr>
        <p:txBody>
          <a:bodyPr wrap="square" lIns="0" tIns="0" rIns="0" bIns="0" rtlCol="0" anchor="t"/>
          <a:lstStyle/>
          <a:p>
            <a:pPr indent="0" marL="0">
              <a:buNone/>
            </a:pPr>
            <a:r>
              <a:rPr lang="en-US" sz="2800" b="1" dirty="0">
                <a:solidFill>
                  <a:srgbClr val="D9A93A"/>
                </a:solidFill>
                <a:latin typeface="Calibri" pitchFamily="34" charset="0"/>
                <a:ea typeface="Calibri" pitchFamily="34" charset="-122"/>
                <a:cs typeface="Calibri" pitchFamily="34" charset="-120"/>
              </a:rPr>
              <a:t>2</a:t>
            </a:r>
            <a:endParaRPr lang="en-US" sz="2800" dirty="0"/>
          </a:p>
        </p:txBody>
      </p:sp>
      <p:sp>
        <p:nvSpPr>
          <p:cNvPr id="11" name="Text 8"/>
          <p:cNvSpPr txBox="1"/>
          <p:nvPr/>
        </p:nvSpPr>
        <p:spPr>
          <a:xfrm>
            <a:off x="2267712" y="3300984"/>
            <a:ext cx="1243584" cy="68580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Taubat &amp; tinggal maksiat</a:t>
            </a:r>
            <a:endParaRPr lang="en-US" sz="1400" dirty="0"/>
          </a:p>
        </p:txBody>
      </p:sp>
      <p:sp>
        <p:nvSpPr>
          <p:cNvPr id="12" name="Shape 9"/>
          <p:cNvSpPr/>
          <p:nvPr/>
        </p:nvSpPr>
        <p:spPr>
          <a:xfrm>
            <a:off x="2606040" y="1965960"/>
            <a:ext cx="566928" cy="566928"/>
          </a:xfrm>
          <a:prstGeom prst="ellipse">
            <a:avLst/>
          </a:prstGeom>
          <a:solidFill>
            <a:srgbClr val="F3F6FA"/>
          </a:solidFill>
          <a:ln w="12700">
            <a:solidFill>
              <a:srgbClr val="F3F6FA"/>
            </a:solidFill>
            <a:prstDash val="solid"/>
          </a:ln>
        </p:spPr>
      </p:sp>
      <p:pic>
        <p:nvPicPr>
          <p:cNvPr id="13" name="Image 1" descr="preencoded.png">    </p:cNvPr>
          <p:cNvPicPr>
            <a:picLocks noChangeAspect="1"/>
          </p:cNvPicPr>
          <p:nvPr/>
        </p:nvPicPr>
        <p:blipFill>
          <a:blip r:embed="rId2"/>
          <a:stretch>
            <a:fillRect/>
          </a:stretch>
        </p:blipFill>
        <p:spPr>
          <a:xfrm>
            <a:off x="2753441" y="2113361"/>
            <a:ext cx="272125" cy="272125"/>
          </a:xfrm>
          <a:prstGeom prst="rect">
            <a:avLst/>
          </a:prstGeom>
        </p:spPr>
      </p:pic>
      <p:sp>
        <p:nvSpPr>
          <p:cNvPr id="14" name="Shape 10"/>
          <p:cNvSpPr/>
          <p:nvPr/>
        </p:nvSpPr>
        <p:spPr>
          <a:xfrm>
            <a:off x="3803904" y="2295144"/>
            <a:ext cx="1517904" cy="2414016"/>
          </a:xfrm>
          <a:prstGeom prst="roundRect">
            <a:avLst>
              <a:gd name="adj" fmla="val 6024"/>
            </a:avLst>
          </a:prstGeom>
          <a:solidFill>
            <a:srgbClr val="0F1E3D"/>
          </a:solidFill>
          <a:ln w="12700">
            <a:solidFill>
              <a:srgbClr val="0F1E3D"/>
            </a:solidFill>
            <a:prstDash val="solid"/>
          </a:ln>
        </p:spPr>
      </p:sp>
      <p:sp>
        <p:nvSpPr>
          <p:cNvPr id="15" name="Text 11"/>
          <p:cNvSpPr txBox="1"/>
          <p:nvPr/>
        </p:nvSpPr>
        <p:spPr>
          <a:xfrm>
            <a:off x="3941064" y="2386584"/>
            <a:ext cx="548640" cy="502920"/>
          </a:xfrm>
          <a:prstGeom prst="rect">
            <a:avLst/>
          </a:prstGeom>
          <a:noFill/>
          <a:ln/>
        </p:spPr>
        <p:txBody>
          <a:bodyPr wrap="square" lIns="0" tIns="0" rIns="0" bIns="0" rtlCol="0" anchor="t"/>
          <a:lstStyle/>
          <a:p>
            <a:pPr indent="0" marL="0">
              <a:buNone/>
            </a:pPr>
            <a:r>
              <a:rPr lang="en-US" sz="2800" b="1" dirty="0">
                <a:solidFill>
                  <a:srgbClr val="D9A93A"/>
                </a:solidFill>
                <a:latin typeface="Calibri" pitchFamily="34" charset="0"/>
                <a:ea typeface="Calibri" pitchFamily="34" charset="-122"/>
                <a:cs typeface="Calibri" pitchFamily="34" charset="-120"/>
              </a:rPr>
              <a:t>3</a:t>
            </a:r>
            <a:endParaRPr lang="en-US" sz="2800" dirty="0"/>
          </a:p>
        </p:txBody>
      </p:sp>
      <p:sp>
        <p:nvSpPr>
          <p:cNvPr id="16" name="Text 12"/>
          <p:cNvSpPr txBox="1"/>
          <p:nvPr/>
        </p:nvSpPr>
        <p:spPr>
          <a:xfrm>
            <a:off x="3941064" y="2916936"/>
            <a:ext cx="1243584" cy="68580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Jaga solat</a:t>
            </a:r>
            <a:endParaRPr lang="en-US" sz="1400" dirty="0"/>
          </a:p>
        </p:txBody>
      </p:sp>
      <p:sp>
        <p:nvSpPr>
          <p:cNvPr id="17" name="Shape 13"/>
          <p:cNvSpPr/>
          <p:nvPr/>
        </p:nvSpPr>
        <p:spPr>
          <a:xfrm>
            <a:off x="4279392" y="1581912"/>
            <a:ext cx="566928" cy="566928"/>
          </a:xfrm>
          <a:prstGeom prst="ellipse">
            <a:avLst/>
          </a:prstGeom>
          <a:solidFill>
            <a:srgbClr val="F3F6FA"/>
          </a:solidFill>
          <a:ln w="12700">
            <a:solidFill>
              <a:srgbClr val="F3F6FA"/>
            </a:solidFill>
            <a:prstDash val="solid"/>
          </a:ln>
        </p:spPr>
      </p:sp>
      <p:pic>
        <p:nvPicPr>
          <p:cNvPr id="18" name="Image 2" descr="preencoded.png">    </p:cNvPr>
          <p:cNvPicPr>
            <a:picLocks noChangeAspect="1"/>
          </p:cNvPicPr>
          <p:nvPr/>
        </p:nvPicPr>
        <p:blipFill>
          <a:blip r:embed="rId3"/>
          <a:stretch>
            <a:fillRect/>
          </a:stretch>
        </p:blipFill>
        <p:spPr>
          <a:xfrm>
            <a:off x="4426793" y="1729313"/>
            <a:ext cx="272125" cy="272125"/>
          </a:xfrm>
          <a:prstGeom prst="rect">
            <a:avLst/>
          </a:prstGeom>
        </p:spPr>
      </p:pic>
      <p:sp>
        <p:nvSpPr>
          <p:cNvPr id="19" name="Shape 14"/>
          <p:cNvSpPr/>
          <p:nvPr/>
        </p:nvSpPr>
        <p:spPr>
          <a:xfrm>
            <a:off x="5477256" y="1911096"/>
            <a:ext cx="1517904" cy="2798064"/>
          </a:xfrm>
          <a:prstGeom prst="roundRect">
            <a:avLst>
              <a:gd name="adj" fmla="val 6024"/>
            </a:avLst>
          </a:prstGeom>
          <a:solidFill>
            <a:srgbClr val="1B2F5A"/>
          </a:solidFill>
          <a:ln w="12700">
            <a:solidFill>
              <a:srgbClr val="1B2F5A"/>
            </a:solidFill>
            <a:prstDash val="solid"/>
          </a:ln>
        </p:spPr>
      </p:sp>
      <p:sp>
        <p:nvSpPr>
          <p:cNvPr id="20" name="Text 15"/>
          <p:cNvSpPr txBox="1"/>
          <p:nvPr/>
        </p:nvSpPr>
        <p:spPr>
          <a:xfrm>
            <a:off x="5614416" y="2002536"/>
            <a:ext cx="548640" cy="502920"/>
          </a:xfrm>
          <a:prstGeom prst="rect">
            <a:avLst/>
          </a:prstGeom>
          <a:noFill/>
          <a:ln/>
        </p:spPr>
        <p:txBody>
          <a:bodyPr wrap="square" lIns="0" tIns="0" rIns="0" bIns="0" rtlCol="0" anchor="t"/>
          <a:lstStyle/>
          <a:p>
            <a:pPr indent="0" marL="0">
              <a:buNone/>
            </a:pPr>
            <a:r>
              <a:rPr lang="en-US" sz="2800" b="1" dirty="0">
                <a:solidFill>
                  <a:srgbClr val="D9A93A"/>
                </a:solidFill>
                <a:latin typeface="Calibri" pitchFamily="34" charset="0"/>
                <a:ea typeface="Calibri" pitchFamily="34" charset="-122"/>
                <a:cs typeface="Calibri" pitchFamily="34" charset="-120"/>
              </a:rPr>
              <a:t>4</a:t>
            </a:r>
            <a:endParaRPr lang="en-US" sz="2800" dirty="0"/>
          </a:p>
        </p:txBody>
      </p:sp>
      <p:sp>
        <p:nvSpPr>
          <p:cNvPr id="21" name="Text 16"/>
          <p:cNvSpPr txBox="1"/>
          <p:nvPr/>
        </p:nvSpPr>
        <p:spPr>
          <a:xfrm>
            <a:off x="5614416" y="2532888"/>
            <a:ext cx="1243584" cy="68580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Istighfar</a:t>
            </a:r>
            <a:endParaRPr lang="en-US" sz="1400" dirty="0"/>
          </a:p>
        </p:txBody>
      </p:sp>
      <p:sp>
        <p:nvSpPr>
          <p:cNvPr id="22" name="Shape 17"/>
          <p:cNvSpPr/>
          <p:nvPr/>
        </p:nvSpPr>
        <p:spPr>
          <a:xfrm>
            <a:off x="5952744" y="1197864"/>
            <a:ext cx="566928" cy="566928"/>
          </a:xfrm>
          <a:prstGeom prst="ellipse">
            <a:avLst/>
          </a:prstGeom>
          <a:solidFill>
            <a:srgbClr val="F3F6FA"/>
          </a:solidFill>
          <a:ln w="12700">
            <a:solidFill>
              <a:srgbClr val="F3F6FA"/>
            </a:solidFill>
            <a:prstDash val="solid"/>
          </a:ln>
        </p:spPr>
      </p:sp>
      <p:pic>
        <p:nvPicPr>
          <p:cNvPr id="23" name="Image 3" descr="preencoded.png">    </p:cNvPr>
          <p:cNvPicPr>
            <a:picLocks noChangeAspect="1"/>
          </p:cNvPicPr>
          <p:nvPr/>
        </p:nvPicPr>
        <p:blipFill>
          <a:blip r:embed="rId4"/>
          <a:stretch>
            <a:fillRect/>
          </a:stretch>
        </p:blipFill>
        <p:spPr>
          <a:xfrm>
            <a:off x="6100145" y="1345265"/>
            <a:ext cx="272125" cy="272125"/>
          </a:xfrm>
          <a:prstGeom prst="rect">
            <a:avLst/>
          </a:prstGeom>
        </p:spPr>
      </p:pic>
      <p:sp>
        <p:nvSpPr>
          <p:cNvPr id="24" name="Shape 18"/>
          <p:cNvSpPr/>
          <p:nvPr/>
        </p:nvSpPr>
        <p:spPr>
          <a:xfrm>
            <a:off x="7150608" y="1527048"/>
            <a:ext cx="1517904" cy="3182112"/>
          </a:xfrm>
          <a:prstGeom prst="roundRect">
            <a:avLst>
              <a:gd name="adj" fmla="val 6024"/>
            </a:avLst>
          </a:prstGeom>
          <a:solidFill>
            <a:srgbClr val="D9A93A"/>
          </a:solidFill>
          <a:ln w="12700">
            <a:solidFill>
              <a:srgbClr val="D9A93A"/>
            </a:solidFill>
            <a:prstDash val="solid"/>
          </a:ln>
        </p:spPr>
      </p:sp>
      <p:sp>
        <p:nvSpPr>
          <p:cNvPr id="25" name="Text 19"/>
          <p:cNvSpPr txBox="1"/>
          <p:nvPr/>
        </p:nvSpPr>
        <p:spPr>
          <a:xfrm>
            <a:off x="7287768" y="1618488"/>
            <a:ext cx="548640" cy="502920"/>
          </a:xfrm>
          <a:prstGeom prst="rect">
            <a:avLst/>
          </a:prstGeom>
          <a:noFill/>
          <a:ln/>
        </p:spPr>
        <p:txBody>
          <a:bodyPr wrap="square" lIns="0" tIns="0" rIns="0" bIns="0" rtlCol="0" anchor="t"/>
          <a:lstStyle/>
          <a:p>
            <a:pPr indent="0" marL="0">
              <a:buNone/>
            </a:pPr>
            <a:r>
              <a:rPr lang="en-US" sz="2800" b="1" dirty="0">
                <a:solidFill>
                  <a:srgbClr val="0F1E3D"/>
                </a:solidFill>
                <a:latin typeface="Calibri" pitchFamily="34" charset="0"/>
                <a:ea typeface="Calibri" pitchFamily="34" charset="-122"/>
                <a:cs typeface="Calibri" pitchFamily="34" charset="-120"/>
              </a:rPr>
              <a:t>5</a:t>
            </a:r>
            <a:endParaRPr lang="en-US" sz="2800" dirty="0"/>
          </a:p>
        </p:txBody>
      </p:sp>
      <p:sp>
        <p:nvSpPr>
          <p:cNvPr id="26" name="Text 20"/>
          <p:cNvSpPr txBox="1"/>
          <p:nvPr/>
        </p:nvSpPr>
        <p:spPr>
          <a:xfrm>
            <a:off x="7287768" y="2148840"/>
            <a:ext cx="1243584" cy="685800"/>
          </a:xfrm>
          <a:prstGeom prst="rect">
            <a:avLst/>
          </a:prstGeom>
          <a:noFill/>
          <a:ln/>
        </p:spPr>
        <p:txBody>
          <a:bodyPr wrap="square" lIns="0" tIns="0" rIns="0" bIns="0" rtlCol="0" anchor="t"/>
          <a:lstStyle/>
          <a:p>
            <a:pPr indent="0" marL="0">
              <a:buNone/>
            </a:pPr>
            <a:r>
              <a:rPr lang="en-US" sz="1400" b="1" dirty="0">
                <a:solidFill>
                  <a:srgbClr val="0F1E3D"/>
                </a:solidFill>
                <a:latin typeface="Calibri" pitchFamily="34" charset="0"/>
                <a:ea typeface="Calibri" pitchFamily="34" charset="-122"/>
                <a:cs typeface="Calibri" pitchFamily="34" charset="-120"/>
              </a:rPr>
              <a:t>Circle kawan soleh</a:t>
            </a:r>
            <a:endParaRPr lang="en-US" sz="1400" dirty="0"/>
          </a:p>
        </p:txBody>
      </p:sp>
      <p:sp>
        <p:nvSpPr>
          <p:cNvPr id="27" name="Shape 21"/>
          <p:cNvSpPr/>
          <p:nvPr/>
        </p:nvSpPr>
        <p:spPr>
          <a:xfrm>
            <a:off x="7626096" y="813816"/>
            <a:ext cx="566928" cy="566928"/>
          </a:xfrm>
          <a:prstGeom prst="ellipse">
            <a:avLst/>
          </a:prstGeom>
          <a:solidFill>
            <a:srgbClr val="FBF3DF"/>
          </a:solidFill>
          <a:ln w="12700">
            <a:solidFill>
              <a:srgbClr val="FBF3DF"/>
            </a:solidFill>
            <a:prstDash val="solid"/>
          </a:ln>
        </p:spPr>
      </p:sp>
      <p:pic>
        <p:nvPicPr>
          <p:cNvPr id="28" name="Image 4" descr="preencoded.png">    </p:cNvPr>
          <p:cNvPicPr>
            <a:picLocks noChangeAspect="1"/>
          </p:cNvPicPr>
          <p:nvPr/>
        </p:nvPicPr>
        <p:blipFill>
          <a:blip r:embed="rId5"/>
          <a:stretch>
            <a:fillRect/>
          </a:stretch>
        </p:blipFill>
        <p:spPr>
          <a:xfrm>
            <a:off x="7773497" y="961217"/>
            <a:ext cx="272125" cy="27212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tmp/claude-0/-home-user-Shukery-Azizan/b66663cb-20be-5bd3-935d-65edbae5e3fd/scratchpad/build/assets/sky.jpg">    </p:cNvPr>
          <p:cNvPicPr>
            <a:picLocks noChangeAspect="1"/>
          </p:cNvPicPr>
          <p:nvPr/>
        </p:nvPicPr>
        <p:blipFill>
          <a:blip r:embed="rId1"/>
          <a:stretch>
            <a:fillRect/>
          </a:stretch>
        </p:blipFill>
        <p:spPr>
          <a:xfrm>
            <a:off x="5120640" y="0"/>
            <a:ext cx="4023360" cy="5143500"/>
          </a:xfrm>
          <a:prstGeom prst="rect">
            <a:avLst/>
          </a:prstGeom>
        </p:spPr>
      </p:pic>
      <p:sp>
        <p:nvSpPr>
          <p:cNvPr id="3" name="Shape 0"/>
          <p:cNvSpPr/>
          <p:nvPr/>
        </p:nvSpPr>
        <p:spPr>
          <a:xfrm>
            <a:off x="5120640" y="0"/>
            <a:ext cx="4023360" cy="5143500"/>
          </a:xfrm>
          <a:prstGeom prst="rect">
            <a:avLst/>
          </a:prstGeom>
          <a:solidFill>
            <a:srgbClr val="0F1E3D">
              <a:alpha val="45000"/>
            </a:srgbClr>
          </a:solidFill>
          <a:ln w="12700">
            <a:solidFill>
              <a:srgbClr val="0F1E3D"/>
            </a:solidFill>
            <a:prstDash val="solid"/>
          </a:ln>
        </p:spPr>
      </p:sp>
      <p:sp>
        <p:nvSpPr>
          <p:cNvPr id="4" name="Shape 1"/>
          <p:cNvSpPr/>
          <p:nvPr/>
        </p:nvSpPr>
        <p:spPr>
          <a:xfrm>
            <a:off x="6583680" y="2011680"/>
            <a:ext cx="1097280" cy="1097280"/>
          </a:xfrm>
          <a:prstGeom prst="ellipse">
            <a:avLst/>
          </a:prstGeom>
          <a:solidFill>
            <a:srgbClr val="FFFFFF"/>
          </a:solidFill>
          <a:ln w="12700">
            <a:solidFill>
              <a:srgbClr val="FFFFFF"/>
            </a:solidFill>
            <a:prstDash val="solid"/>
          </a:ln>
        </p:spPr>
      </p:sp>
      <p:pic>
        <p:nvPicPr>
          <p:cNvPr id="5" name="Image 1" descr="preencoded.png">    </p:cNvPr>
          <p:cNvPicPr>
            <a:picLocks noChangeAspect="1"/>
          </p:cNvPicPr>
          <p:nvPr/>
        </p:nvPicPr>
        <p:blipFill>
          <a:blip r:embed="rId2"/>
          <a:stretch>
            <a:fillRect/>
          </a:stretch>
        </p:blipFill>
        <p:spPr>
          <a:xfrm>
            <a:off x="6868973" y="2296973"/>
            <a:ext cx="526694" cy="526694"/>
          </a:xfrm>
          <a:prstGeom prst="rect">
            <a:avLst/>
          </a:prstGeom>
        </p:spPr>
      </p:pic>
      <p:sp>
        <p:nvSpPr>
          <p:cNvPr id="6" name="Text 2"/>
          <p:cNvSpPr txBox="1"/>
          <p:nvPr/>
        </p:nvSpPr>
        <p:spPr>
          <a:xfrm>
            <a:off x="457200" y="411480"/>
            <a:ext cx="914400" cy="868680"/>
          </a:xfrm>
          <a:prstGeom prst="rect">
            <a:avLst/>
          </a:prstGeom>
          <a:noFill/>
          <a:ln/>
        </p:spPr>
        <p:txBody>
          <a:bodyPr wrap="square" lIns="0" tIns="0" rIns="0" bIns="0" rtlCol="0" anchor="ctr"/>
          <a:lstStyle/>
          <a:p>
            <a:pPr indent="0" marL="0">
              <a:buNone/>
            </a:pPr>
            <a:r>
              <a:rPr lang="en-US" sz="6000" b="1" dirty="0">
                <a:solidFill>
                  <a:srgbClr val="D9A93A"/>
                </a:solidFill>
                <a:latin typeface="Calibri" pitchFamily="34" charset="0"/>
                <a:ea typeface="Calibri" pitchFamily="34" charset="-122"/>
                <a:cs typeface="Calibri" pitchFamily="34" charset="-120"/>
              </a:rPr>
              <a:t>1</a:t>
            </a:r>
            <a:endParaRPr lang="en-US" sz="6000" dirty="0"/>
          </a:p>
        </p:txBody>
      </p:sp>
      <p:sp>
        <p:nvSpPr>
          <p:cNvPr id="7" name="Text 3"/>
          <p:cNvSpPr txBox="1"/>
          <p:nvPr/>
        </p:nvSpPr>
        <p:spPr>
          <a:xfrm>
            <a:off x="457200" y="1280160"/>
            <a:ext cx="4389120" cy="548640"/>
          </a:xfrm>
          <a:prstGeom prst="rect">
            <a:avLst/>
          </a:prstGeom>
          <a:noFill/>
          <a:ln/>
        </p:spPr>
        <p:txBody>
          <a:bodyPr wrap="square" lIns="0" tIns="0" rIns="0" bIns="0" rtlCol="0" anchor="ctr"/>
          <a:lstStyle/>
          <a:p>
            <a:pPr indent="0" marL="0">
              <a:buNone/>
            </a:pPr>
            <a:r>
              <a:rPr lang="en-US" sz="3000" b="1" dirty="0">
                <a:solidFill>
                  <a:srgbClr val="0F1E3D"/>
                </a:solidFill>
                <a:latin typeface="Calibri" pitchFamily="34" charset="0"/>
                <a:ea typeface="Calibri" pitchFamily="34" charset="-122"/>
                <a:cs typeface="Calibri" pitchFamily="34" charset="-120"/>
              </a:rPr>
              <a:t>Perbaiki akidah kita</a:t>
            </a:r>
            <a:endParaRPr lang="en-US" sz="3000" dirty="0"/>
          </a:p>
        </p:txBody>
      </p:sp>
      <p:sp>
        <p:nvSpPr>
          <p:cNvPr id="8" name="Text 4"/>
          <p:cNvSpPr txBox="1"/>
          <p:nvPr/>
        </p:nvSpPr>
        <p:spPr>
          <a:xfrm>
            <a:off x="457200" y="1810512"/>
            <a:ext cx="4389120" cy="365760"/>
          </a:xfrm>
          <a:prstGeom prst="rect">
            <a:avLst/>
          </a:prstGeom>
          <a:noFill/>
          <a:ln/>
        </p:spPr>
        <p:txBody>
          <a:bodyPr wrap="square" lIns="0" tIns="0" rIns="0" bIns="0" rtlCol="0" anchor="t"/>
          <a:lstStyle/>
          <a:p>
            <a:pPr indent="0" marL="0">
              <a:buNone/>
            </a:pPr>
            <a:r>
              <a:rPr lang="en-US" sz="1600" dirty="0">
                <a:solidFill>
                  <a:srgbClr val="5A6880"/>
                </a:solidFill>
                <a:latin typeface="Calibri" pitchFamily="34" charset="0"/>
                <a:ea typeface="Calibri" pitchFamily="34" charset="-122"/>
                <a:cs typeface="Calibri" pitchFamily="34" charset="-120"/>
              </a:rPr>
              <a:t>(sistem kepercayaan)</a:t>
            </a:r>
            <a:endParaRPr lang="en-US" sz="1600" dirty="0"/>
          </a:p>
        </p:txBody>
      </p:sp>
      <p:sp>
        <p:nvSpPr>
          <p:cNvPr id="9" name="Text 5"/>
          <p:cNvSpPr txBox="1"/>
          <p:nvPr/>
        </p:nvSpPr>
        <p:spPr>
          <a:xfrm>
            <a:off x="457200" y="2606040"/>
            <a:ext cx="4389120" cy="320040"/>
          </a:xfrm>
          <a:prstGeom prst="rect">
            <a:avLst/>
          </a:prstGeom>
          <a:noFill/>
          <a:ln/>
        </p:spPr>
        <p:txBody>
          <a:bodyPr wrap="square" lIns="0" tIns="0" rIns="0" bIns="0" rtlCol="0" anchor="t"/>
          <a:lstStyle/>
          <a:p>
            <a:pPr indent="0" marL="0">
              <a:buNone/>
            </a:pPr>
            <a:r>
              <a:rPr lang="en-US" sz="1500" b="1" dirty="0">
                <a:solidFill>
                  <a:srgbClr val="9A6B0F"/>
                </a:solidFill>
                <a:latin typeface="Calibri" pitchFamily="34" charset="0"/>
                <a:ea typeface="Calibri" pitchFamily="34" charset="-122"/>
                <a:cs typeface="Calibri" pitchFamily="34" charset="-120"/>
              </a:rPr>
              <a:t>Macam mana?</a:t>
            </a:r>
            <a:endParaRPr lang="en-US" sz="1500" dirty="0"/>
          </a:p>
        </p:txBody>
      </p:sp>
      <p:sp>
        <p:nvSpPr>
          <p:cNvPr id="10" name="Shape 6"/>
          <p:cNvSpPr/>
          <p:nvPr/>
        </p:nvSpPr>
        <p:spPr>
          <a:xfrm>
            <a:off x="457200" y="3017520"/>
            <a:ext cx="4343400" cy="1188720"/>
          </a:xfrm>
          <a:prstGeom prst="roundRect">
            <a:avLst>
              <a:gd name="adj" fmla="val 9231"/>
            </a:avLst>
          </a:prstGeom>
          <a:solidFill>
            <a:srgbClr val="FFFFFF"/>
          </a:solidFill>
          <a:ln w="9525">
            <a:solidFill>
              <a:srgbClr val="DCE3EC"/>
            </a:solidFill>
            <a:prstDash val="solid"/>
          </a:ln>
          <a:effectLst>
            <a:outerShdw sx="100000" sy="100000" kx="0" ky="0" algn="bl" rotWithShape="0" blurRad="101600" dist="25400" dir="5400000">
              <a:srgbClr val="0F1E3D">
                <a:alpha val="12000"/>
              </a:srgbClr>
            </a:outerShdw>
          </a:effectLst>
        </p:spPr>
      </p:sp>
      <p:sp>
        <p:nvSpPr>
          <p:cNvPr id="11" name="Text 7"/>
          <p:cNvSpPr txBox="1"/>
          <p:nvPr/>
        </p:nvSpPr>
        <p:spPr>
          <a:xfrm>
            <a:off x="685800" y="3017520"/>
            <a:ext cx="548640" cy="1188720"/>
          </a:xfrm>
          <a:prstGeom prst="rect">
            <a:avLst/>
          </a:prstGeom>
          <a:noFill/>
          <a:ln/>
        </p:spPr>
        <p:txBody>
          <a:bodyPr wrap="square" lIns="0" tIns="0" rIns="0" bIns="0" rtlCol="0" anchor="ctr"/>
          <a:lstStyle/>
          <a:p>
            <a:pPr indent="0" marL="0">
              <a:buNone/>
            </a:pPr>
            <a:r>
              <a:rPr lang="en-US" sz="2200" b="1" dirty="0">
                <a:solidFill>
                  <a:srgbClr val="D9A93A"/>
                </a:solidFill>
                <a:latin typeface="Calibri" pitchFamily="34" charset="0"/>
                <a:ea typeface="Calibri" pitchFamily="34" charset="-122"/>
                <a:cs typeface="Calibri" pitchFamily="34" charset="-120"/>
              </a:rPr>
              <a:t>(i)</a:t>
            </a:r>
            <a:endParaRPr lang="en-US" sz="2200" dirty="0"/>
          </a:p>
        </p:txBody>
      </p:sp>
      <p:sp>
        <p:nvSpPr>
          <p:cNvPr id="12" name="Text 8"/>
          <p:cNvSpPr txBox="1"/>
          <p:nvPr/>
        </p:nvSpPr>
        <p:spPr>
          <a:xfrm>
            <a:off x="1280160" y="3017520"/>
            <a:ext cx="3383280" cy="1188720"/>
          </a:xfrm>
          <a:prstGeom prst="rect">
            <a:avLst/>
          </a:prstGeom>
          <a:noFill/>
          <a:ln/>
        </p:spPr>
        <p:txBody>
          <a:bodyPr wrap="square" lIns="0" tIns="0" rIns="0" bIns="0" rtlCol="0" anchor="ctr"/>
          <a:lstStyle/>
          <a:p>
            <a:pPr indent="0" marL="0">
              <a:buNone/>
            </a:pPr>
            <a:r>
              <a:rPr lang="en-US" sz="2200" b="1" dirty="0">
                <a:solidFill>
                  <a:srgbClr val="0F1E3D"/>
                </a:solidFill>
                <a:latin typeface="Calibri" pitchFamily="34" charset="0"/>
                <a:ea typeface="Calibri" pitchFamily="34" charset="-122"/>
                <a:cs typeface="Calibri" pitchFamily="34" charset="-120"/>
              </a:rPr>
              <a:t>Kenali Tuhan,</a:t>
            </a:r>
            <a:endParaRPr lang="en-US" sz="2200" dirty="0"/>
          </a:p>
          <a:p>
            <a:pPr indent="0" marL="0">
              <a:buNone/>
            </a:pPr>
            <a:r>
              <a:rPr lang="en-US" sz="2200" b="1" dirty="0">
                <a:solidFill>
                  <a:srgbClr val="9A6B0F"/>
                </a:solidFill>
                <a:latin typeface="Calibri" pitchFamily="34" charset="0"/>
                <a:ea typeface="Calibri" pitchFamily="34" charset="-122"/>
                <a:cs typeface="Calibri" pitchFamily="34" charset="-120"/>
              </a:rPr>
              <a:t>iaitu Allah.</a:t>
            </a:r>
            <a:endParaRPr lang="en-US" sz="2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5486400" cy="256032"/>
          </a:xfrm>
          <a:prstGeom prst="rect">
            <a:avLst/>
          </a:prstGeom>
          <a:noFill/>
          <a:ln/>
        </p:spPr>
        <p:txBody>
          <a:bodyPr wrap="square" lIns="0" tIns="0" rIns="0" bIns="0" rtlCol="0" anchor="t"/>
          <a:lstStyle/>
          <a:p>
            <a:pPr indent="0" marL="0">
              <a:buNone/>
            </a:pPr>
            <a:r>
              <a:rPr lang="en-US" sz="1100" b="1" spc="200" kern="0" dirty="0">
                <a:solidFill>
                  <a:srgbClr val="9A6B0F"/>
                </a:solidFill>
                <a:latin typeface="Calibri" pitchFamily="34" charset="0"/>
                <a:ea typeface="Calibri" pitchFamily="34" charset="-122"/>
                <a:cs typeface="Calibri" pitchFamily="34" charset="-120"/>
              </a:rPr>
              <a:t>BAGAIMANA MENGENALI ALLAH?</a:t>
            </a:r>
            <a:endParaRPr lang="en-US" sz="1100" dirty="0"/>
          </a:p>
        </p:txBody>
      </p:sp>
      <p:sp>
        <p:nvSpPr>
          <p:cNvPr id="3" name="Text 1"/>
          <p:cNvSpPr txBox="1"/>
          <p:nvPr/>
        </p:nvSpPr>
        <p:spPr>
          <a:xfrm>
            <a:off x="457200" y="603504"/>
            <a:ext cx="8229600" cy="566928"/>
          </a:xfrm>
          <a:prstGeom prst="rect">
            <a:avLst/>
          </a:prstGeom>
          <a:noFill/>
          <a:ln/>
        </p:spPr>
        <p:txBody>
          <a:bodyPr wrap="square" lIns="0" tIns="0" rIns="0" bIns="0" rtlCol="0" anchor="ctr"/>
          <a:lstStyle/>
          <a:p>
            <a:pPr indent="0" marL="0">
              <a:buNone/>
            </a:pPr>
            <a:r>
              <a:rPr lang="en-US" sz="2600" b="1" dirty="0">
                <a:solidFill>
                  <a:srgbClr val="0F1E3D"/>
                </a:solidFill>
                <a:latin typeface="Calibri" pitchFamily="34" charset="0"/>
                <a:ea typeface="Calibri" pitchFamily="34" charset="-122"/>
                <a:cs typeface="Calibri" pitchFamily="34" charset="-120"/>
              </a:rPr>
              <a:t>Belajar daripada ayat-ayat Allah</a:t>
            </a:r>
            <a:endParaRPr lang="en-US" sz="2600" dirty="0"/>
          </a:p>
        </p:txBody>
      </p:sp>
      <p:sp>
        <p:nvSpPr>
          <p:cNvPr id="4" name="Shape 2"/>
          <p:cNvSpPr/>
          <p:nvPr/>
        </p:nvSpPr>
        <p:spPr>
          <a:xfrm>
            <a:off x="457200" y="1280160"/>
            <a:ext cx="5120640" cy="3429000"/>
          </a:xfrm>
          <a:prstGeom prst="roundRect">
            <a:avLst>
              <a:gd name="adj" fmla="val 3200"/>
            </a:avLst>
          </a:prstGeom>
          <a:solidFill>
            <a:srgbClr val="FFFFFF"/>
          </a:solidFill>
          <a:ln w="9525">
            <a:solidFill>
              <a:srgbClr val="DCE3EC"/>
            </a:solidFill>
            <a:prstDash val="solid"/>
          </a:ln>
          <a:effectLst>
            <a:outerShdw sx="100000" sy="100000" kx="0" ky="0" algn="bl" rotWithShape="0" blurRad="101600" dist="25400" dir="5400000">
              <a:srgbClr val="0F1E3D">
                <a:alpha val="12000"/>
              </a:srgbClr>
            </a:outerShdw>
          </a:effectLst>
        </p:spPr>
      </p:sp>
      <p:pic>
        <p:nvPicPr>
          <p:cNvPr id="5" name="Image 0" descr="/tmp/claude-0/-home-user-Shukery-Azizan/b66663cb-20be-5bd3-935d-65edbae5e3fd/scratchpad/build/assets/a_8_2.png">    </p:cNvPr>
          <p:cNvPicPr>
            <a:picLocks noChangeAspect="1"/>
          </p:cNvPicPr>
          <p:nvPr/>
        </p:nvPicPr>
        <p:blipFill>
          <a:blip r:embed="rId1"/>
          <a:stretch>
            <a:fillRect/>
          </a:stretch>
        </p:blipFill>
        <p:spPr>
          <a:xfrm>
            <a:off x="685800" y="1535826"/>
            <a:ext cx="4663440" cy="997429"/>
          </a:xfrm>
          <a:prstGeom prst="rect">
            <a:avLst/>
          </a:prstGeom>
        </p:spPr>
      </p:pic>
      <p:sp>
        <p:nvSpPr>
          <p:cNvPr id="6" name="Text 3"/>
          <p:cNvSpPr txBox="1"/>
          <p:nvPr/>
        </p:nvSpPr>
        <p:spPr>
          <a:xfrm>
            <a:off x="685800" y="2642982"/>
            <a:ext cx="4663440" cy="1608978"/>
          </a:xfrm>
          <a:prstGeom prst="rect">
            <a:avLst/>
          </a:prstGeom>
          <a:noFill/>
          <a:ln/>
        </p:spPr>
        <p:txBody>
          <a:bodyPr wrap="square" lIns="0" tIns="0" rIns="0" bIns="0" rtlCol="0" anchor="t"/>
          <a:lstStyle/>
          <a:p>
            <a:pPr indent="0" marL="0">
              <a:spcAft>
                <a:spcPts val="400"/>
              </a:spcAft>
              <a:buNone/>
            </a:pPr>
            <a:r>
              <a:rPr lang="en-US" sz="1350" dirty="0">
                <a:solidFill>
                  <a:srgbClr val="16213A"/>
                </a:solidFill>
                <a:latin typeface="Calibri" pitchFamily="34" charset="0"/>
                <a:ea typeface="Calibri" pitchFamily="34" charset="-122"/>
                <a:cs typeface="Calibri" pitchFamily="34" charset="-120"/>
              </a:rPr>
              <a:t>Sesungguhnya orang-orang yang beriman itu (yang sempurna imannya) ialah mereka yang apabila </a:t>
            </a:r>
            <a:pPr indent="0" marL="0">
              <a:spcAft>
                <a:spcPts val="400"/>
              </a:spcAft>
              <a:buNone/>
            </a:pPr>
            <a:r>
              <a:rPr lang="en-US" sz="1350" b="1" dirty="0">
                <a:solidFill>
                  <a:srgbClr val="0F1E3D"/>
                </a:solidFill>
                <a:latin typeface="Calibri" pitchFamily="34" charset="0"/>
                <a:ea typeface="Calibri" pitchFamily="34" charset="-122"/>
                <a:cs typeface="Calibri" pitchFamily="34" charset="-120"/>
              </a:rPr>
              <a:t>disebut nama Allah (dan sifat-sifat-Nya) gementarlah hati mereka</a:t>
            </a:r>
            <a:pPr indent="0" marL="0">
              <a:spcAft>
                <a:spcPts val="400"/>
              </a:spcAft>
              <a:buNone/>
            </a:pPr>
            <a:r>
              <a:rPr lang="en-US" sz="1350" dirty="0">
                <a:solidFill>
                  <a:srgbClr val="16213A"/>
                </a:solidFill>
                <a:latin typeface="Calibri" pitchFamily="34" charset="0"/>
                <a:ea typeface="Calibri" pitchFamily="34" charset="-122"/>
                <a:cs typeface="Calibri" pitchFamily="34" charset="-120"/>
              </a:rPr>
              <a:t>; dan apabila </a:t>
            </a:r>
            <a:pPr indent="0" marL="0">
              <a:spcAft>
                <a:spcPts val="400"/>
              </a:spcAft>
              <a:buNone/>
            </a:pPr>
            <a:r>
              <a:rPr lang="en-US" sz="1350" b="1" dirty="0">
                <a:solidFill>
                  <a:srgbClr val="0F1E3D"/>
                </a:solidFill>
                <a:latin typeface="Calibri" pitchFamily="34" charset="0"/>
                <a:ea typeface="Calibri" pitchFamily="34" charset="-122"/>
                <a:cs typeface="Calibri" pitchFamily="34" charset="-120"/>
              </a:rPr>
              <a:t>dibacakan kepada mereka ayat-ayat-Nya, menjadikan mereka bertambah iman</a:t>
            </a:r>
            <a:pPr indent="0" marL="0">
              <a:spcAft>
                <a:spcPts val="400"/>
              </a:spcAft>
              <a:buNone/>
            </a:pPr>
            <a:r>
              <a:rPr lang="en-US" sz="1350" dirty="0">
                <a:solidFill>
                  <a:srgbClr val="16213A"/>
                </a:solidFill>
                <a:latin typeface="Calibri" pitchFamily="34" charset="0"/>
                <a:ea typeface="Calibri" pitchFamily="34" charset="-122"/>
                <a:cs typeface="Calibri" pitchFamily="34" charset="-120"/>
              </a:rPr>
              <a:t>, dan </a:t>
            </a:r>
            <a:pPr indent="0" marL="0">
              <a:spcAft>
                <a:spcPts val="400"/>
              </a:spcAft>
              <a:buNone/>
            </a:pPr>
            <a:r>
              <a:rPr lang="en-US" sz="1350" b="1" dirty="0">
                <a:solidFill>
                  <a:srgbClr val="0F1E3D"/>
                </a:solidFill>
                <a:latin typeface="Calibri" pitchFamily="34" charset="0"/>
                <a:ea typeface="Calibri" pitchFamily="34" charset="-122"/>
                <a:cs typeface="Calibri" pitchFamily="34" charset="-120"/>
              </a:rPr>
              <a:t>kepada Tuhan mereka jualah mereka berserah</a:t>
            </a:r>
            <a:pPr indent="0" marL="0">
              <a:spcAft>
                <a:spcPts val="400"/>
              </a:spcAft>
              <a:buNone/>
            </a:pPr>
            <a:r>
              <a:rPr lang="en-US" sz="1350" dirty="0">
                <a:solidFill>
                  <a:srgbClr val="16213A"/>
                </a:solidFill>
                <a:latin typeface="Calibri" pitchFamily="34" charset="0"/>
                <a:ea typeface="Calibri" pitchFamily="34" charset="-122"/>
                <a:cs typeface="Calibri" pitchFamily="34" charset="-120"/>
              </a:rPr>
              <a:t>.</a:t>
            </a:r>
            <a:endParaRPr lang="en-US" sz="1350" dirty="0"/>
          </a:p>
        </p:txBody>
      </p:sp>
      <p:sp>
        <p:nvSpPr>
          <p:cNvPr id="7" name="Text 4"/>
          <p:cNvSpPr txBox="1"/>
          <p:nvPr/>
        </p:nvSpPr>
        <p:spPr>
          <a:xfrm>
            <a:off x="685800" y="4325112"/>
            <a:ext cx="4663440" cy="237744"/>
          </a:xfrm>
          <a:prstGeom prst="rect">
            <a:avLst/>
          </a:prstGeom>
          <a:noFill/>
          <a:ln/>
        </p:spPr>
        <p:txBody>
          <a:bodyPr wrap="square" lIns="0" tIns="0" rIns="0" bIns="0" rtlCol="0" anchor="t"/>
          <a:lstStyle/>
          <a:p>
            <a:pPr algn="r" indent="0" marL="0">
              <a:buNone/>
            </a:pPr>
            <a:r>
              <a:rPr lang="en-US" sz="1150" b="1" dirty="0">
                <a:solidFill>
                  <a:srgbClr val="9A6B0F"/>
                </a:solidFill>
                <a:latin typeface="Calibri" pitchFamily="34" charset="0"/>
                <a:ea typeface="Calibri" pitchFamily="34" charset="-122"/>
                <a:cs typeface="Calibri" pitchFamily="34" charset="-120"/>
              </a:rPr>
              <a:t>Surah al-Anfal : 2</a:t>
            </a:r>
            <a:endParaRPr lang="en-US" sz="1150" dirty="0"/>
          </a:p>
        </p:txBody>
      </p:sp>
      <p:sp>
        <p:nvSpPr>
          <p:cNvPr id="8" name="Shape 5"/>
          <p:cNvSpPr/>
          <p:nvPr/>
        </p:nvSpPr>
        <p:spPr>
          <a:xfrm>
            <a:off x="5852160" y="1280160"/>
            <a:ext cx="2834640" cy="1005840"/>
          </a:xfrm>
          <a:prstGeom prst="roundRect">
            <a:avLst>
              <a:gd name="adj" fmla="val 10909"/>
            </a:avLst>
          </a:prstGeom>
          <a:solidFill>
            <a:srgbClr val="F3F6FA"/>
          </a:solidFill>
          <a:ln w="12700">
            <a:solidFill>
              <a:srgbClr val="F3F6FA"/>
            </a:solidFill>
            <a:prstDash val="solid"/>
          </a:ln>
        </p:spPr>
      </p:sp>
      <p:sp>
        <p:nvSpPr>
          <p:cNvPr id="9" name="Shape 6"/>
          <p:cNvSpPr/>
          <p:nvPr/>
        </p:nvSpPr>
        <p:spPr>
          <a:xfrm>
            <a:off x="5989320" y="1508760"/>
            <a:ext cx="548640" cy="548640"/>
          </a:xfrm>
          <a:prstGeom prst="ellipse">
            <a:avLst/>
          </a:prstGeom>
          <a:solidFill>
            <a:srgbClr val="0F1E3D"/>
          </a:solidFill>
          <a:ln w="12700">
            <a:solidFill>
              <a:srgbClr val="0F1E3D"/>
            </a:solidFill>
            <a:prstDash val="solid"/>
          </a:ln>
        </p:spPr>
      </p:sp>
      <p:pic>
        <p:nvPicPr>
          <p:cNvPr id="10" name="Image 1" descr="preencoded.png">    </p:cNvPr>
          <p:cNvPicPr>
            <a:picLocks noChangeAspect="1"/>
          </p:cNvPicPr>
          <p:nvPr/>
        </p:nvPicPr>
        <p:blipFill>
          <a:blip r:embed="rId2"/>
          <a:stretch>
            <a:fillRect/>
          </a:stretch>
        </p:blipFill>
        <p:spPr>
          <a:xfrm>
            <a:off x="6131966" y="1651406"/>
            <a:ext cx="263347" cy="263347"/>
          </a:xfrm>
          <a:prstGeom prst="rect">
            <a:avLst/>
          </a:prstGeom>
        </p:spPr>
      </p:pic>
      <p:sp>
        <p:nvSpPr>
          <p:cNvPr id="11" name="Text 7"/>
          <p:cNvSpPr txBox="1"/>
          <p:nvPr/>
        </p:nvSpPr>
        <p:spPr>
          <a:xfrm>
            <a:off x="6675120" y="1280160"/>
            <a:ext cx="1920240" cy="1005840"/>
          </a:xfrm>
          <a:prstGeom prst="rect">
            <a:avLst/>
          </a:prstGeom>
          <a:noFill/>
          <a:ln/>
        </p:spPr>
        <p:txBody>
          <a:bodyPr wrap="square" lIns="0" tIns="0" rIns="0" bIns="0" rtlCol="0" anchor="ctr"/>
          <a:lstStyle/>
          <a:p>
            <a:pPr indent="0" marL="0">
              <a:buNone/>
            </a:pPr>
            <a:r>
              <a:rPr lang="en-US" sz="1500" b="1" dirty="0">
                <a:solidFill>
                  <a:srgbClr val="0F1E3D"/>
                </a:solidFill>
                <a:latin typeface="Calibri" pitchFamily="34" charset="0"/>
                <a:ea typeface="Calibri" pitchFamily="34" charset="-122"/>
                <a:cs typeface="Calibri" pitchFamily="34" charset="-120"/>
              </a:rPr>
              <a:t>Hati gementar</a:t>
            </a:r>
            <a:endParaRPr lang="en-US" sz="1500" dirty="0"/>
          </a:p>
          <a:p>
            <a:pPr indent="0" marL="0">
              <a:buNone/>
            </a:pPr>
            <a:r>
              <a:rPr lang="en-US" sz="1200" dirty="0">
                <a:solidFill>
                  <a:srgbClr val="5A6880"/>
                </a:solidFill>
                <a:latin typeface="Calibri" pitchFamily="34" charset="0"/>
                <a:ea typeface="Calibri" pitchFamily="34" charset="-122"/>
                <a:cs typeface="Calibri" pitchFamily="34" charset="-120"/>
              </a:rPr>
              <a:t>bila disebut nama Allah</a:t>
            </a:r>
            <a:endParaRPr lang="en-US" sz="1500" dirty="0"/>
          </a:p>
        </p:txBody>
      </p:sp>
      <p:sp>
        <p:nvSpPr>
          <p:cNvPr id="12" name="Shape 8"/>
          <p:cNvSpPr/>
          <p:nvPr/>
        </p:nvSpPr>
        <p:spPr>
          <a:xfrm>
            <a:off x="5852160" y="2441448"/>
            <a:ext cx="2834640" cy="1005840"/>
          </a:xfrm>
          <a:prstGeom prst="roundRect">
            <a:avLst>
              <a:gd name="adj" fmla="val 10909"/>
            </a:avLst>
          </a:prstGeom>
          <a:solidFill>
            <a:srgbClr val="F3F6FA"/>
          </a:solidFill>
          <a:ln w="12700">
            <a:solidFill>
              <a:srgbClr val="F3F6FA"/>
            </a:solidFill>
            <a:prstDash val="solid"/>
          </a:ln>
        </p:spPr>
      </p:sp>
      <p:sp>
        <p:nvSpPr>
          <p:cNvPr id="13" name="Shape 9"/>
          <p:cNvSpPr/>
          <p:nvPr/>
        </p:nvSpPr>
        <p:spPr>
          <a:xfrm>
            <a:off x="5989320" y="2670048"/>
            <a:ext cx="548640" cy="548640"/>
          </a:xfrm>
          <a:prstGeom prst="ellipse">
            <a:avLst/>
          </a:prstGeom>
          <a:solidFill>
            <a:srgbClr val="0F1E3D"/>
          </a:solidFill>
          <a:ln w="12700">
            <a:solidFill>
              <a:srgbClr val="0F1E3D"/>
            </a:solidFill>
            <a:prstDash val="solid"/>
          </a:ln>
        </p:spPr>
      </p:sp>
      <p:pic>
        <p:nvPicPr>
          <p:cNvPr id="14" name="Image 2" descr="preencoded.png">    </p:cNvPr>
          <p:cNvPicPr>
            <a:picLocks noChangeAspect="1"/>
          </p:cNvPicPr>
          <p:nvPr/>
        </p:nvPicPr>
        <p:blipFill>
          <a:blip r:embed="rId3"/>
          <a:stretch>
            <a:fillRect/>
          </a:stretch>
        </p:blipFill>
        <p:spPr>
          <a:xfrm>
            <a:off x="6131966" y="2812694"/>
            <a:ext cx="263347" cy="263347"/>
          </a:xfrm>
          <a:prstGeom prst="rect">
            <a:avLst/>
          </a:prstGeom>
        </p:spPr>
      </p:pic>
      <p:sp>
        <p:nvSpPr>
          <p:cNvPr id="15" name="Text 10"/>
          <p:cNvSpPr txBox="1"/>
          <p:nvPr/>
        </p:nvSpPr>
        <p:spPr>
          <a:xfrm>
            <a:off x="6675120" y="2441448"/>
            <a:ext cx="1920240" cy="1005840"/>
          </a:xfrm>
          <a:prstGeom prst="rect">
            <a:avLst/>
          </a:prstGeom>
          <a:noFill/>
          <a:ln/>
        </p:spPr>
        <p:txBody>
          <a:bodyPr wrap="square" lIns="0" tIns="0" rIns="0" bIns="0" rtlCol="0" anchor="ctr"/>
          <a:lstStyle/>
          <a:p>
            <a:pPr indent="0" marL="0">
              <a:buNone/>
            </a:pPr>
            <a:r>
              <a:rPr lang="en-US" sz="1500" b="1" dirty="0">
                <a:solidFill>
                  <a:srgbClr val="0F1E3D"/>
                </a:solidFill>
                <a:latin typeface="Calibri" pitchFamily="34" charset="0"/>
                <a:ea typeface="Calibri" pitchFamily="34" charset="-122"/>
                <a:cs typeface="Calibri" pitchFamily="34" charset="-120"/>
              </a:rPr>
              <a:t>Iman bertambah</a:t>
            </a:r>
            <a:endParaRPr lang="en-US" sz="1500" dirty="0"/>
          </a:p>
          <a:p>
            <a:pPr indent="0" marL="0">
              <a:buNone/>
            </a:pPr>
            <a:r>
              <a:rPr lang="en-US" sz="1200" dirty="0">
                <a:solidFill>
                  <a:srgbClr val="5A6880"/>
                </a:solidFill>
                <a:latin typeface="Calibri" pitchFamily="34" charset="0"/>
                <a:ea typeface="Calibri" pitchFamily="34" charset="-122"/>
                <a:cs typeface="Calibri" pitchFamily="34" charset="-120"/>
              </a:rPr>
              <a:t>bila dibacakan ayat-Nya</a:t>
            </a:r>
            <a:endParaRPr lang="en-US" sz="1500" dirty="0"/>
          </a:p>
        </p:txBody>
      </p:sp>
      <p:sp>
        <p:nvSpPr>
          <p:cNvPr id="16" name="Shape 11"/>
          <p:cNvSpPr/>
          <p:nvPr/>
        </p:nvSpPr>
        <p:spPr>
          <a:xfrm>
            <a:off x="5852160" y="3602736"/>
            <a:ext cx="2834640" cy="1005840"/>
          </a:xfrm>
          <a:prstGeom prst="roundRect">
            <a:avLst>
              <a:gd name="adj" fmla="val 10909"/>
            </a:avLst>
          </a:prstGeom>
          <a:solidFill>
            <a:srgbClr val="F3F6FA"/>
          </a:solidFill>
          <a:ln w="12700">
            <a:solidFill>
              <a:srgbClr val="F3F6FA"/>
            </a:solidFill>
            <a:prstDash val="solid"/>
          </a:ln>
        </p:spPr>
      </p:sp>
      <p:sp>
        <p:nvSpPr>
          <p:cNvPr id="17" name="Shape 12"/>
          <p:cNvSpPr/>
          <p:nvPr/>
        </p:nvSpPr>
        <p:spPr>
          <a:xfrm>
            <a:off x="5989320" y="3831336"/>
            <a:ext cx="548640" cy="548640"/>
          </a:xfrm>
          <a:prstGeom prst="ellipse">
            <a:avLst/>
          </a:prstGeom>
          <a:solidFill>
            <a:srgbClr val="0F1E3D"/>
          </a:solidFill>
          <a:ln w="12700">
            <a:solidFill>
              <a:srgbClr val="0F1E3D"/>
            </a:solidFill>
            <a:prstDash val="solid"/>
          </a:ln>
        </p:spPr>
      </p:sp>
      <p:pic>
        <p:nvPicPr>
          <p:cNvPr id="18" name="Image 3" descr="preencoded.png">    </p:cNvPr>
          <p:cNvPicPr>
            <a:picLocks noChangeAspect="1"/>
          </p:cNvPicPr>
          <p:nvPr/>
        </p:nvPicPr>
        <p:blipFill>
          <a:blip r:embed="rId4"/>
          <a:stretch>
            <a:fillRect/>
          </a:stretch>
        </p:blipFill>
        <p:spPr>
          <a:xfrm>
            <a:off x="6131966" y="3973982"/>
            <a:ext cx="263347" cy="263347"/>
          </a:xfrm>
          <a:prstGeom prst="rect">
            <a:avLst/>
          </a:prstGeom>
        </p:spPr>
      </p:pic>
      <p:sp>
        <p:nvSpPr>
          <p:cNvPr id="19" name="Text 13"/>
          <p:cNvSpPr txBox="1"/>
          <p:nvPr/>
        </p:nvSpPr>
        <p:spPr>
          <a:xfrm>
            <a:off x="6675120" y="3602736"/>
            <a:ext cx="1920240" cy="1005840"/>
          </a:xfrm>
          <a:prstGeom prst="rect">
            <a:avLst/>
          </a:prstGeom>
          <a:noFill/>
          <a:ln/>
        </p:spPr>
        <p:txBody>
          <a:bodyPr wrap="square" lIns="0" tIns="0" rIns="0" bIns="0" rtlCol="0" anchor="ctr"/>
          <a:lstStyle/>
          <a:p>
            <a:pPr indent="0" marL="0">
              <a:buNone/>
            </a:pPr>
            <a:r>
              <a:rPr lang="en-US" sz="1500" b="1" dirty="0">
                <a:solidFill>
                  <a:srgbClr val="0F1E3D"/>
                </a:solidFill>
                <a:latin typeface="Calibri" pitchFamily="34" charset="0"/>
                <a:ea typeface="Calibri" pitchFamily="34" charset="-122"/>
                <a:cs typeface="Calibri" pitchFamily="34" charset="-120"/>
              </a:rPr>
              <a:t>Berserah</a:t>
            </a:r>
            <a:endParaRPr lang="en-US" sz="1500" dirty="0"/>
          </a:p>
          <a:p>
            <a:pPr indent="0" marL="0">
              <a:buNone/>
            </a:pPr>
            <a:r>
              <a:rPr lang="en-US" sz="1200" dirty="0">
                <a:solidFill>
                  <a:srgbClr val="5A6880"/>
                </a:solidFill>
                <a:latin typeface="Calibri" pitchFamily="34" charset="0"/>
                <a:ea typeface="Calibri" pitchFamily="34" charset="-122"/>
                <a:cs typeface="Calibri" pitchFamily="34" charset="-120"/>
              </a:rPr>
              <a:t>hanya kepada Tuhan</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tmp/claude-0/-home-user-Shukery-Azizan/b66663cb-20be-5bd3-935d-65edbae5e3fd/scratchpad/build/assets/dome.jpg">    </p:cNvPr>
          <p:cNvPicPr>
            <a:picLocks noChangeAspect="1"/>
          </p:cNvPicPr>
          <p:nvPr/>
        </p:nvPicPr>
        <p:blipFill>
          <a:blip r:embed="rId1"/>
          <a:stretch>
            <a:fillRect/>
          </a:stretch>
        </p:blipFill>
        <p:spPr>
          <a:xfrm>
            <a:off x="0" y="0"/>
            <a:ext cx="3840480" cy="5143500"/>
          </a:xfrm>
          <a:prstGeom prst="rect">
            <a:avLst/>
          </a:prstGeom>
        </p:spPr>
      </p:pic>
      <p:sp>
        <p:nvSpPr>
          <p:cNvPr id="3" name="Text 0"/>
          <p:cNvSpPr txBox="1"/>
          <p:nvPr/>
        </p:nvSpPr>
        <p:spPr>
          <a:xfrm>
            <a:off x="4297680" y="914400"/>
            <a:ext cx="914400" cy="868680"/>
          </a:xfrm>
          <a:prstGeom prst="rect">
            <a:avLst/>
          </a:prstGeom>
          <a:noFill/>
          <a:ln/>
        </p:spPr>
        <p:txBody>
          <a:bodyPr wrap="square" lIns="0" tIns="0" rIns="0" bIns="0" rtlCol="0" anchor="ctr"/>
          <a:lstStyle/>
          <a:p>
            <a:pPr indent="0" marL="0">
              <a:buNone/>
            </a:pPr>
            <a:r>
              <a:rPr lang="en-US" sz="6000" b="1" dirty="0">
                <a:solidFill>
                  <a:srgbClr val="D9A93A"/>
                </a:solidFill>
                <a:latin typeface="Calibri" pitchFamily="34" charset="0"/>
                <a:ea typeface="Calibri" pitchFamily="34" charset="-122"/>
                <a:cs typeface="Calibri" pitchFamily="34" charset="-120"/>
              </a:rPr>
              <a:t>2</a:t>
            </a:r>
            <a:endParaRPr lang="en-US" sz="6000" dirty="0"/>
          </a:p>
        </p:txBody>
      </p:sp>
      <p:sp>
        <p:nvSpPr>
          <p:cNvPr id="4" name="Text 1"/>
          <p:cNvSpPr txBox="1"/>
          <p:nvPr/>
        </p:nvSpPr>
        <p:spPr>
          <a:xfrm>
            <a:off x="4297680" y="1783080"/>
            <a:ext cx="4389120" cy="1280160"/>
          </a:xfrm>
          <a:prstGeom prst="rect">
            <a:avLst/>
          </a:prstGeom>
          <a:noFill/>
          <a:ln/>
        </p:spPr>
        <p:txBody>
          <a:bodyPr wrap="square" lIns="0" tIns="0" rIns="0" bIns="0" rtlCol="0" anchor="t"/>
          <a:lstStyle/>
          <a:p>
            <a:pPr indent="0" marL="0">
              <a:buNone/>
            </a:pPr>
            <a:r>
              <a:rPr lang="en-US" sz="3200" b="1" dirty="0">
                <a:solidFill>
                  <a:srgbClr val="0F1E3D"/>
                </a:solidFill>
                <a:latin typeface="Calibri" pitchFamily="34" charset="0"/>
                <a:ea typeface="Calibri" pitchFamily="34" charset="-122"/>
                <a:cs typeface="Calibri" pitchFamily="34" charset="-120"/>
              </a:rPr>
              <a:t>Taubat dengan meninggalkan maksiat</a:t>
            </a:r>
            <a:endParaRPr lang="en-US" sz="3200" dirty="0"/>
          </a:p>
        </p:txBody>
      </p:sp>
      <p:sp>
        <p:nvSpPr>
          <p:cNvPr id="5" name="Shape 2"/>
          <p:cNvSpPr/>
          <p:nvPr/>
        </p:nvSpPr>
        <p:spPr>
          <a:xfrm>
            <a:off x="4297680" y="3337560"/>
            <a:ext cx="685800" cy="685800"/>
          </a:xfrm>
          <a:prstGeom prst="ellipse">
            <a:avLst/>
          </a:prstGeom>
          <a:solidFill>
            <a:srgbClr val="FBF3DF"/>
          </a:solidFill>
          <a:ln w="12700">
            <a:solidFill>
              <a:srgbClr val="FBF3DF"/>
            </a:solidFill>
            <a:prstDash val="solid"/>
          </a:ln>
        </p:spPr>
      </p:sp>
      <p:pic>
        <p:nvPicPr>
          <p:cNvPr id="6" name="Image 1" descr="preencoded.png">    </p:cNvPr>
          <p:cNvPicPr>
            <a:picLocks noChangeAspect="1"/>
          </p:cNvPicPr>
          <p:nvPr/>
        </p:nvPicPr>
        <p:blipFill>
          <a:blip r:embed="rId2"/>
          <a:stretch>
            <a:fillRect/>
          </a:stretch>
        </p:blipFill>
        <p:spPr>
          <a:xfrm>
            <a:off x="4475988" y="3515868"/>
            <a:ext cx="329184" cy="329184"/>
          </a:xfrm>
          <a:prstGeom prst="rect">
            <a:avLst/>
          </a:prstGeom>
        </p:spPr>
      </p:pic>
      <p:sp>
        <p:nvSpPr>
          <p:cNvPr id="7" name="Text 3"/>
          <p:cNvSpPr txBox="1"/>
          <p:nvPr/>
        </p:nvSpPr>
        <p:spPr>
          <a:xfrm>
            <a:off x="5120640" y="3246120"/>
            <a:ext cx="3566160" cy="868680"/>
          </a:xfrm>
          <a:prstGeom prst="rect">
            <a:avLst/>
          </a:prstGeom>
          <a:noFill/>
          <a:ln/>
        </p:spPr>
        <p:txBody>
          <a:bodyPr wrap="square" lIns="0" tIns="0" rIns="0" bIns="0" rtlCol="0" anchor="ctr"/>
          <a:lstStyle/>
          <a:p>
            <a:pPr indent="0" marL="0">
              <a:buNone/>
            </a:pPr>
            <a:r>
              <a:rPr lang="en-US" sz="1400" dirty="0">
                <a:solidFill>
                  <a:srgbClr val="5A6880"/>
                </a:solidFill>
                <a:latin typeface="Calibri" pitchFamily="34" charset="0"/>
                <a:ea typeface="Calibri" pitchFamily="34" charset="-122"/>
                <a:cs typeface="Calibri" pitchFamily="34" charset="-120"/>
              </a:rPr>
              <a:t>Taubat bukan sekadar menyesal — ia bermula dengan meninggalkan maksiat itu.</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F1E3D"/>
        </a:solidFill>
      </p:bgPr>
    </p:bg>
    <p:spTree>
      <p:nvGrpSpPr>
        <p:cNvPr id="1" name=""/>
        <p:cNvGrpSpPr/>
        <p:nvPr/>
      </p:nvGrpSpPr>
      <p:grpSpPr>
        <a:xfrm>
          <a:off x="0" y="0"/>
          <a:ext cx="0" cy="0"/>
          <a:chOff x="0" y="0"/>
          <a:chExt cx="0" cy="0"/>
        </a:xfrm>
      </p:grpSpPr>
      <p:pic>
        <p:nvPicPr>
          <p:cNvPr id="2" name="Image 0" descr="/tmp/claude-0/-home-user-Shukery-Azizan/b66663cb-20be-5bd3-935d-65edbae5e3fd/scratchpad/build/assets/pray.jp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F1E3D">
              <a:alpha val="65000"/>
            </a:srgbClr>
          </a:solidFill>
          <a:ln w="12700">
            <a:solidFill>
              <a:srgbClr val="0F1E3D"/>
            </a:solidFill>
            <a:prstDash val="solid"/>
          </a:ln>
        </p:spPr>
      </p:sp>
      <p:sp>
        <p:nvSpPr>
          <p:cNvPr id="4" name="Text 1"/>
          <p:cNvSpPr txBox="1"/>
          <p:nvPr/>
        </p:nvSpPr>
        <p:spPr>
          <a:xfrm>
            <a:off x="640080" y="548640"/>
            <a:ext cx="914400" cy="868680"/>
          </a:xfrm>
          <a:prstGeom prst="rect">
            <a:avLst/>
          </a:prstGeom>
          <a:noFill/>
          <a:ln/>
        </p:spPr>
        <p:txBody>
          <a:bodyPr wrap="square" lIns="0" tIns="0" rIns="0" bIns="0" rtlCol="0" anchor="ctr"/>
          <a:lstStyle/>
          <a:p>
            <a:pPr indent="0" marL="0">
              <a:buNone/>
            </a:pPr>
            <a:r>
              <a:rPr lang="en-US" sz="6000" b="1" dirty="0">
                <a:solidFill>
                  <a:srgbClr val="D9A93A"/>
                </a:solidFill>
                <a:latin typeface="Calibri" pitchFamily="34" charset="0"/>
                <a:ea typeface="Calibri" pitchFamily="34" charset="-122"/>
                <a:cs typeface="Calibri" pitchFamily="34" charset="-120"/>
              </a:rPr>
              <a:t>3</a:t>
            </a:r>
            <a:endParaRPr lang="en-US" sz="6000" dirty="0"/>
          </a:p>
        </p:txBody>
      </p:sp>
      <p:sp>
        <p:nvSpPr>
          <p:cNvPr id="5" name="Text 2"/>
          <p:cNvSpPr txBox="1"/>
          <p:nvPr/>
        </p:nvSpPr>
        <p:spPr>
          <a:xfrm>
            <a:off x="640080" y="1371600"/>
            <a:ext cx="5486400" cy="73152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Jaga solat</a:t>
            </a:r>
            <a:endParaRPr lang="en-US" sz="4000" dirty="0"/>
          </a:p>
        </p:txBody>
      </p:sp>
      <p:sp>
        <p:nvSpPr>
          <p:cNvPr id="6" name="Shape 3"/>
          <p:cNvSpPr/>
          <p:nvPr/>
        </p:nvSpPr>
        <p:spPr>
          <a:xfrm>
            <a:off x="640080" y="2514600"/>
            <a:ext cx="5120640" cy="1691640"/>
          </a:xfrm>
          <a:prstGeom prst="roundRect">
            <a:avLst>
              <a:gd name="adj" fmla="val 8108"/>
            </a:avLst>
          </a:prstGeom>
          <a:solidFill>
            <a:srgbClr val="0F1E3D">
              <a:alpha val="85000"/>
            </a:srgbClr>
          </a:solidFill>
          <a:ln w="19050">
            <a:solidFill>
              <a:srgbClr val="D9A93A"/>
            </a:solidFill>
            <a:prstDash val="solid"/>
          </a:ln>
        </p:spPr>
      </p:sp>
      <p:sp>
        <p:nvSpPr>
          <p:cNvPr id="7" name="Text 4"/>
          <p:cNvSpPr txBox="1"/>
          <p:nvPr/>
        </p:nvSpPr>
        <p:spPr>
          <a:xfrm>
            <a:off x="914400" y="2514600"/>
            <a:ext cx="4572000" cy="1691640"/>
          </a:xfrm>
          <a:prstGeom prst="rect">
            <a:avLst/>
          </a:prstGeom>
          <a:noFill/>
          <a:ln/>
        </p:spPr>
        <p:txBody>
          <a:bodyPr wrap="square" lIns="0" tIns="0" rIns="0" bIns="0" rtlCol="0" anchor="ctr"/>
          <a:lstStyle/>
          <a:p>
            <a:pPr indent="0" marL="0">
              <a:buNone/>
            </a:pPr>
            <a:r>
              <a:rPr lang="en-US" sz="2400" b="1" i="1" dirty="0">
                <a:solidFill>
                  <a:srgbClr val="FFFFFF"/>
                </a:solidFill>
                <a:latin typeface="Calibri" pitchFamily="34" charset="0"/>
                <a:ea typeface="Calibri" pitchFamily="34" charset="-122"/>
                <a:cs typeface="Calibri" pitchFamily="34" charset="-120"/>
              </a:rPr>
              <a:t>Kita solat bukan sebab kita baik, tetapi sebab kita </a:t>
            </a:r>
            <a:pPr indent="0" marL="0">
              <a:buNone/>
            </a:pPr>
            <a:r>
              <a:rPr lang="en-US" sz="2400" b="1" i="1" dirty="0">
                <a:solidFill>
                  <a:srgbClr val="D9A93A"/>
                </a:solidFill>
                <a:latin typeface="Calibri" pitchFamily="34" charset="0"/>
                <a:ea typeface="Calibri" pitchFamily="34" charset="-122"/>
                <a:cs typeface="Calibri" pitchFamily="34" charset="-120"/>
              </a:rPr>
              <a:t>hamba.</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tmp/claude-0/-home-user-Shukery-Azizan/b66663cb-20be-5bd3-935d-65edbae5e3fd/scratchpad/build/assets/helmet.jpg">    </p:cNvPr>
          <p:cNvPicPr>
            <a:picLocks noChangeAspect="1"/>
          </p:cNvPicPr>
          <p:nvPr/>
        </p:nvPicPr>
        <p:blipFill>
          <a:blip r:embed="rId1"/>
          <a:stretch>
            <a:fillRect/>
          </a:stretch>
        </p:blipFill>
        <p:spPr>
          <a:xfrm>
            <a:off x="0" y="0"/>
            <a:ext cx="3291840" cy="5143500"/>
          </a:xfrm>
          <a:prstGeom prst="rect">
            <a:avLst/>
          </a:prstGeom>
        </p:spPr>
      </p:pic>
      <p:sp>
        <p:nvSpPr>
          <p:cNvPr id="3" name="Text 0"/>
          <p:cNvSpPr txBox="1"/>
          <p:nvPr/>
        </p:nvSpPr>
        <p:spPr>
          <a:xfrm>
            <a:off x="3657600" y="320040"/>
            <a:ext cx="731520" cy="731520"/>
          </a:xfrm>
          <a:prstGeom prst="rect">
            <a:avLst/>
          </a:prstGeom>
          <a:noFill/>
          <a:ln/>
        </p:spPr>
        <p:txBody>
          <a:bodyPr wrap="square" lIns="0" tIns="0" rIns="0" bIns="0" rtlCol="0" anchor="ctr"/>
          <a:lstStyle/>
          <a:p>
            <a:pPr indent="0" marL="0">
              <a:buNone/>
            </a:pPr>
            <a:r>
              <a:rPr lang="en-US" sz="4800" b="1" dirty="0">
                <a:solidFill>
                  <a:srgbClr val="D9A93A"/>
                </a:solidFill>
                <a:latin typeface="Calibri" pitchFamily="34" charset="0"/>
                <a:ea typeface="Calibri" pitchFamily="34" charset="-122"/>
                <a:cs typeface="Calibri" pitchFamily="34" charset="-120"/>
              </a:rPr>
              <a:t>4</a:t>
            </a:r>
            <a:endParaRPr lang="en-US" sz="4800" dirty="0"/>
          </a:p>
        </p:txBody>
      </p:sp>
      <p:sp>
        <p:nvSpPr>
          <p:cNvPr id="4" name="Text 1"/>
          <p:cNvSpPr txBox="1"/>
          <p:nvPr/>
        </p:nvSpPr>
        <p:spPr>
          <a:xfrm>
            <a:off x="4343400" y="320040"/>
            <a:ext cx="4114800" cy="731520"/>
          </a:xfrm>
          <a:prstGeom prst="rect">
            <a:avLst/>
          </a:prstGeom>
          <a:noFill/>
          <a:ln/>
        </p:spPr>
        <p:txBody>
          <a:bodyPr wrap="square" lIns="0" tIns="0" rIns="0" bIns="0" rtlCol="0" anchor="ctr"/>
          <a:lstStyle/>
          <a:p>
            <a:pPr indent="0" marL="0">
              <a:buNone/>
            </a:pPr>
            <a:r>
              <a:rPr lang="en-US" sz="3200" b="1" dirty="0">
                <a:solidFill>
                  <a:srgbClr val="0F1E3D"/>
                </a:solidFill>
                <a:latin typeface="Calibri" pitchFamily="34" charset="0"/>
                <a:ea typeface="Calibri" pitchFamily="34" charset="-122"/>
                <a:cs typeface="Calibri" pitchFamily="34" charset="-120"/>
              </a:rPr>
              <a:t>Istighfar</a:t>
            </a:r>
            <a:endParaRPr lang="en-US" sz="3200" dirty="0"/>
          </a:p>
        </p:txBody>
      </p:sp>
      <p:sp>
        <p:nvSpPr>
          <p:cNvPr id="5" name="Text 2"/>
          <p:cNvSpPr txBox="1"/>
          <p:nvPr/>
        </p:nvSpPr>
        <p:spPr>
          <a:xfrm>
            <a:off x="3657600" y="1051560"/>
            <a:ext cx="5029200" cy="320040"/>
          </a:xfrm>
          <a:prstGeom prst="rect">
            <a:avLst/>
          </a:prstGeom>
          <a:noFill/>
          <a:ln/>
        </p:spPr>
        <p:txBody>
          <a:bodyPr wrap="square" lIns="0" tIns="0" rIns="0" bIns="0" rtlCol="0" anchor="t"/>
          <a:lstStyle/>
          <a:p>
            <a:pPr indent="0" marL="0">
              <a:buNone/>
            </a:pPr>
            <a:r>
              <a:rPr lang="en-US" sz="1400" dirty="0">
                <a:solidFill>
                  <a:srgbClr val="5A6880"/>
                </a:solidFill>
                <a:latin typeface="Calibri" pitchFamily="34" charset="0"/>
                <a:ea typeface="Calibri" pitchFamily="34" charset="-122"/>
                <a:cs typeface="Calibri" pitchFamily="34" charset="-120"/>
              </a:rPr>
              <a:t>Meraih maghfirah (keampunan) dengan istighfar</a:t>
            </a:r>
            <a:endParaRPr lang="en-US" sz="1400" dirty="0"/>
          </a:p>
        </p:txBody>
      </p:sp>
      <p:sp>
        <p:nvSpPr>
          <p:cNvPr id="6" name="Shape 3"/>
          <p:cNvSpPr/>
          <p:nvPr/>
        </p:nvSpPr>
        <p:spPr>
          <a:xfrm>
            <a:off x="3657600" y="1600200"/>
            <a:ext cx="2103120" cy="1920240"/>
          </a:xfrm>
          <a:prstGeom prst="roundRect">
            <a:avLst>
              <a:gd name="adj" fmla="val 5714"/>
            </a:avLst>
          </a:prstGeom>
          <a:solidFill>
            <a:srgbClr val="FFFFFF"/>
          </a:solidFill>
          <a:ln w="9525">
            <a:solidFill>
              <a:srgbClr val="DCE3EC"/>
            </a:solidFill>
            <a:prstDash val="solid"/>
          </a:ln>
          <a:effectLst>
            <a:outerShdw sx="100000" sy="100000" kx="0" ky="0" algn="bl" rotWithShape="0" blurRad="101600" dist="25400" dir="5400000">
              <a:srgbClr val="0F1E3D">
                <a:alpha val="12000"/>
              </a:srgbClr>
            </a:outerShdw>
          </a:effectLst>
        </p:spPr>
      </p:sp>
      <p:pic>
        <p:nvPicPr>
          <p:cNvPr id="7" name="Image 1" descr="/tmp/claude-0/-home-user-Shukery-Azizan/b66663cb-20be-5bd3-935d-65edbae5e3fd/scratchpad/build/assets/a_maghfirah.png">    </p:cNvPr>
          <p:cNvPicPr>
            <a:picLocks noChangeAspect="1"/>
          </p:cNvPicPr>
          <p:nvPr/>
        </p:nvPicPr>
        <p:blipFill>
          <a:blip r:embed="rId2"/>
          <a:stretch>
            <a:fillRect/>
          </a:stretch>
        </p:blipFill>
        <p:spPr>
          <a:xfrm>
            <a:off x="4222647" y="1737360"/>
            <a:ext cx="973026" cy="868680"/>
          </a:xfrm>
          <a:prstGeom prst="rect">
            <a:avLst/>
          </a:prstGeom>
        </p:spPr>
      </p:pic>
      <p:sp>
        <p:nvSpPr>
          <p:cNvPr id="8" name="Text 4"/>
          <p:cNvSpPr txBox="1"/>
          <p:nvPr/>
        </p:nvSpPr>
        <p:spPr>
          <a:xfrm>
            <a:off x="3657600" y="2697480"/>
            <a:ext cx="2103120" cy="320040"/>
          </a:xfrm>
          <a:prstGeom prst="rect">
            <a:avLst/>
          </a:prstGeom>
          <a:noFill/>
          <a:ln/>
        </p:spPr>
        <p:txBody>
          <a:bodyPr wrap="square" lIns="0" tIns="0" rIns="0" bIns="0" rtlCol="0" anchor="t"/>
          <a:lstStyle/>
          <a:p>
            <a:pPr algn="ctr" indent="0" marL="0">
              <a:buNone/>
            </a:pPr>
            <a:r>
              <a:rPr lang="en-US" sz="1600" b="1" dirty="0">
                <a:solidFill>
                  <a:srgbClr val="0F1E3D"/>
                </a:solidFill>
                <a:latin typeface="Calibri" pitchFamily="34" charset="0"/>
                <a:ea typeface="Calibri" pitchFamily="34" charset="-122"/>
                <a:cs typeface="Calibri" pitchFamily="34" charset="-120"/>
              </a:rPr>
              <a:t>Maghfirah</a:t>
            </a:r>
            <a:endParaRPr lang="en-US" sz="1600" dirty="0"/>
          </a:p>
        </p:txBody>
      </p:sp>
      <p:sp>
        <p:nvSpPr>
          <p:cNvPr id="9" name="Text 5"/>
          <p:cNvSpPr txBox="1"/>
          <p:nvPr/>
        </p:nvSpPr>
        <p:spPr>
          <a:xfrm>
            <a:off x="3657600" y="2999232"/>
            <a:ext cx="2103120" cy="274320"/>
          </a:xfrm>
          <a:prstGeom prst="rect">
            <a:avLst/>
          </a:prstGeom>
          <a:noFill/>
          <a:ln/>
        </p:spPr>
        <p:txBody>
          <a:bodyPr wrap="square" lIns="0" tIns="0" rIns="0" bIns="0" rtlCol="0" anchor="t"/>
          <a:lstStyle/>
          <a:p>
            <a:pPr algn="ctr" indent="0" marL="0">
              <a:buNone/>
            </a:pPr>
            <a:r>
              <a:rPr lang="en-US" sz="1200" dirty="0">
                <a:solidFill>
                  <a:srgbClr val="5A6880"/>
                </a:solidFill>
                <a:latin typeface="Calibri" pitchFamily="34" charset="0"/>
                <a:ea typeface="Calibri" pitchFamily="34" charset="-122"/>
                <a:cs typeface="Calibri" pitchFamily="34" charset="-120"/>
              </a:rPr>
              <a:t>keampunan</a:t>
            </a:r>
            <a:endParaRPr lang="en-US" sz="1200" dirty="0"/>
          </a:p>
        </p:txBody>
      </p:sp>
      <p:sp>
        <p:nvSpPr>
          <p:cNvPr id="10" name="Text 6"/>
          <p:cNvSpPr txBox="1"/>
          <p:nvPr/>
        </p:nvSpPr>
        <p:spPr>
          <a:xfrm>
            <a:off x="5760720" y="2377440"/>
            <a:ext cx="822960" cy="457200"/>
          </a:xfrm>
          <a:prstGeom prst="rect">
            <a:avLst/>
          </a:prstGeom>
          <a:noFill/>
          <a:ln/>
        </p:spPr>
        <p:txBody>
          <a:bodyPr wrap="square" lIns="0" tIns="0" rIns="0" bIns="0" rtlCol="0" anchor="ctr"/>
          <a:lstStyle/>
          <a:p>
            <a:pPr algn="ctr" indent="0" marL="0">
              <a:buNone/>
            </a:pPr>
            <a:r>
              <a:rPr lang="en-US" sz="1050" dirty="0">
                <a:solidFill>
                  <a:srgbClr val="5A6880"/>
                </a:solidFill>
                <a:latin typeface="Calibri" pitchFamily="34" charset="0"/>
                <a:ea typeface="Calibri" pitchFamily="34" charset="-122"/>
                <a:cs typeface="Calibri" pitchFamily="34" charset="-120"/>
              </a:rPr>
              <a:t>berasal daripada</a:t>
            </a:r>
            <a:endParaRPr lang="en-US" sz="1050" dirty="0"/>
          </a:p>
        </p:txBody>
      </p:sp>
      <p:pic>
        <p:nvPicPr>
          <p:cNvPr id="11" name="Image 2" descr="preencoded.png">    </p:cNvPr>
          <p:cNvPicPr>
            <a:picLocks noChangeAspect="1"/>
          </p:cNvPicPr>
          <p:nvPr/>
        </p:nvPicPr>
        <p:blipFill>
          <a:blip r:embed="rId3"/>
          <a:stretch>
            <a:fillRect/>
          </a:stretch>
        </p:blipFill>
        <p:spPr>
          <a:xfrm>
            <a:off x="5989320" y="2011680"/>
            <a:ext cx="365760" cy="365760"/>
          </a:xfrm>
          <a:prstGeom prst="rect">
            <a:avLst/>
          </a:prstGeom>
        </p:spPr>
      </p:pic>
      <p:sp>
        <p:nvSpPr>
          <p:cNvPr id="12" name="Shape 7"/>
          <p:cNvSpPr/>
          <p:nvPr/>
        </p:nvSpPr>
        <p:spPr>
          <a:xfrm>
            <a:off x="6583680" y="1600200"/>
            <a:ext cx="2103120" cy="1920240"/>
          </a:xfrm>
          <a:prstGeom prst="roundRect">
            <a:avLst>
              <a:gd name="adj" fmla="val 5714"/>
            </a:avLst>
          </a:prstGeom>
          <a:solidFill>
            <a:srgbClr val="0F1E3D"/>
          </a:solidFill>
          <a:ln w="12700">
            <a:solidFill>
              <a:srgbClr val="0F1E3D"/>
            </a:solidFill>
            <a:prstDash val="solid"/>
          </a:ln>
          <a:effectLst>
            <a:outerShdw sx="100000" sy="100000" kx="0" ky="0" algn="bl" rotWithShape="0" blurRad="101600" dist="25400" dir="5400000">
              <a:srgbClr val="0F1E3D">
                <a:alpha val="12000"/>
              </a:srgbClr>
            </a:outerShdw>
          </a:effectLst>
        </p:spPr>
      </p:sp>
      <p:pic>
        <p:nvPicPr>
          <p:cNvPr id="13" name="Image 3" descr="/tmp/claude-0/-home-user-Shukery-Azizan/b66663cb-20be-5bd3-935d-65edbae5e3fd/scratchpad/build/assets/a_mighfar.png">    </p:cNvPr>
          <p:cNvPicPr>
            <a:picLocks noChangeAspect="1"/>
          </p:cNvPicPr>
          <p:nvPr/>
        </p:nvPicPr>
        <p:blipFill>
          <a:blip r:embed="rId4"/>
          <a:stretch>
            <a:fillRect/>
          </a:stretch>
        </p:blipFill>
        <p:spPr>
          <a:xfrm>
            <a:off x="7232204" y="1737360"/>
            <a:ext cx="806072" cy="868680"/>
          </a:xfrm>
          <a:prstGeom prst="rect">
            <a:avLst/>
          </a:prstGeom>
        </p:spPr>
      </p:pic>
      <p:sp>
        <p:nvSpPr>
          <p:cNvPr id="14" name="Text 8"/>
          <p:cNvSpPr txBox="1"/>
          <p:nvPr/>
        </p:nvSpPr>
        <p:spPr>
          <a:xfrm>
            <a:off x="6583680" y="2697480"/>
            <a:ext cx="2103120" cy="3200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Mighfar</a:t>
            </a:r>
            <a:endParaRPr lang="en-US" sz="1600" dirty="0"/>
          </a:p>
        </p:txBody>
      </p:sp>
      <p:sp>
        <p:nvSpPr>
          <p:cNvPr id="15" name="Text 9"/>
          <p:cNvSpPr txBox="1"/>
          <p:nvPr/>
        </p:nvSpPr>
        <p:spPr>
          <a:xfrm>
            <a:off x="6583680" y="2999232"/>
            <a:ext cx="2103120" cy="274320"/>
          </a:xfrm>
          <a:prstGeom prst="rect">
            <a:avLst/>
          </a:prstGeom>
          <a:noFill/>
          <a:ln/>
        </p:spPr>
        <p:txBody>
          <a:bodyPr wrap="square" lIns="0" tIns="0" rIns="0" bIns="0" rtlCol="0" anchor="t"/>
          <a:lstStyle/>
          <a:p>
            <a:pPr algn="ctr" indent="0" marL="0">
              <a:buNone/>
            </a:pPr>
            <a:r>
              <a:rPr lang="en-US" sz="1200" dirty="0">
                <a:solidFill>
                  <a:srgbClr val="C9D3E6"/>
                </a:solidFill>
                <a:latin typeface="Calibri" pitchFamily="34" charset="0"/>
                <a:ea typeface="Calibri" pitchFamily="34" charset="-122"/>
                <a:cs typeface="Calibri" pitchFamily="34" charset="-120"/>
              </a:rPr>
              <a:t>topi besi (helmet) tentera</a:t>
            </a:r>
            <a:endParaRPr lang="en-US" sz="1200" dirty="0"/>
          </a:p>
        </p:txBody>
      </p:sp>
      <p:sp>
        <p:nvSpPr>
          <p:cNvPr id="16" name="Shape 10"/>
          <p:cNvSpPr/>
          <p:nvPr/>
        </p:nvSpPr>
        <p:spPr>
          <a:xfrm>
            <a:off x="3657600" y="3794760"/>
            <a:ext cx="5029200" cy="868680"/>
          </a:xfrm>
          <a:prstGeom prst="roundRect">
            <a:avLst>
              <a:gd name="adj" fmla="val 12632"/>
            </a:avLst>
          </a:prstGeom>
          <a:solidFill>
            <a:srgbClr val="FBF3DF"/>
          </a:solidFill>
          <a:ln w="12700">
            <a:solidFill>
              <a:srgbClr val="FBF3DF"/>
            </a:solidFill>
            <a:prstDash val="solid"/>
          </a:ln>
        </p:spPr>
      </p:sp>
      <p:sp>
        <p:nvSpPr>
          <p:cNvPr id="17" name="Text 11"/>
          <p:cNvSpPr txBox="1"/>
          <p:nvPr/>
        </p:nvSpPr>
        <p:spPr>
          <a:xfrm>
            <a:off x="3886200" y="3794760"/>
            <a:ext cx="4663440" cy="868680"/>
          </a:xfrm>
          <a:prstGeom prst="rect">
            <a:avLst/>
          </a:prstGeom>
          <a:noFill/>
          <a:ln/>
        </p:spPr>
        <p:txBody>
          <a:bodyPr wrap="square" lIns="0" tIns="0" rIns="0" bIns="0" rtlCol="0" anchor="ctr"/>
          <a:lstStyle/>
          <a:p>
            <a:pPr indent="0" marL="0">
              <a:buNone/>
            </a:pPr>
            <a:r>
              <a:rPr lang="en-US" sz="1400" b="1" dirty="0">
                <a:solidFill>
                  <a:srgbClr val="0F1E3D"/>
                </a:solidFill>
                <a:latin typeface="Calibri" pitchFamily="34" charset="0"/>
                <a:ea typeface="Calibri" pitchFamily="34" charset="-122"/>
                <a:cs typeface="Calibri" pitchFamily="34" charset="-120"/>
              </a:rPr>
              <a:t>Jadi, apa fungsi sebuah helmet? Itulah yang kita minta setiap kali beristighfar.</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1E3D"/>
        </a:solidFill>
      </p:bgPr>
    </p:bg>
    <p:spTree>
      <p:nvGrpSpPr>
        <p:cNvPr id="1" name=""/>
        <p:cNvGrpSpPr/>
        <p:nvPr/>
      </p:nvGrpSpPr>
      <p:grpSpPr>
        <a:xfrm>
          <a:off x="0" y="0"/>
          <a:ext cx="0" cy="0"/>
          <a:chOff x="0" y="0"/>
          <a:chExt cx="0" cy="0"/>
        </a:xfrm>
      </p:grpSpPr>
      <p:pic>
        <p:nvPicPr>
          <p:cNvPr id="2" name="Image 0" descr="/tmp/claude-0/-home-user-Shukery-Azizan/b66663cb-20be-5bd3-935d-65edbae5e3fd/scratchpad/build/assets/pattern.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txBox="1"/>
          <p:nvPr/>
        </p:nvSpPr>
        <p:spPr>
          <a:xfrm>
            <a:off x="457200" y="411480"/>
            <a:ext cx="8229600" cy="256032"/>
          </a:xfrm>
          <a:prstGeom prst="rect">
            <a:avLst/>
          </a:prstGeom>
          <a:noFill/>
          <a:ln/>
        </p:spPr>
        <p:txBody>
          <a:bodyPr wrap="square" lIns="0" tIns="0" rIns="0" bIns="0" rtlCol="0" anchor="t"/>
          <a:lstStyle/>
          <a:p>
            <a:pPr indent="0" marL="0">
              <a:buNone/>
            </a:pPr>
            <a:r>
              <a:rPr lang="en-US" sz="1100" b="1" spc="200" kern="0" dirty="0">
                <a:solidFill>
                  <a:srgbClr val="D9A93A"/>
                </a:solidFill>
                <a:latin typeface="Calibri" pitchFamily="34" charset="0"/>
                <a:ea typeface="Calibri" pitchFamily="34" charset="-122"/>
                <a:cs typeface="Calibri" pitchFamily="34" charset="-120"/>
              </a:rPr>
              <a:t>FUNGSI HELMET = ISI PERMINTAAN ISTIGHFAR</a:t>
            </a:r>
            <a:endParaRPr lang="en-US" sz="1100" dirty="0"/>
          </a:p>
        </p:txBody>
      </p:sp>
      <p:sp>
        <p:nvSpPr>
          <p:cNvPr id="4" name="Text 1"/>
          <p:cNvSpPr txBox="1"/>
          <p:nvPr/>
        </p:nvSpPr>
        <p:spPr>
          <a:xfrm>
            <a:off x="457200" y="68580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Bila beristighfar, kita minta 2 perkara</a:t>
            </a:r>
            <a:endParaRPr lang="en-US" sz="2800" dirty="0"/>
          </a:p>
        </p:txBody>
      </p:sp>
      <p:sp>
        <p:nvSpPr>
          <p:cNvPr id="5" name="Shape 2"/>
          <p:cNvSpPr/>
          <p:nvPr/>
        </p:nvSpPr>
        <p:spPr>
          <a:xfrm>
            <a:off x="457200" y="1508760"/>
            <a:ext cx="3977640" cy="3154680"/>
          </a:xfrm>
          <a:prstGeom prst="roundRect">
            <a:avLst>
              <a:gd name="adj" fmla="val 4348"/>
            </a:avLst>
          </a:prstGeom>
          <a:solidFill>
            <a:srgbClr val="1B2F5A"/>
          </a:solidFill>
          <a:ln w="12700">
            <a:solidFill>
              <a:srgbClr val="2A4374"/>
            </a:solidFill>
            <a:prstDash val="solid"/>
          </a:ln>
        </p:spPr>
      </p:sp>
      <p:sp>
        <p:nvSpPr>
          <p:cNvPr id="6" name="Shape 3"/>
          <p:cNvSpPr/>
          <p:nvPr/>
        </p:nvSpPr>
        <p:spPr>
          <a:xfrm>
            <a:off x="731520" y="1737360"/>
            <a:ext cx="685800" cy="685800"/>
          </a:xfrm>
          <a:prstGeom prst="ellipse">
            <a:avLst/>
          </a:prstGeom>
          <a:solidFill>
            <a:srgbClr val="D9A93A"/>
          </a:solidFill>
          <a:ln w="12700">
            <a:solidFill>
              <a:srgbClr val="D9A93A"/>
            </a:solidFill>
            <a:prstDash val="solid"/>
          </a:ln>
        </p:spPr>
      </p:sp>
      <p:pic>
        <p:nvPicPr>
          <p:cNvPr id="7" name="Image 1" descr="preencoded.png">    </p:cNvPr>
          <p:cNvPicPr>
            <a:picLocks noChangeAspect="1"/>
          </p:cNvPicPr>
          <p:nvPr/>
        </p:nvPicPr>
        <p:blipFill>
          <a:blip r:embed="rId2"/>
          <a:stretch>
            <a:fillRect/>
          </a:stretch>
        </p:blipFill>
        <p:spPr>
          <a:xfrm>
            <a:off x="909828" y="1915668"/>
            <a:ext cx="329184" cy="329184"/>
          </a:xfrm>
          <a:prstGeom prst="rect">
            <a:avLst/>
          </a:prstGeom>
        </p:spPr>
      </p:pic>
      <p:pic>
        <p:nvPicPr>
          <p:cNvPr id="8" name="Image 2" descr="/tmp/claude-0/-home-user-Shukery-Azizan/b66663cb-20be-5bd3-935d-65edbae5e3fd/scratchpad/build/assets/a_satr.png">    </p:cNvPr>
          <p:cNvPicPr>
            <a:picLocks noChangeAspect="1"/>
          </p:cNvPicPr>
          <p:nvPr/>
        </p:nvPicPr>
        <p:blipFill>
          <a:blip r:embed="rId3"/>
          <a:stretch>
            <a:fillRect/>
          </a:stretch>
        </p:blipFill>
        <p:spPr>
          <a:xfrm>
            <a:off x="3533944" y="1691640"/>
            <a:ext cx="672296" cy="777240"/>
          </a:xfrm>
          <a:prstGeom prst="rect">
            <a:avLst/>
          </a:prstGeom>
        </p:spPr>
      </p:pic>
      <p:sp>
        <p:nvSpPr>
          <p:cNvPr id="9" name="Text 4"/>
          <p:cNvSpPr txBox="1"/>
          <p:nvPr/>
        </p:nvSpPr>
        <p:spPr>
          <a:xfrm>
            <a:off x="731520" y="2606040"/>
            <a:ext cx="3474720" cy="457200"/>
          </a:xfrm>
          <a:prstGeom prst="rect">
            <a:avLst/>
          </a:prstGeom>
          <a:noFill/>
          <a:ln/>
        </p:spPr>
        <p:txBody>
          <a:bodyPr wrap="square" lIns="0" tIns="0" rIns="0" bIns="0" rtlCol="0" anchor="ctr"/>
          <a:lstStyle/>
          <a:p>
            <a:pPr indent="0" marL="0">
              <a:buNone/>
            </a:pPr>
            <a:r>
              <a:rPr lang="en-US" sz="2400" b="1" dirty="0">
                <a:solidFill>
                  <a:srgbClr val="D9A93A"/>
                </a:solidFill>
                <a:latin typeface="Calibri" pitchFamily="34" charset="0"/>
                <a:ea typeface="Calibri" pitchFamily="34" charset="-122"/>
                <a:cs typeface="Calibri" pitchFamily="34" charset="-120"/>
              </a:rPr>
              <a:t>Menutup</a:t>
            </a:r>
            <a:endParaRPr lang="en-US" sz="2400" dirty="0"/>
          </a:p>
        </p:txBody>
      </p:sp>
      <p:sp>
        <p:nvSpPr>
          <p:cNvPr id="10" name="Text 5"/>
          <p:cNvSpPr txBox="1"/>
          <p:nvPr/>
        </p:nvSpPr>
        <p:spPr>
          <a:xfrm>
            <a:off x="731520" y="3154680"/>
            <a:ext cx="3474720" cy="1371600"/>
          </a:xfrm>
          <a:prstGeom prst="rect">
            <a:avLst/>
          </a:prstGeom>
          <a:noFill/>
          <a:ln/>
        </p:spPr>
        <p:txBody>
          <a:bodyPr wrap="square" lIns="0" tIns="0" rIns="0" bIns="0" rtlCol="0" anchor="t"/>
          <a:lstStyle/>
          <a:p>
            <a:pPr indent="0" marL="0">
              <a:buNone/>
            </a:pPr>
            <a:r>
              <a:rPr lang="en-US" sz="1450" b="1" dirty="0">
                <a:solidFill>
                  <a:srgbClr val="C9D3E6"/>
                </a:solidFill>
                <a:latin typeface="Calibri" pitchFamily="34" charset="0"/>
                <a:ea typeface="Calibri" pitchFamily="34" charset="-122"/>
                <a:cs typeface="Calibri" pitchFamily="34" charset="-120"/>
              </a:rPr>
              <a:t>Helmet: </a:t>
            </a:r>
            <a:pPr indent="0" marL="0">
              <a:buNone/>
            </a:pPr>
            <a:r>
              <a:rPr lang="en-US" sz="1450" dirty="0">
                <a:solidFill>
                  <a:srgbClr val="C9D3E6"/>
                </a:solidFill>
                <a:latin typeface="Calibri" pitchFamily="34" charset="0"/>
                <a:ea typeface="Calibri" pitchFamily="34" charset="-122"/>
                <a:cs typeface="Calibri" pitchFamily="34" charset="-120"/>
              </a:rPr>
              <a:t>menutup kepala.</a:t>
            </a:r>
            <a:endParaRPr lang="en-US" sz="1450" dirty="0"/>
          </a:p>
          <a:p>
            <a:pPr indent="0" marL="0">
              <a:buNone/>
            </a:pPr>
            <a:r>
              <a:rPr lang="en-US" sz="600" dirty="0">
                <a:solidFill>
                  <a:srgbClr val="16213A"/>
                </a:solidFill>
                <a:latin typeface="Calibri" pitchFamily="34" charset="0"/>
                <a:ea typeface="Calibri" pitchFamily="34" charset="-122"/>
                <a:cs typeface="Calibri" pitchFamily="34" charset="-120"/>
              </a:rPr>
              <a:t> </a:t>
            </a:r>
            <a:endParaRPr lang="en-US" sz="1450" dirty="0"/>
          </a:p>
          <a:p>
            <a:pPr indent="0" marL="0">
              <a:buNone/>
            </a:pPr>
            <a:r>
              <a:rPr lang="en-US" sz="1450" b="1" dirty="0">
                <a:solidFill>
                  <a:srgbClr val="FFFFFF"/>
                </a:solidFill>
                <a:latin typeface="Calibri" pitchFamily="34" charset="0"/>
                <a:ea typeface="Calibri" pitchFamily="34" charset="-122"/>
                <a:cs typeface="Calibri" pitchFamily="34" charset="-120"/>
              </a:rPr>
              <a:t>Kita minta: </a:t>
            </a:r>
            <a:pPr indent="0" marL="0">
              <a:buNone/>
            </a:pPr>
            <a:r>
              <a:rPr lang="en-US" sz="1450" dirty="0">
                <a:solidFill>
                  <a:srgbClr val="FFFFFF"/>
                </a:solidFill>
                <a:latin typeface="Calibri" pitchFamily="34" charset="0"/>
                <a:ea typeface="Calibri" pitchFamily="34" charset="-122"/>
                <a:cs typeface="Calibri" pitchFamily="34" charset="-120"/>
              </a:rPr>
              <a:t>Allah tutup aib kita.</a:t>
            </a:r>
            <a:endParaRPr lang="en-US" sz="1450" dirty="0"/>
          </a:p>
        </p:txBody>
      </p:sp>
      <p:sp>
        <p:nvSpPr>
          <p:cNvPr id="11" name="Shape 6"/>
          <p:cNvSpPr/>
          <p:nvPr/>
        </p:nvSpPr>
        <p:spPr>
          <a:xfrm>
            <a:off x="4709160" y="1508760"/>
            <a:ext cx="3977640" cy="3154680"/>
          </a:xfrm>
          <a:prstGeom prst="roundRect">
            <a:avLst>
              <a:gd name="adj" fmla="val 4348"/>
            </a:avLst>
          </a:prstGeom>
          <a:solidFill>
            <a:srgbClr val="1B2F5A"/>
          </a:solidFill>
          <a:ln w="12700">
            <a:solidFill>
              <a:srgbClr val="2A4374"/>
            </a:solidFill>
            <a:prstDash val="solid"/>
          </a:ln>
        </p:spPr>
      </p:sp>
      <p:sp>
        <p:nvSpPr>
          <p:cNvPr id="12" name="Shape 7"/>
          <p:cNvSpPr/>
          <p:nvPr/>
        </p:nvSpPr>
        <p:spPr>
          <a:xfrm>
            <a:off x="4983480" y="1737360"/>
            <a:ext cx="685800" cy="685800"/>
          </a:xfrm>
          <a:prstGeom prst="ellipse">
            <a:avLst/>
          </a:prstGeom>
          <a:solidFill>
            <a:srgbClr val="D9A93A"/>
          </a:solidFill>
          <a:ln w="12700">
            <a:solidFill>
              <a:srgbClr val="D9A93A"/>
            </a:solidFill>
            <a:prstDash val="solid"/>
          </a:ln>
        </p:spPr>
      </p:sp>
      <p:pic>
        <p:nvPicPr>
          <p:cNvPr id="13" name="Image 3" descr="preencoded.png">    </p:cNvPr>
          <p:cNvPicPr>
            <a:picLocks noChangeAspect="1"/>
          </p:cNvPicPr>
          <p:nvPr/>
        </p:nvPicPr>
        <p:blipFill>
          <a:blip r:embed="rId4"/>
          <a:stretch>
            <a:fillRect/>
          </a:stretch>
        </p:blipFill>
        <p:spPr>
          <a:xfrm>
            <a:off x="5161788" y="1915668"/>
            <a:ext cx="329184" cy="329184"/>
          </a:xfrm>
          <a:prstGeom prst="rect">
            <a:avLst/>
          </a:prstGeom>
        </p:spPr>
      </p:pic>
      <p:pic>
        <p:nvPicPr>
          <p:cNvPr id="14" name="Image 4" descr="/tmp/claude-0/-home-user-Shukery-Azizan/b66663cb-20be-5bd3-935d-65edbae5e3fd/scratchpad/build/assets/a_wiqayah.png">    </p:cNvPr>
          <p:cNvPicPr>
            <a:picLocks noChangeAspect="1"/>
          </p:cNvPicPr>
          <p:nvPr/>
        </p:nvPicPr>
        <p:blipFill>
          <a:blip r:embed="rId5"/>
          <a:stretch>
            <a:fillRect/>
          </a:stretch>
        </p:blipFill>
        <p:spPr>
          <a:xfrm>
            <a:off x="7580758" y="1691640"/>
            <a:ext cx="877442" cy="777240"/>
          </a:xfrm>
          <a:prstGeom prst="rect">
            <a:avLst/>
          </a:prstGeom>
        </p:spPr>
      </p:pic>
      <p:sp>
        <p:nvSpPr>
          <p:cNvPr id="15" name="Text 8"/>
          <p:cNvSpPr txBox="1"/>
          <p:nvPr/>
        </p:nvSpPr>
        <p:spPr>
          <a:xfrm>
            <a:off x="4983480" y="2606040"/>
            <a:ext cx="3474720" cy="457200"/>
          </a:xfrm>
          <a:prstGeom prst="rect">
            <a:avLst/>
          </a:prstGeom>
          <a:noFill/>
          <a:ln/>
        </p:spPr>
        <p:txBody>
          <a:bodyPr wrap="square" lIns="0" tIns="0" rIns="0" bIns="0" rtlCol="0" anchor="ctr"/>
          <a:lstStyle/>
          <a:p>
            <a:pPr indent="0" marL="0">
              <a:buNone/>
            </a:pPr>
            <a:r>
              <a:rPr lang="en-US" sz="2400" b="1" dirty="0">
                <a:solidFill>
                  <a:srgbClr val="D9A93A"/>
                </a:solidFill>
                <a:latin typeface="Calibri" pitchFamily="34" charset="0"/>
                <a:ea typeface="Calibri" pitchFamily="34" charset="-122"/>
                <a:cs typeface="Calibri" pitchFamily="34" charset="-120"/>
              </a:rPr>
              <a:t>Mencegah</a:t>
            </a:r>
            <a:endParaRPr lang="en-US" sz="2400" dirty="0"/>
          </a:p>
        </p:txBody>
      </p:sp>
      <p:sp>
        <p:nvSpPr>
          <p:cNvPr id="16" name="Text 9"/>
          <p:cNvSpPr txBox="1"/>
          <p:nvPr/>
        </p:nvSpPr>
        <p:spPr>
          <a:xfrm>
            <a:off x="4983480" y="3154680"/>
            <a:ext cx="3474720" cy="1371600"/>
          </a:xfrm>
          <a:prstGeom prst="rect">
            <a:avLst/>
          </a:prstGeom>
          <a:noFill/>
          <a:ln/>
        </p:spPr>
        <p:txBody>
          <a:bodyPr wrap="square" lIns="0" tIns="0" rIns="0" bIns="0" rtlCol="0" anchor="t"/>
          <a:lstStyle/>
          <a:p>
            <a:pPr indent="0" marL="0">
              <a:buNone/>
            </a:pPr>
            <a:r>
              <a:rPr lang="en-US" sz="1450" b="1" dirty="0">
                <a:solidFill>
                  <a:srgbClr val="C9D3E6"/>
                </a:solidFill>
                <a:latin typeface="Calibri" pitchFamily="34" charset="0"/>
                <a:ea typeface="Calibri" pitchFamily="34" charset="-122"/>
                <a:cs typeface="Calibri" pitchFamily="34" charset="-120"/>
              </a:rPr>
              <a:t>Helmet: </a:t>
            </a:r>
            <a:pPr indent="0" marL="0">
              <a:buNone/>
            </a:pPr>
            <a:r>
              <a:rPr lang="en-US" sz="1450" dirty="0">
                <a:solidFill>
                  <a:srgbClr val="C9D3E6"/>
                </a:solidFill>
                <a:latin typeface="Calibri" pitchFamily="34" charset="0"/>
                <a:ea typeface="Calibri" pitchFamily="34" charset="-122"/>
                <a:cs typeface="Calibri" pitchFamily="34" charset="-120"/>
              </a:rPr>
              <a:t>menghalang serangan yang akan terkena kepala.</a:t>
            </a:r>
            <a:endParaRPr lang="en-US" sz="1450" dirty="0"/>
          </a:p>
          <a:p>
            <a:pPr indent="0" marL="0">
              <a:buNone/>
            </a:pPr>
            <a:r>
              <a:rPr lang="en-US" sz="600" dirty="0">
                <a:solidFill>
                  <a:srgbClr val="16213A"/>
                </a:solidFill>
                <a:latin typeface="Calibri" pitchFamily="34" charset="0"/>
                <a:ea typeface="Calibri" pitchFamily="34" charset="-122"/>
                <a:cs typeface="Calibri" pitchFamily="34" charset="-120"/>
              </a:rPr>
              <a:t> </a:t>
            </a:r>
            <a:endParaRPr lang="en-US" sz="1450" dirty="0"/>
          </a:p>
          <a:p>
            <a:pPr indent="0" marL="0">
              <a:buNone/>
            </a:pPr>
            <a:r>
              <a:rPr lang="en-US" sz="1450" b="1" dirty="0">
                <a:solidFill>
                  <a:srgbClr val="FFFFFF"/>
                </a:solidFill>
                <a:latin typeface="Calibri" pitchFamily="34" charset="0"/>
                <a:ea typeface="Calibri" pitchFamily="34" charset="-122"/>
                <a:cs typeface="Calibri" pitchFamily="34" charset="-120"/>
              </a:rPr>
              <a:t>Kita minta: </a:t>
            </a:r>
            <a:pPr indent="0" marL="0">
              <a:buNone/>
            </a:pPr>
            <a:r>
              <a:rPr lang="en-US" sz="1450" dirty="0">
                <a:solidFill>
                  <a:srgbClr val="FFFFFF"/>
                </a:solidFill>
                <a:latin typeface="Calibri" pitchFamily="34" charset="0"/>
                <a:ea typeface="Calibri" pitchFamily="34" charset="-122"/>
                <a:cs typeface="Calibri" pitchFamily="34" charset="-120"/>
              </a:rPr>
              <a:t>Allah cegah &amp; jauhkan kita daripada dosa.</a:t>
            </a:r>
            <a:endParaRPr lang="en-US" sz="14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731520" cy="731520"/>
          </a:xfrm>
          <a:prstGeom prst="rect">
            <a:avLst/>
          </a:prstGeom>
          <a:noFill/>
          <a:ln/>
        </p:spPr>
        <p:txBody>
          <a:bodyPr wrap="square" lIns="0" tIns="0" rIns="0" bIns="0" rtlCol="0" anchor="ctr"/>
          <a:lstStyle/>
          <a:p>
            <a:pPr indent="0" marL="0">
              <a:buNone/>
            </a:pPr>
            <a:r>
              <a:rPr lang="en-US" sz="4800" b="1" dirty="0">
                <a:solidFill>
                  <a:srgbClr val="D9A93A"/>
                </a:solidFill>
                <a:latin typeface="Calibri" pitchFamily="34" charset="0"/>
                <a:ea typeface="Calibri" pitchFamily="34" charset="-122"/>
                <a:cs typeface="Calibri" pitchFamily="34" charset="-120"/>
              </a:rPr>
              <a:t>5</a:t>
            </a:r>
            <a:endParaRPr lang="en-US" sz="4800" dirty="0"/>
          </a:p>
        </p:txBody>
      </p:sp>
      <p:sp>
        <p:nvSpPr>
          <p:cNvPr id="3" name="Text 1"/>
          <p:cNvSpPr txBox="1"/>
          <p:nvPr/>
        </p:nvSpPr>
        <p:spPr>
          <a:xfrm>
            <a:off x="1097280" y="320040"/>
            <a:ext cx="7589520" cy="731520"/>
          </a:xfrm>
          <a:prstGeom prst="rect">
            <a:avLst/>
          </a:prstGeom>
          <a:noFill/>
          <a:ln/>
        </p:spPr>
        <p:txBody>
          <a:bodyPr wrap="square" lIns="0" tIns="0" rIns="0" bIns="0" rtlCol="0" anchor="ctr"/>
          <a:lstStyle/>
          <a:p>
            <a:pPr indent="0" marL="0">
              <a:buNone/>
            </a:pPr>
            <a:r>
              <a:rPr lang="en-US" sz="2800" b="1" dirty="0">
                <a:solidFill>
                  <a:srgbClr val="0F1E3D"/>
                </a:solidFill>
                <a:latin typeface="Calibri" pitchFamily="34" charset="0"/>
                <a:ea typeface="Calibri" pitchFamily="34" charset="-122"/>
                <a:cs typeface="Calibri" pitchFamily="34" charset="-120"/>
              </a:rPr>
              <a:t>Cari circle kawan yang baik &amp; soleh</a:t>
            </a:r>
            <a:endParaRPr lang="en-US" sz="2800" dirty="0"/>
          </a:p>
        </p:txBody>
      </p:sp>
      <p:sp>
        <p:nvSpPr>
          <p:cNvPr id="4" name="Text 2"/>
          <p:cNvSpPr txBox="1"/>
          <p:nvPr/>
        </p:nvSpPr>
        <p:spPr>
          <a:xfrm>
            <a:off x="1097280" y="1005840"/>
            <a:ext cx="7589520" cy="320040"/>
          </a:xfrm>
          <a:prstGeom prst="rect">
            <a:avLst/>
          </a:prstGeom>
          <a:noFill/>
          <a:ln/>
        </p:spPr>
        <p:txBody>
          <a:bodyPr wrap="square" lIns="0" tIns="0" rIns="0" bIns="0" rtlCol="0" anchor="t"/>
          <a:lstStyle/>
          <a:p>
            <a:pPr indent="0" marL="0">
              <a:buNone/>
            </a:pPr>
            <a:r>
              <a:rPr lang="en-US" sz="1500" dirty="0">
                <a:solidFill>
                  <a:srgbClr val="5A6880"/>
                </a:solidFill>
                <a:latin typeface="Calibri" pitchFamily="34" charset="0"/>
                <a:ea typeface="Calibri" pitchFamily="34" charset="-122"/>
                <a:cs typeface="Calibri" pitchFamily="34" charset="-120"/>
              </a:rPr>
              <a:t>Ikut usrah serta program-program tarbiah.</a:t>
            </a:r>
            <a:endParaRPr lang="en-US" sz="1500" dirty="0"/>
          </a:p>
        </p:txBody>
      </p:sp>
      <p:sp>
        <p:nvSpPr>
          <p:cNvPr id="5" name="Shape 3"/>
          <p:cNvSpPr/>
          <p:nvPr/>
        </p:nvSpPr>
        <p:spPr>
          <a:xfrm>
            <a:off x="457200" y="1508760"/>
            <a:ext cx="8229600" cy="1188720"/>
          </a:xfrm>
          <a:prstGeom prst="roundRect">
            <a:avLst>
              <a:gd name="adj" fmla="val 11538"/>
            </a:avLst>
          </a:prstGeom>
          <a:solidFill>
            <a:srgbClr val="0F1E3D"/>
          </a:solidFill>
          <a:ln w="12700">
            <a:solidFill>
              <a:srgbClr val="0F1E3D"/>
            </a:solidFill>
            <a:prstDash val="solid"/>
          </a:ln>
          <a:effectLst>
            <a:outerShdw sx="100000" sy="100000" kx="0" ky="0" algn="bl" rotWithShape="0" blurRad="101600" dist="25400" dir="5400000">
              <a:srgbClr val="0F1E3D">
                <a:alpha val="12000"/>
              </a:srgbClr>
            </a:outerShdw>
          </a:effectLst>
        </p:spPr>
      </p:sp>
      <p:pic>
        <p:nvPicPr>
          <p:cNvPr id="6" name="Image 0" descr="preencoded.png">    </p:cNvPr>
          <p:cNvPicPr>
            <a:picLocks noChangeAspect="1"/>
          </p:cNvPicPr>
          <p:nvPr/>
        </p:nvPicPr>
        <p:blipFill>
          <a:blip r:embed="rId1"/>
          <a:stretch>
            <a:fillRect/>
          </a:stretch>
        </p:blipFill>
        <p:spPr>
          <a:xfrm>
            <a:off x="731520" y="1691640"/>
            <a:ext cx="411480" cy="411480"/>
          </a:xfrm>
          <a:prstGeom prst="rect">
            <a:avLst/>
          </a:prstGeom>
        </p:spPr>
      </p:pic>
      <p:sp>
        <p:nvSpPr>
          <p:cNvPr id="7" name="Text 4"/>
          <p:cNvSpPr txBox="1"/>
          <p:nvPr/>
        </p:nvSpPr>
        <p:spPr>
          <a:xfrm>
            <a:off x="1371600" y="1508760"/>
            <a:ext cx="7086600" cy="11887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Kalau belajar akademik kena pilih kawan &amp; circle yang baik, takkan belajar &amp; amal agama tak perlu pilih kawan dan circle yang baik?</a:t>
            </a:r>
            <a:endParaRPr lang="en-US" sz="1700" dirty="0"/>
          </a:p>
        </p:txBody>
      </p:sp>
      <p:sp>
        <p:nvSpPr>
          <p:cNvPr id="8" name="Shape 5"/>
          <p:cNvSpPr/>
          <p:nvPr/>
        </p:nvSpPr>
        <p:spPr>
          <a:xfrm>
            <a:off x="457200" y="2926080"/>
            <a:ext cx="8229600" cy="1783080"/>
          </a:xfrm>
          <a:prstGeom prst="roundRect">
            <a:avLst>
              <a:gd name="adj" fmla="val 6154"/>
            </a:avLst>
          </a:prstGeom>
          <a:solidFill>
            <a:srgbClr val="FFFFFF"/>
          </a:solidFill>
          <a:ln w="9525">
            <a:solidFill>
              <a:srgbClr val="DCE3EC"/>
            </a:solidFill>
            <a:prstDash val="solid"/>
          </a:ln>
          <a:effectLst>
            <a:outerShdw sx="100000" sy="100000" kx="0" ky="0" algn="bl" rotWithShape="0" blurRad="101600" dist="25400" dir="5400000">
              <a:srgbClr val="0F1E3D">
                <a:alpha val="12000"/>
              </a:srgbClr>
            </a:outerShdw>
          </a:effectLst>
        </p:spPr>
      </p:sp>
      <p:sp>
        <p:nvSpPr>
          <p:cNvPr id="9" name="Text 6"/>
          <p:cNvSpPr txBox="1"/>
          <p:nvPr/>
        </p:nvSpPr>
        <p:spPr>
          <a:xfrm>
            <a:off x="685800" y="3035808"/>
            <a:ext cx="3657600" cy="274320"/>
          </a:xfrm>
          <a:prstGeom prst="rect">
            <a:avLst/>
          </a:prstGeom>
          <a:noFill/>
          <a:ln/>
        </p:spPr>
        <p:txBody>
          <a:bodyPr wrap="square" lIns="0" tIns="0" rIns="0" bIns="0" rtlCol="0" anchor="t"/>
          <a:lstStyle/>
          <a:p>
            <a:pPr indent="0" marL="0">
              <a:buNone/>
            </a:pPr>
            <a:r>
              <a:rPr lang="en-US" sz="1200" b="1" dirty="0">
                <a:solidFill>
                  <a:srgbClr val="127C83"/>
                </a:solidFill>
                <a:latin typeface="Calibri" pitchFamily="34" charset="0"/>
                <a:ea typeface="Calibri" pitchFamily="34" charset="-122"/>
                <a:cs typeface="Calibri" pitchFamily="34" charset="-120"/>
              </a:rPr>
              <a:t>Contoh badan &amp; program tarbiah</a:t>
            </a:r>
            <a:endParaRPr lang="en-US" sz="1200" dirty="0"/>
          </a:p>
        </p:txBody>
      </p:sp>
      <p:pic>
        <p:nvPicPr>
          <p:cNvPr id="10" name="Image 1" descr="/tmp/claude-0/-home-user-Shukery-Azizan/b66663cb-20be-5bd3-935d-65edbae5e3fd/scratchpad/build/assets/logos.png">    </p:cNvPr>
          <p:cNvPicPr>
            <a:picLocks noChangeAspect="1"/>
          </p:cNvPicPr>
          <p:nvPr/>
        </p:nvPicPr>
        <p:blipFill>
          <a:blip r:embed="rId2"/>
          <a:stretch>
            <a:fillRect/>
          </a:stretch>
        </p:blipFill>
        <p:spPr>
          <a:xfrm>
            <a:off x="2370539" y="3291840"/>
            <a:ext cx="4402922" cy="132588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F1E3D"/>
        </a:solidFill>
      </p:bgPr>
    </p:bg>
    <p:spTree>
      <p:nvGrpSpPr>
        <p:cNvPr id="1" name=""/>
        <p:cNvGrpSpPr/>
        <p:nvPr/>
      </p:nvGrpSpPr>
      <p:grpSpPr>
        <a:xfrm>
          <a:off x="0" y="0"/>
          <a:ext cx="0" cy="0"/>
          <a:chOff x="0" y="0"/>
          <a:chExt cx="0" cy="0"/>
        </a:xfrm>
      </p:grpSpPr>
      <p:pic>
        <p:nvPicPr>
          <p:cNvPr id="2" name="Image 0" descr="/tmp/claude-0/-home-user-Shukery-Azizan/b66663cb-20be-5bd3-935d-65edbae5e3fd/scratchpad/build/assets/pattern.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txBox="1"/>
          <p:nvPr/>
        </p:nvSpPr>
        <p:spPr>
          <a:xfrm>
            <a:off x="548640" y="457200"/>
            <a:ext cx="3657600" cy="256032"/>
          </a:xfrm>
          <a:prstGeom prst="rect">
            <a:avLst/>
          </a:prstGeom>
          <a:noFill/>
          <a:ln/>
        </p:spPr>
        <p:txBody>
          <a:bodyPr wrap="square" lIns="0" tIns="0" rIns="0" bIns="0" rtlCol="0" anchor="t"/>
          <a:lstStyle/>
          <a:p>
            <a:pPr indent="0" marL="0">
              <a:buNone/>
            </a:pPr>
            <a:r>
              <a:rPr lang="en-US" sz="1100" b="1" spc="200" kern="0" dirty="0">
                <a:solidFill>
                  <a:srgbClr val="D9A93A"/>
                </a:solidFill>
                <a:latin typeface="Calibri" pitchFamily="34" charset="0"/>
                <a:ea typeface="Calibri" pitchFamily="34" charset="-122"/>
                <a:cs typeface="Calibri" pitchFamily="34" charset="-120"/>
              </a:rPr>
              <a:t>RUMUSAN</a:t>
            </a:r>
            <a:endParaRPr lang="en-US" sz="1100" dirty="0"/>
          </a:p>
        </p:txBody>
      </p:sp>
      <p:sp>
        <p:nvSpPr>
          <p:cNvPr id="4" name="Text 1"/>
          <p:cNvSpPr txBox="1"/>
          <p:nvPr/>
        </p:nvSpPr>
        <p:spPr>
          <a:xfrm>
            <a:off x="548640" y="731520"/>
            <a:ext cx="420624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Bawa pulang 5 perkara ini</a:t>
            </a:r>
            <a:endParaRPr lang="en-US" sz="2600" dirty="0"/>
          </a:p>
        </p:txBody>
      </p:sp>
      <p:sp>
        <p:nvSpPr>
          <p:cNvPr id="5" name="Shape 2"/>
          <p:cNvSpPr/>
          <p:nvPr/>
        </p:nvSpPr>
        <p:spPr>
          <a:xfrm>
            <a:off x="548640" y="1508760"/>
            <a:ext cx="457200" cy="457200"/>
          </a:xfrm>
          <a:prstGeom prst="ellipse">
            <a:avLst/>
          </a:prstGeom>
          <a:solidFill>
            <a:srgbClr val="D9A93A"/>
          </a:solidFill>
          <a:ln w="12700">
            <a:solidFill>
              <a:srgbClr val="D9A93A"/>
            </a:solidFill>
            <a:prstDash val="solid"/>
          </a:ln>
        </p:spPr>
      </p:sp>
      <p:sp>
        <p:nvSpPr>
          <p:cNvPr id="6" name="Text 3"/>
          <p:cNvSpPr txBox="1"/>
          <p:nvPr/>
        </p:nvSpPr>
        <p:spPr>
          <a:xfrm>
            <a:off x="548640" y="1508760"/>
            <a:ext cx="457200" cy="457200"/>
          </a:xfrm>
          <a:prstGeom prst="rect">
            <a:avLst/>
          </a:prstGeom>
          <a:noFill/>
          <a:ln/>
        </p:spPr>
        <p:txBody>
          <a:bodyPr wrap="square" lIns="0" tIns="0" rIns="0" bIns="0" rtlCol="0" anchor="ctr"/>
          <a:lstStyle/>
          <a:p>
            <a:pPr algn="ctr" indent="0" marL="0">
              <a:buNone/>
            </a:pPr>
            <a:r>
              <a:rPr lang="en-US" sz="1600" b="1" dirty="0">
                <a:solidFill>
                  <a:srgbClr val="0F1E3D"/>
                </a:solidFill>
                <a:latin typeface="Calibri" pitchFamily="34" charset="0"/>
                <a:ea typeface="Calibri" pitchFamily="34" charset="-122"/>
                <a:cs typeface="Calibri" pitchFamily="34" charset="-120"/>
              </a:rPr>
              <a:t>1</a:t>
            </a:r>
            <a:endParaRPr lang="en-US" sz="1600" dirty="0"/>
          </a:p>
        </p:txBody>
      </p:sp>
      <p:sp>
        <p:nvSpPr>
          <p:cNvPr id="7" name="Text 4"/>
          <p:cNvSpPr txBox="1"/>
          <p:nvPr/>
        </p:nvSpPr>
        <p:spPr>
          <a:xfrm>
            <a:off x="1188720" y="1508760"/>
            <a:ext cx="3566160" cy="45720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Perbaiki akidah — kenali Allah</a:t>
            </a:r>
            <a:endParaRPr lang="en-US" sz="1600" dirty="0"/>
          </a:p>
        </p:txBody>
      </p:sp>
      <p:sp>
        <p:nvSpPr>
          <p:cNvPr id="8" name="Shape 5"/>
          <p:cNvSpPr/>
          <p:nvPr/>
        </p:nvSpPr>
        <p:spPr>
          <a:xfrm>
            <a:off x="548640" y="2130552"/>
            <a:ext cx="457200" cy="457200"/>
          </a:xfrm>
          <a:prstGeom prst="ellipse">
            <a:avLst/>
          </a:prstGeom>
          <a:solidFill>
            <a:srgbClr val="D9A93A"/>
          </a:solidFill>
          <a:ln w="12700">
            <a:solidFill>
              <a:srgbClr val="D9A93A"/>
            </a:solidFill>
            <a:prstDash val="solid"/>
          </a:ln>
        </p:spPr>
      </p:sp>
      <p:sp>
        <p:nvSpPr>
          <p:cNvPr id="9" name="Text 6"/>
          <p:cNvSpPr txBox="1"/>
          <p:nvPr/>
        </p:nvSpPr>
        <p:spPr>
          <a:xfrm>
            <a:off x="548640" y="2130552"/>
            <a:ext cx="457200" cy="457200"/>
          </a:xfrm>
          <a:prstGeom prst="rect">
            <a:avLst/>
          </a:prstGeom>
          <a:noFill/>
          <a:ln/>
        </p:spPr>
        <p:txBody>
          <a:bodyPr wrap="square" lIns="0" tIns="0" rIns="0" bIns="0" rtlCol="0" anchor="ctr"/>
          <a:lstStyle/>
          <a:p>
            <a:pPr algn="ctr" indent="0" marL="0">
              <a:buNone/>
            </a:pPr>
            <a:r>
              <a:rPr lang="en-US" sz="1600" b="1" dirty="0">
                <a:solidFill>
                  <a:srgbClr val="0F1E3D"/>
                </a:solidFill>
                <a:latin typeface="Calibri" pitchFamily="34" charset="0"/>
                <a:ea typeface="Calibri" pitchFamily="34" charset="-122"/>
                <a:cs typeface="Calibri" pitchFamily="34" charset="-120"/>
              </a:rPr>
              <a:t>2</a:t>
            </a:r>
            <a:endParaRPr lang="en-US" sz="1600" dirty="0"/>
          </a:p>
        </p:txBody>
      </p:sp>
      <p:sp>
        <p:nvSpPr>
          <p:cNvPr id="10" name="Text 7"/>
          <p:cNvSpPr txBox="1"/>
          <p:nvPr/>
        </p:nvSpPr>
        <p:spPr>
          <a:xfrm>
            <a:off x="1188720" y="2130552"/>
            <a:ext cx="3566160" cy="45720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Taubat &amp; tinggalkan maksiat</a:t>
            </a:r>
            <a:endParaRPr lang="en-US" sz="1600" dirty="0"/>
          </a:p>
        </p:txBody>
      </p:sp>
      <p:sp>
        <p:nvSpPr>
          <p:cNvPr id="11" name="Shape 8"/>
          <p:cNvSpPr/>
          <p:nvPr/>
        </p:nvSpPr>
        <p:spPr>
          <a:xfrm>
            <a:off x="548640" y="2752344"/>
            <a:ext cx="457200" cy="457200"/>
          </a:xfrm>
          <a:prstGeom prst="ellipse">
            <a:avLst/>
          </a:prstGeom>
          <a:solidFill>
            <a:srgbClr val="D9A93A"/>
          </a:solidFill>
          <a:ln w="12700">
            <a:solidFill>
              <a:srgbClr val="D9A93A"/>
            </a:solidFill>
            <a:prstDash val="solid"/>
          </a:ln>
        </p:spPr>
      </p:sp>
      <p:sp>
        <p:nvSpPr>
          <p:cNvPr id="12" name="Text 9"/>
          <p:cNvSpPr txBox="1"/>
          <p:nvPr/>
        </p:nvSpPr>
        <p:spPr>
          <a:xfrm>
            <a:off x="548640" y="2752344"/>
            <a:ext cx="457200" cy="457200"/>
          </a:xfrm>
          <a:prstGeom prst="rect">
            <a:avLst/>
          </a:prstGeom>
          <a:noFill/>
          <a:ln/>
        </p:spPr>
        <p:txBody>
          <a:bodyPr wrap="square" lIns="0" tIns="0" rIns="0" bIns="0" rtlCol="0" anchor="ctr"/>
          <a:lstStyle/>
          <a:p>
            <a:pPr algn="ctr" indent="0" marL="0">
              <a:buNone/>
            </a:pPr>
            <a:r>
              <a:rPr lang="en-US" sz="1600" b="1" dirty="0">
                <a:solidFill>
                  <a:srgbClr val="0F1E3D"/>
                </a:solidFill>
                <a:latin typeface="Calibri" pitchFamily="34" charset="0"/>
                <a:ea typeface="Calibri" pitchFamily="34" charset="-122"/>
                <a:cs typeface="Calibri" pitchFamily="34" charset="-120"/>
              </a:rPr>
              <a:t>3</a:t>
            </a:r>
            <a:endParaRPr lang="en-US" sz="1600" dirty="0"/>
          </a:p>
        </p:txBody>
      </p:sp>
      <p:sp>
        <p:nvSpPr>
          <p:cNvPr id="13" name="Text 10"/>
          <p:cNvSpPr txBox="1"/>
          <p:nvPr/>
        </p:nvSpPr>
        <p:spPr>
          <a:xfrm>
            <a:off x="1188720" y="2752344"/>
            <a:ext cx="3566160" cy="45720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Jaga solat</a:t>
            </a:r>
            <a:endParaRPr lang="en-US" sz="1600" dirty="0"/>
          </a:p>
        </p:txBody>
      </p:sp>
      <p:sp>
        <p:nvSpPr>
          <p:cNvPr id="14" name="Shape 11"/>
          <p:cNvSpPr/>
          <p:nvPr/>
        </p:nvSpPr>
        <p:spPr>
          <a:xfrm>
            <a:off x="548640" y="3374136"/>
            <a:ext cx="457200" cy="457200"/>
          </a:xfrm>
          <a:prstGeom prst="ellipse">
            <a:avLst/>
          </a:prstGeom>
          <a:solidFill>
            <a:srgbClr val="D9A93A"/>
          </a:solidFill>
          <a:ln w="12700">
            <a:solidFill>
              <a:srgbClr val="D9A93A"/>
            </a:solidFill>
            <a:prstDash val="solid"/>
          </a:ln>
        </p:spPr>
      </p:sp>
      <p:sp>
        <p:nvSpPr>
          <p:cNvPr id="15" name="Text 12"/>
          <p:cNvSpPr txBox="1"/>
          <p:nvPr/>
        </p:nvSpPr>
        <p:spPr>
          <a:xfrm>
            <a:off x="548640" y="3374136"/>
            <a:ext cx="457200" cy="457200"/>
          </a:xfrm>
          <a:prstGeom prst="rect">
            <a:avLst/>
          </a:prstGeom>
          <a:noFill/>
          <a:ln/>
        </p:spPr>
        <p:txBody>
          <a:bodyPr wrap="square" lIns="0" tIns="0" rIns="0" bIns="0" rtlCol="0" anchor="ctr"/>
          <a:lstStyle/>
          <a:p>
            <a:pPr algn="ctr" indent="0" marL="0">
              <a:buNone/>
            </a:pPr>
            <a:r>
              <a:rPr lang="en-US" sz="1600" b="1" dirty="0">
                <a:solidFill>
                  <a:srgbClr val="0F1E3D"/>
                </a:solidFill>
                <a:latin typeface="Calibri" pitchFamily="34" charset="0"/>
                <a:ea typeface="Calibri" pitchFamily="34" charset="-122"/>
                <a:cs typeface="Calibri" pitchFamily="34" charset="-120"/>
              </a:rPr>
              <a:t>4</a:t>
            </a:r>
            <a:endParaRPr lang="en-US" sz="1600" dirty="0"/>
          </a:p>
        </p:txBody>
      </p:sp>
      <p:sp>
        <p:nvSpPr>
          <p:cNvPr id="16" name="Text 13"/>
          <p:cNvSpPr txBox="1"/>
          <p:nvPr/>
        </p:nvSpPr>
        <p:spPr>
          <a:xfrm>
            <a:off x="1188720" y="3374136"/>
            <a:ext cx="3566160" cy="45720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Banyakkan istighfar</a:t>
            </a:r>
            <a:endParaRPr lang="en-US" sz="1600" dirty="0"/>
          </a:p>
        </p:txBody>
      </p:sp>
      <p:sp>
        <p:nvSpPr>
          <p:cNvPr id="17" name="Shape 14"/>
          <p:cNvSpPr/>
          <p:nvPr/>
        </p:nvSpPr>
        <p:spPr>
          <a:xfrm>
            <a:off x="548640" y="3995928"/>
            <a:ext cx="457200" cy="457200"/>
          </a:xfrm>
          <a:prstGeom prst="ellipse">
            <a:avLst/>
          </a:prstGeom>
          <a:solidFill>
            <a:srgbClr val="D9A93A"/>
          </a:solidFill>
          <a:ln w="12700">
            <a:solidFill>
              <a:srgbClr val="D9A93A"/>
            </a:solidFill>
            <a:prstDash val="solid"/>
          </a:ln>
        </p:spPr>
      </p:sp>
      <p:sp>
        <p:nvSpPr>
          <p:cNvPr id="18" name="Text 15"/>
          <p:cNvSpPr txBox="1"/>
          <p:nvPr/>
        </p:nvSpPr>
        <p:spPr>
          <a:xfrm>
            <a:off x="548640" y="3995928"/>
            <a:ext cx="457200" cy="457200"/>
          </a:xfrm>
          <a:prstGeom prst="rect">
            <a:avLst/>
          </a:prstGeom>
          <a:noFill/>
          <a:ln/>
        </p:spPr>
        <p:txBody>
          <a:bodyPr wrap="square" lIns="0" tIns="0" rIns="0" bIns="0" rtlCol="0" anchor="ctr"/>
          <a:lstStyle/>
          <a:p>
            <a:pPr algn="ctr" indent="0" marL="0">
              <a:buNone/>
            </a:pPr>
            <a:r>
              <a:rPr lang="en-US" sz="1600" b="1" dirty="0">
                <a:solidFill>
                  <a:srgbClr val="0F1E3D"/>
                </a:solidFill>
                <a:latin typeface="Calibri" pitchFamily="34" charset="0"/>
                <a:ea typeface="Calibri" pitchFamily="34" charset="-122"/>
                <a:cs typeface="Calibri" pitchFamily="34" charset="-120"/>
              </a:rPr>
              <a:t>5</a:t>
            </a:r>
            <a:endParaRPr lang="en-US" sz="1600" dirty="0"/>
          </a:p>
        </p:txBody>
      </p:sp>
      <p:sp>
        <p:nvSpPr>
          <p:cNvPr id="19" name="Text 16"/>
          <p:cNvSpPr txBox="1"/>
          <p:nvPr/>
        </p:nvSpPr>
        <p:spPr>
          <a:xfrm>
            <a:off x="1188720" y="3995928"/>
            <a:ext cx="3566160" cy="45720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Pilih circle kawan yang soleh</a:t>
            </a:r>
            <a:endParaRPr lang="en-US" sz="1600" dirty="0"/>
          </a:p>
        </p:txBody>
      </p:sp>
      <p:sp>
        <p:nvSpPr>
          <p:cNvPr id="20" name="Shape 17"/>
          <p:cNvSpPr/>
          <p:nvPr/>
        </p:nvSpPr>
        <p:spPr>
          <a:xfrm>
            <a:off x="5120640" y="1280160"/>
            <a:ext cx="3566160" cy="3017520"/>
          </a:xfrm>
          <a:prstGeom prst="roundRect">
            <a:avLst>
              <a:gd name="adj" fmla="val 4545"/>
            </a:avLst>
          </a:prstGeom>
          <a:solidFill>
            <a:srgbClr val="1B2F5A"/>
          </a:solidFill>
          <a:ln w="19050">
            <a:solidFill>
              <a:srgbClr val="D9A93A"/>
            </a:solidFill>
            <a:prstDash val="solid"/>
          </a:ln>
        </p:spPr>
      </p:sp>
      <p:pic>
        <p:nvPicPr>
          <p:cNvPr id="21" name="Image 1" descr="preencoded.png">    </p:cNvPr>
          <p:cNvPicPr>
            <a:picLocks noChangeAspect="1"/>
          </p:cNvPicPr>
          <p:nvPr/>
        </p:nvPicPr>
        <p:blipFill>
          <a:blip r:embed="rId2"/>
          <a:stretch>
            <a:fillRect/>
          </a:stretch>
        </p:blipFill>
        <p:spPr>
          <a:xfrm>
            <a:off x="5394960" y="1554480"/>
            <a:ext cx="502920" cy="502920"/>
          </a:xfrm>
          <a:prstGeom prst="rect">
            <a:avLst/>
          </a:prstGeom>
        </p:spPr>
      </p:pic>
      <p:sp>
        <p:nvSpPr>
          <p:cNvPr id="22" name="Text 18"/>
          <p:cNvSpPr txBox="1"/>
          <p:nvPr/>
        </p:nvSpPr>
        <p:spPr>
          <a:xfrm>
            <a:off x="5394960" y="2194560"/>
            <a:ext cx="3063240" cy="1920240"/>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Syaitan hanya mampu mengetuk pintu. </a:t>
            </a:r>
            <a:pPr indent="0" marL="0">
              <a:buNone/>
            </a:pPr>
            <a:r>
              <a:rPr lang="en-US" sz="1900" b="1" dirty="0">
                <a:solidFill>
                  <a:srgbClr val="D9A93A"/>
                </a:solidFill>
                <a:latin typeface="Calibri" pitchFamily="34" charset="0"/>
                <a:ea typeface="Calibri" pitchFamily="34" charset="-122"/>
                <a:cs typeface="Calibri" pitchFamily="34" charset="-120"/>
              </a:rPr>
              <a:t>Kita yang memilih untuk membukanya atau tidak.</a:t>
            </a:r>
            <a:endParaRPr lang="en-US" sz="1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F1E3D"/>
        </a:solidFill>
      </p:bgPr>
    </p:bg>
    <p:spTree>
      <p:nvGrpSpPr>
        <p:cNvPr id="1" name=""/>
        <p:cNvGrpSpPr/>
        <p:nvPr/>
      </p:nvGrpSpPr>
      <p:grpSpPr>
        <a:xfrm>
          <a:off x="0" y="0"/>
          <a:ext cx="0" cy="0"/>
          <a:chOff x="0" y="0"/>
          <a:chExt cx="0" cy="0"/>
        </a:xfrm>
      </p:grpSpPr>
      <p:pic>
        <p:nvPicPr>
          <p:cNvPr id="2" name="Image 0" descr="/tmp/claude-0/-home-user-Shukery-Azizan/b66663cb-20be-5bd3-935d-65edbae5e3fd/scratchpad/build/assets/pattern.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tmp/claude-0/-home-user-Shukery-Azizan/b66663cb-20be-5bd3-935d-65edbae5e3fd/scratchpad/build/assets/bigstar.png">    </p:cNvPr>
          <p:cNvPicPr>
            <a:picLocks noChangeAspect="1"/>
          </p:cNvPicPr>
          <p:nvPr/>
        </p:nvPicPr>
        <p:blipFill>
          <a:blip r:embed="rId2">
            <a:alphaModFix amt="45000"/>
          </a:blip>
          <a:stretch>
            <a:fillRect/>
          </a:stretch>
        </p:blipFill>
        <p:spPr>
          <a:xfrm>
            <a:off x="3200400" y="320040"/>
            <a:ext cx="2743200" cy="2743200"/>
          </a:xfrm>
          <a:prstGeom prst="rect">
            <a:avLst/>
          </a:prstGeom>
        </p:spPr>
      </p:pic>
      <p:sp>
        <p:nvSpPr>
          <p:cNvPr id="4" name="Shape 0"/>
          <p:cNvSpPr/>
          <p:nvPr/>
        </p:nvSpPr>
        <p:spPr>
          <a:xfrm>
            <a:off x="4069080" y="1188720"/>
            <a:ext cx="1005840" cy="1005840"/>
          </a:xfrm>
          <a:prstGeom prst="ellipse">
            <a:avLst/>
          </a:prstGeom>
          <a:solidFill>
            <a:srgbClr val="1B2F5A"/>
          </a:solidFill>
          <a:ln w="12700">
            <a:solidFill>
              <a:srgbClr val="1B2F5A"/>
            </a:solidFill>
            <a:prstDash val="solid"/>
          </a:ln>
        </p:spPr>
      </p:sp>
      <p:pic>
        <p:nvPicPr>
          <p:cNvPr id="5" name="Image 2" descr="preencoded.png">    </p:cNvPr>
          <p:cNvPicPr>
            <a:picLocks noChangeAspect="1"/>
          </p:cNvPicPr>
          <p:nvPr/>
        </p:nvPicPr>
        <p:blipFill>
          <a:blip r:embed="rId3"/>
          <a:stretch>
            <a:fillRect/>
          </a:stretch>
        </p:blipFill>
        <p:spPr>
          <a:xfrm>
            <a:off x="4330598" y="1450238"/>
            <a:ext cx="482803" cy="482803"/>
          </a:xfrm>
          <a:prstGeom prst="rect">
            <a:avLst/>
          </a:prstGeom>
        </p:spPr>
      </p:pic>
      <p:sp>
        <p:nvSpPr>
          <p:cNvPr id="6" name="Text 1"/>
          <p:cNvSpPr txBox="1"/>
          <p:nvPr/>
        </p:nvSpPr>
        <p:spPr>
          <a:xfrm>
            <a:off x="914400" y="3063240"/>
            <a:ext cx="7315200" cy="731520"/>
          </a:xfrm>
          <a:prstGeom prst="rect">
            <a:avLst/>
          </a:prstGeom>
          <a:noFill/>
          <a:ln/>
        </p:spPr>
        <p:txBody>
          <a:bodyPr wrap="square" lIns="0" tIns="0" rIns="0" bIns="0" rtlCol="0" anchor="ctr"/>
          <a:lstStyle/>
          <a:p>
            <a:pPr algn="ctr" indent="0" marL="0">
              <a:buNone/>
            </a:pPr>
            <a:r>
              <a:rPr lang="en-US" sz="4400" b="1" dirty="0">
                <a:solidFill>
                  <a:srgbClr val="FFFFFF"/>
                </a:solidFill>
                <a:latin typeface="Calibri" pitchFamily="34" charset="0"/>
                <a:ea typeface="Calibri" pitchFamily="34" charset="-122"/>
                <a:cs typeface="Calibri" pitchFamily="34" charset="-120"/>
              </a:rPr>
              <a:t>Terima kasih</a:t>
            </a:r>
            <a:endParaRPr lang="en-US" sz="4400" dirty="0"/>
          </a:p>
        </p:txBody>
      </p:sp>
      <p:sp>
        <p:nvSpPr>
          <p:cNvPr id="7" name="Text 2"/>
          <p:cNvSpPr txBox="1"/>
          <p:nvPr/>
        </p:nvSpPr>
        <p:spPr>
          <a:xfrm>
            <a:off x="914400" y="3749040"/>
            <a:ext cx="7315200" cy="365760"/>
          </a:xfrm>
          <a:prstGeom prst="rect">
            <a:avLst/>
          </a:prstGeom>
          <a:noFill/>
          <a:ln/>
        </p:spPr>
        <p:txBody>
          <a:bodyPr wrap="square" lIns="0" tIns="0" rIns="0" bIns="0" rtlCol="0" anchor="t"/>
          <a:lstStyle/>
          <a:p>
            <a:pPr algn="ctr" indent="0" marL="0">
              <a:buNone/>
            </a:pPr>
            <a:r>
              <a:rPr lang="en-US" sz="1700" dirty="0">
                <a:solidFill>
                  <a:srgbClr val="D9A93A"/>
                </a:solidFill>
                <a:latin typeface="Calibri" pitchFamily="34" charset="0"/>
                <a:ea typeface="Calibri" pitchFamily="34" charset="-122"/>
                <a:cs typeface="Calibri" pitchFamily="34" charset="-120"/>
              </a:rPr>
              <a:t>Semoga kita tergolong dalam Generasi Al-Quran.</a:t>
            </a:r>
            <a:endParaRPr lang="en-US" sz="1700" dirty="0"/>
          </a:p>
        </p:txBody>
      </p:sp>
      <p:pic>
        <p:nvPicPr>
          <p:cNvPr id="8" name="Image 3" descr="preencoded.png">    </p:cNvPr>
          <p:cNvPicPr>
            <a:picLocks noChangeAspect="1"/>
          </p:cNvPicPr>
          <p:nvPr/>
        </p:nvPicPr>
        <p:blipFill>
          <a:blip r:embed="rId4"/>
          <a:stretch>
            <a:fillRect/>
          </a:stretch>
        </p:blipFill>
        <p:spPr>
          <a:xfrm>
            <a:off x="3246120" y="4370832"/>
            <a:ext cx="237744" cy="237744"/>
          </a:xfrm>
          <a:prstGeom prst="rect">
            <a:avLst/>
          </a:prstGeom>
        </p:spPr>
      </p:pic>
      <p:pic>
        <p:nvPicPr>
          <p:cNvPr id="9" name="Image 4" descr="preencoded.png">    </p:cNvPr>
          <p:cNvPicPr>
            <a:picLocks noChangeAspect="1"/>
          </p:cNvPicPr>
          <p:nvPr/>
        </p:nvPicPr>
        <p:blipFill>
          <a:blip r:embed="rId5"/>
          <a:stretch>
            <a:fillRect/>
          </a:stretch>
        </p:blipFill>
        <p:spPr>
          <a:xfrm>
            <a:off x="3566160" y="4370832"/>
            <a:ext cx="237744" cy="237744"/>
          </a:xfrm>
          <a:prstGeom prst="rect">
            <a:avLst/>
          </a:prstGeom>
        </p:spPr>
      </p:pic>
      <p:sp>
        <p:nvSpPr>
          <p:cNvPr id="10" name="Text 3"/>
          <p:cNvSpPr txBox="1"/>
          <p:nvPr/>
        </p:nvSpPr>
        <p:spPr>
          <a:xfrm>
            <a:off x="3931920" y="4315968"/>
            <a:ext cx="2286000" cy="347472"/>
          </a:xfrm>
          <a:prstGeom prst="rect">
            <a:avLst/>
          </a:prstGeom>
          <a:noFill/>
          <a:ln/>
        </p:spPr>
        <p:txBody>
          <a:bodyPr wrap="square" lIns="0" tIns="0" rIns="0" bIns="0" rtlCol="0" anchor="ctr"/>
          <a:lstStyle/>
          <a:p>
            <a:pPr indent="0" marL="0">
              <a:buNone/>
            </a:pPr>
            <a:r>
              <a:rPr lang="en-US" sz="1500" b="1" dirty="0">
                <a:solidFill>
                  <a:srgbClr val="C9D3E6"/>
                </a:solidFill>
                <a:latin typeface="Calibri" pitchFamily="34" charset="0"/>
                <a:ea typeface="Calibri" pitchFamily="34" charset="-122"/>
                <a:cs typeface="Calibri" pitchFamily="34" charset="-120"/>
              </a:rPr>
              <a:t>@Shukery_Azizan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Ijazah vs Risalah</dc:title>
  <dc:subject>PptxGenJS Presentation</dc:subject>
  <dc:creator>Shukery Azizan</dc:creator>
  <cp:lastModifiedBy>Shukery Azizan</cp:lastModifiedBy>
  <cp:revision>1</cp:revision>
  <dcterms:created xsi:type="dcterms:W3CDTF">2026-10-01T09:30:59Z</dcterms:created>
  <dcterms:modified xsi:type="dcterms:W3CDTF">2026-10-01T09:30:59Z</dcterms:modified>
</cp:coreProperties>
</file>